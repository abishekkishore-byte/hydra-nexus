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Lst>
  <p:sldSz cy="6858000" cx="12192000"/>
  <p:notesSz cx="12192000" cy="6858000"/>
  <p:embeddedFontLst>
    <p:embeddedFont>
      <p:font typeface="Arial Black"/>
      <p:regular r:id="rId27"/>
    </p:embeddedFon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32" roundtripDataSignature="AMtx7miLRTS1dwmumolOfgiCorpN6h8K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277A8E-53B4-4066-B272-49FC8C3124FA}">
  <a:tblStyle styleId="{62277A8E-53B4-4066-B272-49FC8C3124FA}"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27" Type="http://schemas.openxmlformats.org/officeDocument/2006/relationships/font" Target="fonts/ArialBlack-regular.fntdata"/><Relationship Id="rId28" Type="http://schemas.openxmlformats.org/officeDocument/2006/relationships/font" Target="fonts/CenturyGothic-regular.fntdata"/><Relationship Id="rId29" Type="http://schemas.openxmlformats.org/officeDocument/2006/relationships/font" Target="fonts/CenturyGothic-bold.fntdata"/><Relationship Id="rId30" Type="http://schemas.openxmlformats.org/officeDocument/2006/relationships/font" Target="fonts/CenturyGothic-italic.fntdata"/><Relationship Id="rId31" Type="http://schemas.openxmlformats.org/officeDocument/2006/relationships/font" Target="fonts/CenturyGothic-boldItalic.fntdata"/><Relationship Id="rId32" Type="http://customschemas.google.com/relationships/presentationmetadata" Target="metadata"/><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obj">
  <p:cSld name="OBJECT">
    <p:bg>
      <p:bgPr>
        <a:solidFill>
          <a:schemeClr val="lt1"/>
        </a:solidFill>
      </p:bgPr>
    </p:bg>
    <p:spTree>
      <p:nvGrpSpPr>
        <p:cNvPr id="11" name="Shape 11"/>
        <p:cNvGrpSpPr/>
        <p:nvPr/>
      </p:nvGrpSpPr>
      <p:grpSpPr>
        <a:xfrm>
          <a:off x="0" y="0"/>
          <a:ext cx="0" cy="0"/>
          <a:chOff x="0" y="0"/>
          <a:chExt cx="0" cy="0"/>
        </a:xfrm>
      </p:grpSpPr>
      <p:pic>
        <p:nvPicPr>
          <p:cNvPr id="12" name="Google Shape;12;p22"/>
          <p:cNvPicPr preferRelativeResize="0"/>
          <p:nvPr/>
        </p:nvPicPr>
        <p:blipFill rotWithShape="1">
          <a:blip r:embed="rId2">
            <a:alphaModFix/>
          </a:blip>
          <a:srcRect b="0" l="0" r="0" t="0"/>
          <a:stretch/>
        </p:blipFill>
        <p:spPr>
          <a:xfrm>
            <a:off x="0" y="0"/>
            <a:ext cx="12192000" cy="6857997"/>
          </a:xfrm>
          <a:prstGeom prst="rect">
            <a:avLst/>
          </a:prstGeom>
          <a:noFill/>
          <a:ln>
            <a:noFill/>
          </a:ln>
        </p:spPr>
      </p:pic>
      <p:sp>
        <p:nvSpPr>
          <p:cNvPr id="13" name="Google Shape;13;p22"/>
          <p:cNvSpPr txBox="1"/>
          <p:nvPr>
            <p:ph type="title"/>
          </p:nvPr>
        </p:nvSpPr>
        <p:spPr>
          <a:xfrm>
            <a:off x="558800" y="450596"/>
            <a:ext cx="7386955" cy="4140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0F172A"/>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sp>
        <p:nvSpPr>
          <p:cNvPr id="18" name="Google Shape;18;p23"/>
          <p:cNvSpPr txBox="1"/>
          <p:nvPr>
            <p:ph type="title"/>
          </p:nvPr>
        </p:nvSpPr>
        <p:spPr>
          <a:xfrm>
            <a:off x="558800" y="450596"/>
            <a:ext cx="7386955" cy="4140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0F172A"/>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p:nvPr>
            <p:ph idx="1" type="body"/>
          </p:nvPr>
        </p:nvSpPr>
        <p:spPr>
          <a:xfrm>
            <a:off x="6410325" y="1461045"/>
            <a:ext cx="5067300" cy="350837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 name="Google Shape;20;p2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3" name="Shape 23"/>
        <p:cNvGrpSpPr/>
        <p:nvPr/>
      </p:nvGrpSpPr>
      <p:grpSpPr>
        <a:xfrm>
          <a:off x="0" y="0"/>
          <a:ext cx="0" cy="0"/>
          <a:chOff x="0" y="0"/>
          <a:chExt cx="0" cy="0"/>
        </a:xfrm>
      </p:grpSpPr>
      <p:sp>
        <p:nvSpPr>
          <p:cNvPr id="24" name="Google Shape;24;p24"/>
          <p:cNvSpPr txBox="1"/>
          <p:nvPr>
            <p:ph type="title"/>
          </p:nvPr>
        </p:nvSpPr>
        <p:spPr>
          <a:xfrm>
            <a:off x="558800" y="450596"/>
            <a:ext cx="7386955" cy="4140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0F172A"/>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24"/>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2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 name="Shape 30"/>
        <p:cNvGrpSpPr/>
        <p:nvPr/>
      </p:nvGrpSpPr>
      <p:grpSpPr>
        <a:xfrm>
          <a:off x="0" y="0"/>
          <a:ext cx="0" cy="0"/>
          <a:chOff x="0" y="0"/>
          <a:chExt cx="0" cy="0"/>
        </a:xfrm>
      </p:grpSpPr>
      <p:sp>
        <p:nvSpPr>
          <p:cNvPr id="31" name="Google Shape;31;p25"/>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0F172A"/>
                </a:solidFill>
                <a:latin typeface="Arial Black"/>
                <a:ea typeface="Arial Black"/>
                <a:cs typeface="Arial Black"/>
                <a:sym typeface="Arial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5"/>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2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558800" y="450596"/>
            <a:ext cx="7386955" cy="41401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000" u="none" cap="none" strike="noStrike">
                <a:solidFill>
                  <a:srgbClr val="0F172A"/>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6410325" y="1461045"/>
            <a:ext cx="5067300" cy="3508374"/>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2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2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7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9.png"/><Relationship Id="rId8"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55.png"/><Relationship Id="rId6" Type="http://schemas.openxmlformats.org/officeDocument/2006/relationships/image" Target="../media/image21.png"/><Relationship Id="rId7"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55.png"/><Relationship Id="rId6"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image" Target="../media/image60.png"/><Relationship Id="rId7"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6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26.png"/><Relationship Id="rId8"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8.png"/><Relationship Id="rId6"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36.png"/><Relationship Id="rId6" Type="http://schemas.openxmlformats.org/officeDocument/2006/relationships/image" Target="../media/image60.png"/><Relationship Id="rId7"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40.png"/><Relationship Id="rId6" Type="http://schemas.openxmlformats.org/officeDocument/2006/relationships/image" Target="../media/image76.jpg"/><Relationship Id="rId7" Type="http://schemas.openxmlformats.org/officeDocument/2006/relationships/image" Target="../media/image77.jpg"/><Relationship Id="rId8" Type="http://schemas.openxmlformats.org/officeDocument/2006/relationships/image" Target="../media/image36.png"/><Relationship Id="rId9" Type="http://schemas.openxmlformats.org/officeDocument/2006/relationships/image" Target="../media/image78.png"/><Relationship Id="rId10" Type="http://schemas.openxmlformats.org/officeDocument/2006/relationships/image" Target="../media/image79.png"/><Relationship Id="rId11" Type="http://schemas.openxmlformats.org/officeDocument/2006/relationships/image" Target="../media/image37.png"/><Relationship Id="rId12"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42.png"/><Relationship Id="rId6"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21.png"/><Relationship Id="rId6"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73.png"/><Relationship Id="rId6" Type="http://schemas.openxmlformats.org/officeDocument/2006/relationships/image" Target="../media/image75.png"/><Relationship Id="rId7" Type="http://schemas.openxmlformats.org/officeDocument/2006/relationships/image" Target="../media/image76.jpg"/><Relationship Id="rId8"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grpSp>
        <p:nvGrpSpPr>
          <p:cNvPr id="44" name="Google Shape;44;p1"/>
          <p:cNvGrpSpPr/>
          <p:nvPr/>
        </p:nvGrpSpPr>
        <p:grpSpPr>
          <a:xfrm>
            <a:off x="0" y="80825"/>
            <a:ext cx="12191999" cy="2764578"/>
            <a:chOff x="0" y="80825"/>
            <a:chExt cx="12191999" cy="2764578"/>
          </a:xfrm>
        </p:grpSpPr>
        <p:pic>
          <p:nvPicPr>
            <p:cNvPr id="45" name="Google Shape;45;p1"/>
            <p:cNvPicPr preferRelativeResize="0"/>
            <p:nvPr/>
          </p:nvPicPr>
          <p:blipFill rotWithShape="1">
            <a:blip r:embed="rId3">
              <a:alphaModFix/>
            </a:blip>
            <a:srcRect b="0" l="0" r="0" t="0"/>
            <a:stretch/>
          </p:blipFill>
          <p:spPr>
            <a:xfrm>
              <a:off x="566928" y="1115568"/>
              <a:ext cx="4023360" cy="396849"/>
            </a:xfrm>
            <a:prstGeom prst="rect">
              <a:avLst/>
            </a:prstGeom>
            <a:noFill/>
            <a:ln>
              <a:noFill/>
            </a:ln>
          </p:spPr>
        </p:pic>
        <p:pic>
          <p:nvPicPr>
            <p:cNvPr id="46" name="Google Shape;46;p1"/>
            <p:cNvPicPr preferRelativeResize="0"/>
            <p:nvPr/>
          </p:nvPicPr>
          <p:blipFill rotWithShape="1">
            <a:blip r:embed="rId4">
              <a:alphaModFix/>
            </a:blip>
            <a:srcRect b="0" l="0" r="0" t="0"/>
            <a:stretch/>
          </p:blipFill>
          <p:spPr>
            <a:xfrm>
              <a:off x="10700670" y="80825"/>
              <a:ext cx="1491329" cy="784825"/>
            </a:xfrm>
            <a:prstGeom prst="rect">
              <a:avLst/>
            </a:prstGeom>
            <a:noFill/>
            <a:ln>
              <a:noFill/>
            </a:ln>
          </p:spPr>
        </p:pic>
        <p:pic>
          <p:nvPicPr>
            <p:cNvPr id="47" name="Google Shape;47;p1"/>
            <p:cNvPicPr preferRelativeResize="0"/>
            <p:nvPr/>
          </p:nvPicPr>
          <p:blipFill rotWithShape="1">
            <a:blip r:embed="rId5">
              <a:alphaModFix/>
            </a:blip>
            <a:srcRect b="0" l="0" r="0" t="0"/>
            <a:stretch/>
          </p:blipFill>
          <p:spPr>
            <a:xfrm>
              <a:off x="0" y="80825"/>
              <a:ext cx="2428824" cy="784824"/>
            </a:xfrm>
            <a:prstGeom prst="rect">
              <a:avLst/>
            </a:prstGeom>
            <a:noFill/>
            <a:ln>
              <a:noFill/>
            </a:ln>
          </p:spPr>
        </p:pic>
      </p:grpSp>
      <p:sp>
        <p:nvSpPr>
          <p:cNvPr descr="$PPTXTitle" id="48" name="Google Shape;48;p1"/>
          <p:cNvSpPr txBox="1"/>
          <p:nvPr>
            <p:ph type="title"/>
          </p:nvPr>
        </p:nvSpPr>
        <p:spPr>
          <a:xfrm>
            <a:off x="566928" y="1901952"/>
            <a:ext cx="6035040" cy="731520"/>
          </a:xfrm>
          <a:prstGeom prst="rect">
            <a:avLst/>
          </a:prstGeom>
          <a:noFill/>
          <a:ln>
            <a:noFill/>
          </a:ln>
        </p:spPr>
        <p:txBody>
          <a:bodyPr anchorCtr="0" anchor="t" bIns="0" lIns="0" spcFirstLastPara="1" rIns="0" wrap="square" tIns="12700">
            <a:spAutoFit/>
          </a:bodyPr>
          <a:lstStyle/>
          <a:p>
            <a:r>
              <a:rPr sz="4400">
                <a:solidFill>
                  <a:srgbClr val="0F172A"/>
                </a:solidFill>
                <a:latin typeface="Arial Black"/>
              </a:rPr>
              <a:t>HYDRA NEXUS</a:t>
            </a:r>
          </a:p>
        </p:txBody>
      </p:sp>
      <p:sp>
        <p:nvSpPr>
          <p:cNvPr id="49" name="TextBox 48"/>
          <p:cNvSpPr txBox="1"/>
          <p:nvPr/>
        </p:nvSpPr>
        <p:spPr>
          <a:xfrm>
            <a:off x="585216" y="1645920"/>
            <a:ext cx="5852160" cy="274320"/>
          </a:xfrm>
          <a:prstGeom prst="rect">
            <a:avLst/>
          </a:prstGeom>
          <a:noFill/>
        </p:spPr>
        <p:txBody>
          <a:bodyPr wrap="square" lIns="0" rIns="0" tIns="0" bIns="0" anchor="t"/>
          <a:lstStyle/>
          <a:p>
            <a:pPr algn="l">
              <a:spcAft>
                <a:spcPts val="300"/>
              </a:spcAft>
              <a:buNone/>
            </a:pPr>
            <a:r>
              <a:rPr sz="1100" b="1" i="0">
                <a:solidFill>
                  <a:srgbClr val="0368A1"/>
                </a:solidFill>
                <a:latin typeface="Arial"/>
              </a:rPr>
              <a:t>STAGE 2 SUBMISSION</a:t>
            </a:r>
          </a:p>
        </p:txBody>
      </p:sp>
      <p:sp>
        <p:nvSpPr>
          <p:cNvPr id="50" name="TextBox 49"/>
          <p:cNvSpPr txBox="1"/>
          <p:nvPr/>
        </p:nvSpPr>
        <p:spPr>
          <a:xfrm>
            <a:off x="585216" y="2697480"/>
            <a:ext cx="5760720" cy="566928"/>
          </a:xfrm>
          <a:prstGeom prst="rect">
            <a:avLst/>
          </a:prstGeom>
          <a:noFill/>
        </p:spPr>
        <p:txBody>
          <a:bodyPr wrap="square" lIns="0" rIns="0" tIns="0" bIns="0" anchor="t"/>
          <a:lstStyle/>
          <a:p>
            <a:pPr algn="l">
              <a:spcAft>
                <a:spcPts val="300"/>
              </a:spcAft>
              <a:buNone/>
            </a:pPr>
            <a:r>
              <a:rPr sz="1500" b="0" i="0">
                <a:solidFill>
                  <a:srgbClr val="334155"/>
                </a:solidFill>
                <a:latin typeface="Arial"/>
              </a:rPr>
              <a:t>An Intelligent Water Quality Identification, Adaptive Purification and Verification System</a:t>
            </a:r>
          </a:p>
        </p:txBody>
      </p:sp>
      <p:sp>
        <p:nvSpPr>
          <p:cNvPr id="51" name="TextBox 50"/>
          <p:cNvSpPr txBox="1"/>
          <p:nvPr/>
        </p:nvSpPr>
        <p:spPr>
          <a:xfrm>
            <a:off x="585216" y="3310128"/>
            <a:ext cx="5760720" cy="365760"/>
          </a:xfrm>
          <a:prstGeom prst="rect">
            <a:avLst/>
          </a:prstGeom>
          <a:noFill/>
        </p:spPr>
        <p:txBody>
          <a:bodyPr wrap="square" lIns="0" rIns="0" tIns="0" bIns="0" anchor="t"/>
          <a:lstStyle/>
          <a:p>
            <a:pPr algn="l">
              <a:spcAft>
                <a:spcPts val="300"/>
              </a:spcAft>
              <a:buNone/>
            </a:pPr>
            <a:r>
              <a:rPr sz="1700" b="0" i="0">
                <a:solidFill>
                  <a:srgbClr val="059668"/>
                </a:solidFill>
                <a:latin typeface="Arial Black"/>
              </a:rPr>
              <a:t>Identify. Purify. Verify.</a:t>
            </a:r>
          </a:p>
        </p:txBody>
      </p:sp>
      <p:sp>
        <p:nvSpPr>
          <p:cNvPr id="52" name="Rounded Rectangle 51"/>
          <p:cNvSpPr/>
          <p:nvPr/>
        </p:nvSpPr>
        <p:spPr>
          <a:xfrm>
            <a:off x="585216" y="3685032"/>
            <a:ext cx="4206240" cy="18288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50" b="1" i="0">
                <a:solidFill>
                  <a:srgbClr val="1D4ED8"/>
                </a:solidFill>
                <a:latin typeface="Arial"/>
              </a:rPr>
              <a:t>A POCKET-SIZE WATER CAPSULE THAT CHECKS ITS OWN WORK</a:t>
            </a:r>
          </a:p>
        </p:txBody>
      </p:sp>
      <p:sp>
        <p:nvSpPr>
          <p:cNvPr id="53" name="Rounded Rectangle 52"/>
          <p:cNvSpPr/>
          <p:nvPr/>
        </p:nvSpPr>
        <p:spPr>
          <a:xfrm>
            <a:off x="566928" y="4005072"/>
            <a:ext cx="5943600" cy="1920240"/>
          </a:xfrm>
          <a:prstGeom prst="roundRect">
            <a:avLst>
              <a:gd name="adj" fmla="val 380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749808" y="4114800"/>
            <a:ext cx="1965960" cy="228600"/>
          </a:xfrm>
          <a:prstGeom prst="rect">
            <a:avLst/>
          </a:prstGeom>
          <a:noFill/>
        </p:spPr>
        <p:txBody>
          <a:bodyPr wrap="square" lIns="0" rIns="0" tIns="0" bIns="0" anchor="t"/>
          <a:lstStyle/>
          <a:p>
            <a:pPr algn="l">
              <a:spcAft>
                <a:spcPts val="300"/>
              </a:spcAft>
              <a:buNone/>
            </a:pPr>
            <a:r>
              <a:rPr sz="950" b="1" i="0">
                <a:solidFill>
                  <a:srgbClr val="0F172A"/>
                </a:solidFill>
                <a:latin typeface="Arial"/>
              </a:rPr>
              <a:t>Vishwakarma Application ID</a:t>
            </a:r>
          </a:p>
        </p:txBody>
      </p:sp>
      <p:sp>
        <p:nvSpPr>
          <p:cNvPr id="55" name="TextBox 54"/>
          <p:cNvSpPr txBox="1"/>
          <p:nvPr/>
        </p:nvSpPr>
        <p:spPr>
          <a:xfrm>
            <a:off x="2724912" y="4114800"/>
            <a:ext cx="3657600" cy="228600"/>
          </a:xfrm>
          <a:prstGeom prst="rect">
            <a:avLst/>
          </a:prstGeom>
          <a:noFill/>
        </p:spPr>
        <p:txBody>
          <a:bodyPr wrap="square" lIns="0" rIns="0" tIns="0" bIns="0" anchor="t"/>
          <a:lstStyle/>
          <a:p>
            <a:pPr algn="l">
              <a:spcAft>
                <a:spcPts val="300"/>
              </a:spcAft>
              <a:buNone/>
            </a:pPr>
            <a:r>
              <a:rPr sz="950" b="0" i="1">
                <a:solidFill>
                  <a:srgbClr val="B45309"/>
                </a:solidFill>
                <a:latin typeface="Arial"/>
              </a:rPr>
              <a:t>To be added before submission</a:t>
            </a:r>
          </a:p>
        </p:txBody>
      </p:sp>
      <p:sp>
        <p:nvSpPr>
          <p:cNvPr id="56" name="TextBox 55"/>
          <p:cNvSpPr txBox="1"/>
          <p:nvPr/>
        </p:nvSpPr>
        <p:spPr>
          <a:xfrm>
            <a:off x="749808" y="4379976"/>
            <a:ext cx="1965960" cy="228600"/>
          </a:xfrm>
          <a:prstGeom prst="rect">
            <a:avLst/>
          </a:prstGeom>
          <a:noFill/>
        </p:spPr>
        <p:txBody>
          <a:bodyPr wrap="square" lIns="0" rIns="0" tIns="0" bIns="0" anchor="t"/>
          <a:lstStyle/>
          <a:p>
            <a:pPr algn="l">
              <a:spcAft>
                <a:spcPts val="300"/>
              </a:spcAft>
              <a:buNone/>
            </a:pPr>
            <a:r>
              <a:rPr sz="950" b="1" i="0">
                <a:solidFill>
                  <a:srgbClr val="0F172A"/>
                </a:solidFill>
                <a:latin typeface="Arial"/>
              </a:rPr>
              <a:t>Team ID</a:t>
            </a:r>
          </a:p>
        </p:txBody>
      </p:sp>
      <p:sp>
        <p:nvSpPr>
          <p:cNvPr id="57" name="TextBox 56"/>
          <p:cNvSpPr txBox="1"/>
          <p:nvPr/>
        </p:nvSpPr>
        <p:spPr>
          <a:xfrm>
            <a:off x="2724912" y="4379976"/>
            <a:ext cx="3657600" cy="228600"/>
          </a:xfrm>
          <a:prstGeom prst="rect">
            <a:avLst/>
          </a:prstGeom>
          <a:noFill/>
        </p:spPr>
        <p:txBody>
          <a:bodyPr wrap="square" lIns="0" rIns="0" tIns="0" bIns="0" anchor="t"/>
          <a:lstStyle/>
          <a:p>
            <a:pPr algn="l">
              <a:spcAft>
                <a:spcPts val="300"/>
              </a:spcAft>
              <a:buNone/>
            </a:pPr>
            <a:r>
              <a:rPr sz="950" b="0" i="1">
                <a:solidFill>
                  <a:srgbClr val="B45309"/>
                </a:solidFill>
                <a:latin typeface="Arial"/>
              </a:rPr>
              <a:t>To be added before submission</a:t>
            </a:r>
          </a:p>
        </p:txBody>
      </p:sp>
      <p:sp>
        <p:nvSpPr>
          <p:cNvPr id="58" name="TextBox 57"/>
          <p:cNvSpPr txBox="1"/>
          <p:nvPr/>
        </p:nvSpPr>
        <p:spPr>
          <a:xfrm>
            <a:off x="749808" y="4645152"/>
            <a:ext cx="1965960" cy="228600"/>
          </a:xfrm>
          <a:prstGeom prst="rect">
            <a:avLst/>
          </a:prstGeom>
          <a:noFill/>
        </p:spPr>
        <p:txBody>
          <a:bodyPr wrap="square" lIns="0" rIns="0" tIns="0" bIns="0" anchor="t"/>
          <a:lstStyle/>
          <a:p>
            <a:pPr algn="l">
              <a:spcAft>
                <a:spcPts val="300"/>
              </a:spcAft>
              <a:buNone/>
            </a:pPr>
            <a:r>
              <a:rPr sz="950" b="1" i="0">
                <a:solidFill>
                  <a:srgbClr val="0F172A"/>
                </a:solidFill>
                <a:latin typeface="Arial"/>
              </a:rPr>
              <a:t>Track / category</a:t>
            </a:r>
          </a:p>
        </p:txBody>
      </p:sp>
      <p:sp>
        <p:nvSpPr>
          <p:cNvPr id="59" name="TextBox 58"/>
          <p:cNvSpPr txBox="1"/>
          <p:nvPr/>
        </p:nvSpPr>
        <p:spPr>
          <a:xfrm>
            <a:off x="2724912" y="4645152"/>
            <a:ext cx="3657600" cy="228600"/>
          </a:xfrm>
          <a:prstGeom prst="rect">
            <a:avLst/>
          </a:prstGeom>
          <a:noFill/>
        </p:spPr>
        <p:txBody>
          <a:bodyPr wrap="square" lIns="0" rIns="0" tIns="0" bIns="0" anchor="t"/>
          <a:lstStyle/>
          <a:p>
            <a:pPr algn="l">
              <a:spcAft>
                <a:spcPts val="300"/>
              </a:spcAft>
              <a:buNone/>
            </a:pPr>
            <a:r>
              <a:rPr sz="950" b="0" i="1">
                <a:solidFill>
                  <a:srgbClr val="B45309"/>
                </a:solidFill>
                <a:latin typeface="Arial"/>
              </a:rPr>
              <a:t>To be confirmed by the team</a:t>
            </a:r>
          </a:p>
        </p:txBody>
      </p:sp>
      <p:sp>
        <p:nvSpPr>
          <p:cNvPr id="60" name="TextBox 59"/>
          <p:cNvSpPr txBox="1"/>
          <p:nvPr/>
        </p:nvSpPr>
        <p:spPr>
          <a:xfrm>
            <a:off x="749808" y="4910328"/>
            <a:ext cx="1965960" cy="228600"/>
          </a:xfrm>
          <a:prstGeom prst="rect">
            <a:avLst/>
          </a:prstGeom>
          <a:noFill/>
        </p:spPr>
        <p:txBody>
          <a:bodyPr wrap="square" lIns="0" rIns="0" tIns="0" bIns="0" anchor="t"/>
          <a:lstStyle/>
          <a:p>
            <a:pPr algn="l">
              <a:spcAft>
                <a:spcPts val="300"/>
              </a:spcAft>
              <a:buNone/>
            </a:pPr>
            <a:r>
              <a:rPr sz="950" b="1" i="0">
                <a:solidFill>
                  <a:srgbClr val="0F172A"/>
                </a:solidFill>
                <a:latin typeface="Arial"/>
              </a:rPr>
              <a:t>Institution / team</a:t>
            </a:r>
          </a:p>
        </p:txBody>
      </p:sp>
      <p:sp>
        <p:nvSpPr>
          <p:cNvPr id="61" name="TextBox 60"/>
          <p:cNvSpPr txBox="1"/>
          <p:nvPr/>
        </p:nvSpPr>
        <p:spPr>
          <a:xfrm>
            <a:off x="2724912" y="4910328"/>
            <a:ext cx="3657600" cy="228600"/>
          </a:xfrm>
          <a:prstGeom prst="rect">
            <a:avLst/>
          </a:prstGeom>
          <a:noFill/>
        </p:spPr>
        <p:txBody>
          <a:bodyPr wrap="square" lIns="0" rIns="0" tIns="0" bIns="0" anchor="t"/>
          <a:lstStyle/>
          <a:p>
            <a:pPr algn="l">
              <a:spcAft>
                <a:spcPts val="300"/>
              </a:spcAft>
              <a:buNone/>
            </a:pPr>
            <a:r>
              <a:rPr sz="950" b="0" i="1">
                <a:solidFill>
                  <a:srgbClr val="B45309"/>
                </a:solidFill>
                <a:latin typeface="Arial"/>
              </a:rPr>
              <a:t>To be added by the team</a:t>
            </a:r>
          </a:p>
        </p:txBody>
      </p:sp>
      <p:sp>
        <p:nvSpPr>
          <p:cNvPr id="62" name="TextBox 61"/>
          <p:cNvSpPr txBox="1"/>
          <p:nvPr/>
        </p:nvSpPr>
        <p:spPr>
          <a:xfrm>
            <a:off x="749808" y="5221224"/>
            <a:ext cx="5577840" cy="566928"/>
          </a:xfrm>
          <a:prstGeom prst="rect">
            <a:avLst/>
          </a:prstGeom>
          <a:noFill/>
        </p:spPr>
        <p:txBody>
          <a:bodyPr wrap="square" lIns="0" rIns="0" tIns="0" bIns="0" anchor="t"/>
          <a:lstStyle/>
          <a:p>
            <a:pPr algn="l">
              <a:spcAft>
                <a:spcPts val="300"/>
              </a:spcAft>
              <a:buNone/>
            </a:pPr>
            <a:r>
              <a:rPr sz="950" b="1" i="0">
                <a:solidFill>
                  <a:srgbClr val="0F172A"/>
                </a:solidFill>
                <a:latin typeface="Arial"/>
              </a:rPr>
              <a:t>The idea in one line:</a:t>
            </a:r>
            <a:r>
              <a:rPr sz="950" b="0" i="0">
                <a:solidFill>
                  <a:srgbClr val="334155"/>
                </a:solidFill>
                <a:latin typeface="Arial"/>
              </a:rPr>
              <a:t> a capsule you carry in your pocket that tests water, filters it, and then tests it again before it lets you drink it.</a:t>
            </a:r>
          </a:p>
        </p:txBody>
      </p:sp>
      <p:pic>
        <p:nvPicPr>
          <p:cNvPr id="63" name="Concept render" descr="Concept render of the Hydra Nexus pocket capsule"/>
          <p:cNvPicPr>
            <a:picLocks noChangeAspect="1"/>
          </p:cNvPicPr>
          <p:nvPr/>
        </p:nvPicPr>
        <p:blipFill>
          <a:blip r:embed="rId6"/>
          <a:stretch>
            <a:fillRect/>
          </a:stretch>
        </p:blipFill>
        <p:spPr>
          <a:xfrm>
            <a:off x="7818120" y="896112"/>
            <a:ext cx="3744133" cy="4983480"/>
          </a:xfrm>
          <a:prstGeom prst="rect">
            <a:avLst/>
          </a:prstGeom>
        </p:spPr>
      </p:pic>
      <p:sp>
        <p:nvSpPr>
          <p:cNvPr id="64" name="TextBox 63"/>
          <p:cNvSpPr txBox="1"/>
          <p:nvPr/>
        </p:nvSpPr>
        <p:spPr>
          <a:xfrm>
            <a:off x="6812280" y="5916168"/>
            <a:ext cx="4846320" cy="201168"/>
          </a:xfrm>
          <a:prstGeom prst="rect">
            <a:avLst/>
          </a:prstGeom>
          <a:noFill/>
        </p:spPr>
        <p:txBody>
          <a:bodyPr wrap="square" lIns="0" rIns="0" tIns="0" bIns="0" anchor="t"/>
          <a:lstStyle/>
          <a:p>
            <a:pPr algn="ctr">
              <a:spcAft>
                <a:spcPts val="300"/>
              </a:spcAft>
              <a:buNone/>
            </a:pPr>
            <a:r>
              <a:rPr sz="800" b="0" i="1">
                <a:solidFill>
                  <a:srgbClr val="64748B"/>
                </a:solidFill>
                <a:latin typeface="Arial"/>
              </a:rPr>
              <a:t>Concept render of the capsule. This is a design illustration, not a built prototype.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Problem Context: What We Set Out to Fix</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pic>
        <p:nvPicPr>
          <p:cNvPr id="7" name="Picture 6" descr="image.png"/>
          <p:cNvPicPr>
            <a:picLocks noChangeAspect="1"/>
          </p:cNvPicPr>
          <p:nvPr/>
        </p:nvPicPr>
        <p:blipFill>
          <a:blip r:embed="rId5"/>
          <a:stretch>
            <a:fillRect/>
          </a:stretch>
        </p:blipFill>
        <p:spPr>
          <a:xfrm>
            <a:off x="533095" y="956462"/>
            <a:ext cx="2667304" cy="649224"/>
          </a:xfrm>
          <a:prstGeom prst="rect">
            <a:avLst/>
          </a:prstGeom>
        </p:spPr>
      </p:pic>
      <p:sp>
        <p:nvSpPr>
          <p:cNvPr id="8" name="TextBox 7"/>
          <p:cNvSpPr txBox="1"/>
          <p:nvPr/>
        </p:nvSpPr>
        <p:spPr>
          <a:xfrm>
            <a:off x="624535" y="1020470"/>
            <a:ext cx="2484424" cy="310896"/>
          </a:xfrm>
          <a:prstGeom prst="rect">
            <a:avLst/>
          </a:prstGeom>
          <a:noFill/>
        </p:spPr>
        <p:txBody>
          <a:bodyPr wrap="square" lIns="0" rIns="0" tIns="0" bIns="0" anchor="ctr"/>
          <a:lstStyle/>
          <a:p>
            <a:pPr algn="ctr">
              <a:spcAft>
                <a:spcPts val="300"/>
              </a:spcAft>
              <a:buNone/>
            </a:pPr>
            <a:r>
              <a:rPr sz="1500" b="0" i="0">
                <a:solidFill>
                  <a:srgbClr val="0368A1"/>
                </a:solidFill>
                <a:latin typeface="Arial Black"/>
              </a:rPr>
              <a:t>6.5 – 8.5</a:t>
            </a:r>
          </a:p>
        </p:txBody>
      </p:sp>
      <p:sp>
        <p:nvSpPr>
          <p:cNvPr id="9" name="TextBox 8"/>
          <p:cNvSpPr txBox="1"/>
          <p:nvPr/>
        </p:nvSpPr>
        <p:spPr>
          <a:xfrm>
            <a:off x="624535" y="1340510"/>
            <a:ext cx="2484424" cy="201168"/>
          </a:xfrm>
          <a:prstGeom prst="rect">
            <a:avLst/>
          </a:prstGeom>
          <a:noFill/>
        </p:spPr>
        <p:txBody>
          <a:bodyPr wrap="square" lIns="0" rIns="0" tIns="0" bIns="0" anchor="t"/>
          <a:lstStyle/>
          <a:p>
            <a:pPr algn="ctr">
              <a:spcAft>
                <a:spcPts val="300"/>
              </a:spcAft>
              <a:buNone/>
            </a:pPr>
            <a:r>
              <a:rPr sz="750" b="1" i="0">
                <a:solidFill>
                  <a:srgbClr val="64748B"/>
                </a:solidFill>
                <a:latin typeface="Arial"/>
              </a:rPr>
              <a:t>SAFE pH RANGE*</a:t>
            </a:r>
          </a:p>
        </p:txBody>
      </p:sp>
      <p:pic>
        <p:nvPicPr>
          <p:cNvPr id="10" name="Picture 9" descr="image.png"/>
          <p:cNvPicPr>
            <a:picLocks noChangeAspect="1"/>
          </p:cNvPicPr>
          <p:nvPr/>
        </p:nvPicPr>
        <p:blipFill>
          <a:blip r:embed="rId5"/>
          <a:stretch>
            <a:fillRect/>
          </a:stretch>
        </p:blipFill>
        <p:spPr>
          <a:xfrm>
            <a:off x="3353104" y="956462"/>
            <a:ext cx="2667304" cy="649224"/>
          </a:xfrm>
          <a:prstGeom prst="rect">
            <a:avLst/>
          </a:prstGeom>
        </p:spPr>
      </p:pic>
      <p:sp>
        <p:nvSpPr>
          <p:cNvPr id="11" name="TextBox 10"/>
          <p:cNvSpPr txBox="1"/>
          <p:nvPr/>
        </p:nvSpPr>
        <p:spPr>
          <a:xfrm>
            <a:off x="3444544" y="1020470"/>
            <a:ext cx="2484424" cy="310896"/>
          </a:xfrm>
          <a:prstGeom prst="rect">
            <a:avLst/>
          </a:prstGeom>
          <a:noFill/>
        </p:spPr>
        <p:txBody>
          <a:bodyPr wrap="square" lIns="0" rIns="0" tIns="0" bIns="0" anchor="ctr"/>
          <a:lstStyle/>
          <a:p>
            <a:pPr algn="ctr">
              <a:spcAft>
                <a:spcPts val="300"/>
              </a:spcAft>
              <a:buNone/>
            </a:pPr>
            <a:r>
              <a:rPr sz="1500" b="0" i="0">
                <a:solidFill>
                  <a:srgbClr val="0368A1"/>
                </a:solidFill>
                <a:latin typeface="Arial Black"/>
              </a:rPr>
              <a:t>500 mg/L</a:t>
            </a:r>
          </a:p>
        </p:txBody>
      </p:sp>
      <p:sp>
        <p:nvSpPr>
          <p:cNvPr id="12" name="TextBox 11"/>
          <p:cNvSpPr txBox="1"/>
          <p:nvPr/>
        </p:nvSpPr>
        <p:spPr>
          <a:xfrm>
            <a:off x="3444544" y="1340510"/>
            <a:ext cx="2484424" cy="201168"/>
          </a:xfrm>
          <a:prstGeom prst="rect">
            <a:avLst/>
          </a:prstGeom>
          <a:noFill/>
        </p:spPr>
        <p:txBody>
          <a:bodyPr wrap="square" lIns="0" rIns="0" tIns="0" bIns="0" anchor="t"/>
          <a:lstStyle/>
          <a:p>
            <a:pPr algn="ctr">
              <a:spcAft>
                <a:spcPts val="300"/>
              </a:spcAft>
              <a:buNone/>
            </a:pPr>
            <a:r>
              <a:rPr sz="750" b="1" i="0">
                <a:solidFill>
                  <a:srgbClr val="64748B"/>
                </a:solidFill>
                <a:latin typeface="Arial"/>
              </a:rPr>
              <a:t>TDS LIMIT*</a:t>
            </a:r>
          </a:p>
        </p:txBody>
      </p:sp>
      <p:pic>
        <p:nvPicPr>
          <p:cNvPr id="13" name="Picture 12" descr="image.png"/>
          <p:cNvPicPr>
            <a:picLocks noChangeAspect="1"/>
          </p:cNvPicPr>
          <p:nvPr/>
        </p:nvPicPr>
        <p:blipFill>
          <a:blip r:embed="rId5"/>
          <a:stretch>
            <a:fillRect/>
          </a:stretch>
        </p:blipFill>
        <p:spPr>
          <a:xfrm>
            <a:off x="6172200" y="956462"/>
            <a:ext cx="2667304" cy="649224"/>
          </a:xfrm>
          <a:prstGeom prst="rect">
            <a:avLst/>
          </a:prstGeom>
        </p:spPr>
      </p:pic>
      <p:sp>
        <p:nvSpPr>
          <p:cNvPr id="14" name="TextBox 13"/>
          <p:cNvSpPr txBox="1"/>
          <p:nvPr/>
        </p:nvSpPr>
        <p:spPr>
          <a:xfrm>
            <a:off x="6263640" y="1020470"/>
            <a:ext cx="2484424" cy="310896"/>
          </a:xfrm>
          <a:prstGeom prst="rect">
            <a:avLst/>
          </a:prstGeom>
          <a:noFill/>
        </p:spPr>
        <p:txBody>
          <a:bodyPr wrap="square" lIns="0" rIns="0" tIns="0" bIns="0" anchor="ctr"/>
          <a:lstStyle/>
          <a:p>
            <a:pPr algn="ctr">
              <a:spcAft>
                <a:spcPts val="300"/>
              </a:spcAft>
              <a:buNone/>
            </a:pPr>
            <a:r>
              <a:rPr sz="1500" b="0" i="0">
                <a:solidFill>
                  <a:srgbClr val="0368A1"/>
                </a:solidFill>
                <a:latin typeface="Arial Black"/>
              </a:rPr>
              <a:t>1 NTU</a:t>
            </a:r>
          </a:p>
        </p:txBody>
      </p:sp>
      <p:sp>
        <p:nvSpPr>
          <p:cNvPr id="15" name="TextBox 14"/>
          <p:cNvSpPr txBox="1"/>
          <p:nvPr/>
        </p:nvSpPr>
        <p:spPr>
          <a:xfrm>
            <a:off x="6263640" y="1340510"/>
            <a:ext cx="2484424" cy="201168"/>
          </a:xfrm>
          <a:prstGeom prst="rect">
            <a:avLst/>
          </a:prstGeom>
          <a:noFill/>
        </p:spPr>
        <p:txBody>
          <a:bodyPr wrap="square" lIns="0" rIns="0" tIns="0" bIns="0" anchor="t"/>
          <a:lstStyle/>
          <a:p>
            <a:pPr algn="ctr">
              <a:spcAft>
                <a:spcPts val="300"/>
              </a:spcAft>
              <a:buNone/>
            </a:pPr>
            <a:r>
              <a:rPr sz="750" b="1" i="0">
                <a:solidFill>
                  <a:srgbClr val="64748B"/>
                </a:solidFill>
                <a:latin typeface="Arial"/>
              </a:rPr>
              <a:t>TURBIDITY LIMIT*</a:t>
            </a:r>
          </a:p>
        </p:txBody>
      </p:sp>
      <p:pic>
        <p:nvPicPr>
          <p:cNvPr id="16" name="Picture 15" descr="image.png"/>
          <p:cNvPicPr>
            <a:picLocks noChangeAspect="1"/>
          </p:cNvPicPr>
          <p:nvPr/>
        </p:nvPicPr>
        <p:blipFill>
          <a:blip r:embed="rId5"/>
          <a:stretch>
            <a:fillRect/>
          </a:stretch>
        </p:blipFill>
        <p:spPr>
          <a:xfrm>
            <a:off x="8991295" y="956462"/>
            <a:ext cx="2667304" cy="649224"/>
          </a:xfrm>
          <a:prstGeom prst="rect">
            <a:avLst/>
          </a:prstGeom>
        </p:spPr>
      </p:pic>
      <p:sp>
        <p:nvSpPr>
          <p:cNvPr id="17" name="TextBox 16"/>
          <p:cNvSpPr txBox="1"/>
          <p:nvPr/>
        </p:nvSpPr>
        <p:spPr>
          <a:xfrm>
            <a:off x="9082735" y="1020470"/>
            <a:ext cx="2484424" cy="310896"/>
          </a:xfrm>
          <a:prstGeom prst="rect">
            <a:avLst/>
          </a:prstGeom>
          <a:noFill/>
        </p:spPr>
        <p:txBody>
          <a:bodyPr wrap="square" lIns="0" rIns="0" tIns="0" bIns="0" anchor="ctr"/>
          <a:lstStyle/>
          <a:p>
            <a:pPr algn="ctr">
              <a:spcAft>
                <a:spcPts val="300"/>
              </a:spcAft>
              <a:buNone/>
            </a:pPr>
            <a:r>
              <a:rPr sz="1500" b="0" i="0">
                <a:solidFill>
                  <a:srgbClr val="0368A1"/>
                </a:solidFill>
                <a:latin typeface="Arial Black"/>
              </a:rPr>
              <a:t>Twice</a:t>
            </a:r>
          </a:p>
        </p:txBody>
      </p:sp>
      <p:sp>
        <p:nvSpPr>
          <p:cNvPr id="18" name="TextBox 17"/>
          <p:cNvSpPr txBox="1"/>
          <p:nvPr/>
        </p:nvSpPr>
        <p:spPr>
          <a:xfrm>
            <a:off x="9082735" y="1340510"/>
            <a:ext cx="2484424" cy="201168"/>
          </a:xfrm>
          <a:prstGeom prst="rect">
            <a:avLst/>
          </a:prstGeom>
          <a:noFill/>
        </p:spPr>
        <p:txBody>
          <a:bodyPr wrap="square" lIns="0" rIns="0" tIns="0" bIns="0" anchor="t"/>
          <a:lstStyle/>
          <a:p>
            <a:pPr algn="ctr">
              <a:spcAft>
                <a:spcPts val="300"/>
              </a:spcAft>
              <a:buNone/>
            </a:pPr>
            <a:r>
              <a:rPr sz="750" b="1" i="0">
                <a:solidFill>
                  <a:srgbClr val="64748B"/>
                </a:solidFill>
                <a:latin typeface="Arial"/>
              </a:rPr>
              <a:t>WE TEST THE SAME WATER</a:t>
            </a:r>
          </a:p>
        </p:txBody>
      </p:sp>
      <p:sp>
        <p:nvSpPr>
          <p:cNvPr id="19" name="TextBox 18"/>
          <p:cNvSpPr txBox="1"/>
          <p:nvPr/>
        </p:nvSpPr>
        <p:spPr>
          <a:xfrm>
            <a:off x="533095" y="1645920"/>
            <a:ext cx="11128248" cy="201168"/>
          </a:xfrm>
          <a:prstGeom prst="rect">
            <a:avLst/>
          </a:prstGeom>
          <a:noFill/>
        </p:spPr>
        <p:txBody>
          <a:bodyPr wrap="square" lIns="0" rIns="0" tIns="0" bIns="0" anchor="t"/>
          <a:lstStyle/>
          <a:p>
            <a:pPr algn="l">
              <a:spcAft>
                <a:spcPts val="300"/>
              </a:spcAft>
              <a:buNone/>
            </a:pPr>
            <a:r>
              <a:rPr sz="800" b="0" i="1">
                <a:solidFill>
                  <a:srgbClr val="64748B"/>
                </a:solidFill>
                <a:latin typeface="Arial"/>
              </a:rPr>
              <a:t>*Acceptable limits from the Indian drinking-water standard, IS 10500:2012. We use them as reference points, not as our own results.</a:t>
            </a:r>
          </a:p>
        </p:txBody>
      </p:sp>
      <p:sp>
        <p:nvSpPr>
          <p:cNvPr id="20" name="Rounded Rectangle 19"/>
          <p:cNvSpPr/>
          <p:nvPr/>
        </p:nvSpPr>
        <p:spPr>
          <a:xfrm>
            <a:off x="533095" y="1920240"/>
            <a:ext cx="5431536" cy="3639312"/>
          </a:xfrm>
          <a:prstGeom prst="roundRect">
            <a:avLst>
              <a:gd name="adj" fmla="val 201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image.png"/>
          <p:cNvPicPr>
            <a:picLocks noChangeAspect="1"/>
          </p:cNvPicPr>
          <p:nvPr/>
        </p:nvPicPr>
        <p:blipFill>
          <a:blip r:embed="rId6"/>
          <a:stretch>
            <a:fillRect/>
          </a:stretch>
        </p:blipFill>
        <p:spPr>
          <a:xfrm>
            <a:off x="688543" y="2075688"/>
            <a:ext cx="173736" cy="173736"/>
          </a:xfrm>
          <a:prstGeom prst="rect">
            <a:avLst/>
          </a:prstGeom>
        </p:spPr>
      </p:pic>
      <p:sp>
        <p:nvSpPr>
          <p:cNvPr id="22" name="TextBox 21"/>
          <p:cNvSpPr txBox="1"/>
          <p:nvPr/>
        </p:nvSpPr>
        <p:spPr>
          <a:xfrm>
            <a:off x="944575" y="2039112"/>
            <a:ext cx="4882896"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The project and the problem</a:t>
            </a:r>
          </a:p>
        </p:txBody>
      </p:sp>
      <p:sp>
        <p:nvSpPr>
          <p:cNvPr id="23" name="TextBox 22"/>
          <p:cNvSpPr txBox="1"/>
          <p:nvPr/>
        </p:nvSpPr>
        <p:spPr>
          <a:xfrm>
            <a:off x="713232" y="2286000"/>
            <a:ext cx="5120640" cy="3200400"/>
          </a:xfrm>
          <a:prstGeom prst="rect">
            <a:avLst/>
          </a:prstGeom>
          <a:noFill/>
        </p:spPr>
        <p:txBody>
          <a:bodyPr wrap="square" lIns="0" rIns="0" tIns="0" bIns="0" anchor="t"/>
          <a:lstStyle/>
          <a:p>
            <a:pPr algn="l">
              <a:spcAft>
                <a:spcPts val="600"/>
              </a:spcAft>
              <a:buNone/>
            </a:pPr>
            <a:r>
              <a:rPr sz="1000" b="1" i="0">
                <a:solidFill>
                  <a:srgbClr val="0F172A"/>
                </a:solidFill>
                <a:latin typeface="Arial"/>
              </a:rPr>
              <a:t>Project:</a:t>
            </a:r>
            <a:r>
              <a:rPr sz="1000" b="0" i="0">
                <a:solidFill>
                  <a:srgbClr val="334155"/>
                </a:solidFill>
                <a:latin typeface="Arial"/>
              </a:rPr>
              <a:t> Hydra Nexus, an intelligent water quality identification, adaptive purification and verification system.</a:t>
            </a:r>
          </a:p>
          <a:p>
            <a:pPr algn="l">
              <a:spcAft>
                <a:spcPts val="600"/>
              </a:spcAft>
              <a:buNone/>
            </a:pPr>
            <a:r>
              <a:rPr sz="1000" b="1" i="0">
                <a:solidFill>
                  <a:srgbClr val="0F172A"/>
                </a:solidFill>
                <a:latin typeface="Arial"/>
              </a:rPr>
              <a:t>Team ID:</a:t>
            </a:r>
            <a:r>
              <a:rPr sz="1000" b="0" i="0">
                <a:solidFill>
                  <a:srgbClr val="334155"/>
                </a:solidFill>
                <a:latin typeface="Arial"/>
              </a:rPr>
              <a:t> </a:t>
            </a:r>
            <a:r>
              <a:rPr sz="1000" b="0" i="1">
                <a:solidFill>
                  <a:srgbClr val="B45309"/>
                </a:solidFill>
                <a:latin typeface="Arial"/>
              </a:rPr>
              <a:t>to be added before submission</a:t>
            </a:r>
          </a:p>
          <a:p>
            <a:pPr algn="l">
              <a:spcAft>
                <a:spcPts val="600"/>
              </a:spcAft>
              <a:buNone/>
            </a:pPr>
            <a:r>
              <a:rPr sz="1000" b="1" i="0">
                <a:solidFill>
                  <a:srgbClr val="0F172A"/>
                </a:solidFill>
                <a:latin typeface="Arial"/>
              </a:rPr>
              <a:t>Track:</a:t>
            </a:r>
            <a:r>
              <a:rPr sz="1000" b="0" i="0">
                <a:solidFill>
                  <a:srgbClr val="334155"/>
                </a:solidFill>
                <a:latin typeface="Arial"/>
              </a:rPr>
              <a:t> </a:t>
            </a:r>
            <a:r>
              <a:rPr sz="1000" b="0" i="1">
                <a:solidFill>
                  <a:srgbClr val="B45309"/>
                </a:solidFill>
                <a:latin typeface="Arial"/>
              </a:rPr>
              <a:t>to be confirmed by the team</a:t>
            </a:r>
          </a:p>
          <a:p>
            <a:pPr algn="l">
              <a:spcAft>
                <a:spcPts val="600"/>
              </a:spcAft>
              <a:buNone/>
            </a:pPr>
            <a:r>
              <a:rPr sz="1000" b="1" i="0">
                <a:solidFill>
                  <a:srgbClr val="0F172A"/>
                </a:solidFill>
                <a:latin typeface="Arial"/>
              </a:rPr>
              <a:t>Our idea:</a:t>
            </a:r>
            <a:r>
              <a:rPr sz="1000" b="0" i="0">
                <a:solidFill>
                  <a:srgbClr val="334155"/>
                </a:solidFill>
                <a:latin typeface="Arial"/>
              </a:rPr>
              <a:t> a small capsule that runs one loop every time: identify, decide, purify, verify, compare.</a:t>
            </a:r>
          </a:p>
          <a:p>
            <a:pPr algn="l">
              <a:spcAft>
                <a:spcPts val="200"/>
              </a:spcAft>
              <a:buNone/>
            </a:pPr>
            <a:r>
              <a:rPr sz="1000" b="1" i="0">
                <a:solidFill>
                  <a:srgbClr val="0F172A"/>
                </a:solidFill>
                <a:latin typeface="Arial"/>
              </a:rPr>
              <a:t>The problem</a:t>
            </a:r>
          </a:p>
          <a:p>
            <a:pPr algn="l" marL="128016" indent="-128016">
              <a:spcAft>
                <a:spcPts val="600"/>
              </a:spcAft>
              <a:buClr>
                <a:srgbClr val="059668"/>
              </a:buClr>
              <a:buSzPct val="100000"/>
              <a:buFont typeface="Arial"/>
              <a:buChar char="▪"/>
            </a:pPr>
            <a:r>
              <a:rPr sz="1000" b="0" i="0">
                <a:solidFill>
                  <a:srgbClr val="334155"/>
                </a:solidFill>
                <a:latin typeface="Arial"/>
              </a:rPr>
              <a:t>Water changes from one source to the next, and from season to season. Lab tests are slow, costly or simply not nearby.</a:t>
            </a:r>
          </a:p>
          <a:p>
            <a:pPr algn="l" marL="128016" indent="-128016">
              <a:spcAft>
                <a:spcPts val="600"/>
              </a:spcAft>
              <a:buClr>
                <a:srgbClr val="059668"/>
              </a:buClr>
              <a:buSzPct val="100000"/>
              <a:buFont typeface="Arial"/>
              <a:buChar char="▪"/>
            </a:pPr>
            <a:r>
              <a:rPr sz="1000" b="0" i="0">
                <a:solidFill>
                  <a:srgbClr val="334155"/>
                </a:solidFill>
                <a:latin typeface="Arial"/>
              </a:rPr>
              <a:t>Most purifiers run the same process on every glass of water, without checking what came in.</a:t>
            </a:r>
          </a:p>
          <a:p>
            <a:pPr algn="l" marL="128016" indent="-128016">
              <a:spcAft>
                <a:spcPts val="600"/>
              </a:spcAft>
              <a:buClr>
                <a:srgbClr val="059668"/>
              </a:buClr>
              <a:buSzPct val="100000"/>
              <a:buFont typeface="Arial"/>
              <a:buChar char="▪"/>
            </a:pPr>
            <a:r>
              <a:rPr sz="1000" b="0" i="0">
                <a:solidFill>
                  <a:srgbClr val="334155"/>
                </a:solidFill>
                <a:latin typeface="Arial"/>
              </a:rPr>
              <a:t>People rarely have an easy way to see whether the treatment actually made a difference.</a:t>
            </a:r>
          </a:p>
        </p:txBody>
      </p:sp>
      <p:sp>
        <p:nvSpPr>
          <p:cNvPr id="24" name="Rounded Rectangle 23"/>
          <p:cNvSpPr/>
          <p:nvPr/>
        </p:nvSpPr>
        <p:spPr>
          <a:xfrm>
            <a:off x="6228892" y="1920240"/>
            <a:ext cx="5428792" cy="3639312"/>
          </a:xfrm>
          <a:prstGeom prst="roundRect">
            <a:avLst>
              <a:gd name="adj" fmla="val 201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image.png"/>
          <p:cNvPicPr>
            <a:picLocks noChangeAspect="1"/>
          </p:cNvPicPr>
          <p:nvPr/>
        </p:nvPicPr>
        <p:blipFill>
          <a:blip r:embed="rId7"/>
          <a:stretch>
            <a:fillRect/>
          </a:stretch>
        </p:blipFill>
        <p:spPr>
          <a:xfrm>
            <a:off x="6384340" y="2075688"/>
            <a:ext cx="173736" cy="173736"/>
          </a:xfrm>
          <a:prstGeom prst="rect">
            <a:avLst/>
          </a:prstGeom>
        </p:spPr>
      </p:pic>
      <p:sp>
        <p:nvSpPr>
          <p:cNvPr id="26" name="TextBox 25"/>
          <p:cNvSpPr txBox="1"/>
          <p:nvPr/>
        </p:nvSpPr>
        <p:spPr>
          <a:xfrm>
            <a:off x="6640372" y="2039112"/>
            <a:ext cx="4880152"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Who it is for, and how things work today</a:t>
            </a:r>
          </a:p>
        </p:txBody>
      </p:sp>
      <p:sp>
        <p:nvSpPr>
          <p:cNvPr id="27" name="TextBox 26"/>
          <p:cNvSpPr txBox="1"/>
          <p:nvPr/>
        </p:nvSpPr>
        <p:spPr>
          <a:xfrm>
            <a:off x="6400800" y="2286000"/>
            <a:ext cx="5120640" cy="3200400"/>
          </a:xfrm>
          <a:prstGeom prst="rect">
            <a:avLst/>
          </a:prstGeom>
          <a:noFill/>
        </p:spPr>
        <p:txBody>
          <a:bodyPr wrap="square" lIns="0" rIns="0" tIns="0" bIns="0" anchor="t"/>
          <a:lstStyle/>
          <a:p>
            <a:pPr algn="l" marL="128016" indent="-128016">
              <a:spcAft>
                <a:spcPts val="800"/>
              </a:spcAft>
              <a:buClr>
                <a:srgbClr val="059668"/>
              </a:buClr>
              <a:buSzPct val="100000"/>
              <a:buFont typeface="Arial"/>
              <a:buChar char="▪"/>
            </a:pPr>
            <a:r>
              <a:rPr sz="1000" b="1" i="0">
                <a:solidFill>
                  <a:srgbClr val="0F172A"/>
                </a:solidFill>
                <a:latin typeface="Arial"/>
              </a:rPr>
              <a:t>Who:</a:t>
            </a:r>
            <a:r>
              <a:rPr sz="1000" b="0" i="0">
                <a:solidFill>
                  <a:srgbClr val="334155"/>
                </a:solidFill>
                <a:latin typeface="Arial"/>
              </a:rPr>
              <a:t> families on changing water sources, rural communities, schools, small institutions and small community water plants.</a:t>
            </a:r>
          </a:p>
          <a:p>
            <a:pPr algn="l" marL="128016" indent="-128016">
              <a:spcAft>
                <a:spcPts val="800"/>
              </a:spcAft>
              <a:buClr>
                <a:srgbClr val="059668"/>
              </a:buClr>
              <a:buSzPct val="100000"/>
              <a:buFont typeface="Arial"/>
              <a:buChar char="▪"/>
            </a:pPr>
            <a:r>
              <a:rPr sz="1000" b="1" i="0">
                <a:solidFill>
                  <a:srgbClr val="0F172A"/>
                </a:solidFill>
                <a:latin typeface="Arial"/>
              </a:rPr>
              <a:t>How they would use it:</a:t>
            </a:r>
            <a:r>
              <a:rPr sz="1000" b="0" i="0">
                <a:solidFill>
                  <a:srgbClr val="334155"/>
                </a:solidFill>
                <a:latin typeface="Arial"/>
              </a:rPr>
              <a:t> carry the capsule to the tap, well or tank, and check and treat the water right there.</a:t>
            </a:r>
          </a:p>
          <a:p>
            <a:pPr algn="l" marL="128016" indent="-128016">
              <a:spcAft>
                <a:spcPts val="800"/>
              </a:spcAft>
              <a:buClr>
                <a:srgbClr val="059668"/>
              </a:buClr>
              <a:buSzPct val="100000"/>
              <a:buFont typeface="Arial"/>
              <a:buChar char="▪"/>
            </a:pPr>
            <a:r>
              <a:rPr sz="1000" b="1" i="0">
                <a:solidFill>
                  <a:srgbClr val="0F172A"/>
                </a:solidFill>
                <a:latin typeface="Arial"/>
              </a:rPr>
              <a:t>Today:</a:t>
            </a:r>
            <a:r>
              <a:rPr sz="1000" b="0" i="0">
                <a:solidFill>
                  <a:srgbClr val="334155"/>
                </a:solidFill>
                <a:latin typeface="Arial"/>
              </a:rPr>
              <a:t> nobody knows exactly what is in the water, testing is slow, the filter does the same thing every time, and nobody checks the result.</a:t>
            </a:r>
          </a:p>
          <a:p>
            <a:pPr algn="l" marL="128016" indent="-128016">
              <a:spcAft>
                <a:spcPts val="800"/>
              </a:spcAft>
              <a:buClr>
                <a:srgbClr val="059668"/>
              </a:buClr>
              <a:buSzPct val="100000"/>
              <a:buFont typeface="Arial"/>
              <a:buChar char="▪"/>
            </a:pPr>
            <a:r>
              <a:rPr sz="1000" b="1" i="0">
                <a:solidFill>
                  <a:srgbClr val="0F172A"/>
                </a:solidFill>
                <a:latin typeface="Arial"/>
              </a:rPr>
              <a:t>What exists:</a:t>
            </a:r>
            <a:r>
              <a:rPr sz="1000" b="0" i="0">
                <a:solidFill>
                  <a:srgbClr val="334155"/>
                </a:solidFill>
                <a:latin typeface="Arial"/>
              </a:rPr>
              <a:t> labs test but do not treat. Meters measure but do not treat. Filters treat, but rarely tell you what changed.</a:t>
            </a:r>
          </a:p>
        </p:txBody>
      </p:sp>
      <p:pic>
        <p:nvPicPr>
          <p:cNvPr id="28" name="Note bar" descr="image.png"/>
          <p:cNvPicPr>
            <a:picLocks noChangeAspect="1"/>
          </p:cNvPicPr>
          <p:nvPr/>
        </p:nvPicPr>
        <p:blipFill>
          <a:blip r:embed="rId8"/>
          <a:stretch>
            <a:fillRect/>
          </a:stretch>
        </p:blipFill>
        <p:spPr>
          <a:xfrm>
            <a:off x="533095" y="5715000"/>
            <a:ext cx="11125504" cy="363016"/>
          </a:xfrm>
          <a:prstGeom prst="rect">
            <a:avLst/>
          </a:prstGeom>
        </p:spPr>
      </p:pic>
      <p:sp>
        <p:nvSpPr>
          <p:cNvPr id="29"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Before we submit:</a:t>
            </a:r>
            <a:r>
              <a:rPr sz="850" b="0" i="0">
                <a:solidFill>
                  <a:srgbClr val="334155"/>
                </a:solidFill>
                <a:latin typeface="Arial"/>
              </a:rPr>
              <a:t> our Application ID, Team ID and Track still need to be filled in on slides 1 and 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Problem Context: The Gap, and How We Will Measure It</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sp>
        <p:nvSpPr>
          <p:cNvPr id="7" name="Rounded Rectangle 6"/>
          <p:cNvSpPr/>
          <p:nvPr/>
        </p:nvSpPr>
        <p:spPr>
          <a:xfrm>
            <a:off x="533095" y="960120"/>
            <a:ext cx="4526280" cy="4599432"/>
          </a:xfrm>
          <a:prstGeom prst="roundRect">
            <a:avLst>
              <a:gd name="adj" fmla="val 161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mage.png"/>
          <p:cNvPicPr>
            <a:picLocks noChangeAspect="1"/>
          </p:cNvPicPr>
          <p:nvPr/>
        </p:nvPicPr>
        <p:blipFill>
          <a:blip r:embed="rId5"/>
          <a:stretch>
            <a:fillRect/>
          </a:stretch>
        </p:blipFill>
        <p:spPr>
          <a:xfrm>
            <a:off x="688543" y="1115568"/>
            <a:ext cx="173736" cy="173736"/>
          </a:xfrm>
          <a:prstGeom prst="rect">
            <a:avLst/>
          </a:prstGeom>
        </p:spPr>
      </p:pic>
      <p:sp>
        <p:nvSpPr>
          <p:cNvPr id="9" name="TextBox 8"/>
          <p:cNvSpPr txBox="1"/>
          <p:nvPr/>
        </p:nvSpPr>
        <p:spPr>
          <a:xfrm>
            <a:off x="944575" y="1078992"/>
            <a:ext cx="3977639"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Why test the water twice?</a:t>
            </a:r>
          </a:p>
        </p:txBody>
      </p:sp>
      <p:sp>
        <p:nvSpPr>
          <p:cNvPr id="10" name="TextBox 9"/>
          <p:cNvSpPr txBox="1"/>
          <p:nvPr/>
        </p:nvSpPr>
        <p:spPr>
          <a:xfrm>
            <a:off x="713232" y="1371600"/>
            <a:ext cx="4206240" cy="201168"/>
          </a:xfrm>
          <a:prstGeom prst="rect">
            <a:avLst/>
          </a:prstGeom>
          <a:noFill/>
        </p:spPr>
        <p:txBody>
          <a:bodyPr wrap="square" lIns="0" rIns="0" tIns="0" bIns="0" anchor="t"/>
          <a:lstStyle/>
          <a:p>
            <a:pPr algn="l">
              <a:spcAft>
                <a:spcPts val="300"/>
              </a:spcAft>
              <a:buNone/>
            </a:pPr>
            <a:r>
              <a:rPr sz="750" b="1" i="0">
                <a:solidFill>
                  <a:srgbClr val="64748B"/>
                </a:solidFill>
                <a:latin typeface="Arial"/>
              </a:rPr>
              <a:t>A NORMAL FILTER</a:t>
            </a:r>
          </a:p>
        </p:txBody>
      </p:sp>
      <p:sp>
        <p:nvSpPr>
          <p:cNvPr id="11" name="Rounded Rectangle 10"/>
          <p:cNvSpPr/>
          <p:nvPr/>
        </p:nvSpPr>
        <p:spPr>
          <a:xfrm>
            <a:off x="713232" y="1591056"/>
            <a:ext cx="1188720" cy="457200"/>
          </a:xfrm>
          <a:prstGeom prst="roundRect">
            <a:avLst>
              <a:gd name="adj" fmla="val 12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0" i="0">
                <a:solidFill>
                  <a:srgbClr val="334155"/>
                </a:solidFill>
                <a:latin typeface="Arial"/>
              </a:rPr>
              <a:t>Raw water</a:t>
            </a:r>
          </a:p>
        </p:txBody>
      </p:sp>
      <p:cxnSp>
        <p:nvCxnSpPr>
          <p:cNvPr id="12" name="Connector 11"/>
          <p:cNvCxnSpPr/>
          <p:nvPr/>
        </p:nvCxnSpPr>
        <p:spPr>
          <a:xfrm>
            <a:off x="1901952" y="1819656"/>
            <a:ext cx="228600" cy="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130552" y="1591056"/>
            <a:ext cx="1188720" cy="457200"/>
          </a:xfrm>
          <a:prstGeom prst="roundRect">
            <a:avLst>
              <a:gd name="adj" fmla="val 12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0" i="0">
                <a:solidFill>
                  <a:srgbClr val="334155"/>
                </a:solidFill>
                <a:latin typeface="Arial"/>
              </a:rPr>
              <a:t>Same filtering every time</a:t>
            </a:r>
          </a:p>
        </p:txBody>
      </p:sp>
      <p:cxnSp>
        <p:nvCxnSpPr>
          <p:cNvPr id="14" name="Connector 13"/>
          <p:cNvCxnSpPr/>
          <p:nvPr/>
        </p:nvCxnSpPr>
        <p:spPr>
          <a:xfrm>
            <a:off x="3319272" y="1819656"/>
            <a:ext cx="228600" cy="0"/>
          </a:xfrm>
          <a:prstGeom prst="line">
            <a:avLst/>
          </a:prstGeom>
          <a:ln w="1587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47872" y="1591056"/>
            <a:ext cx="1188720" cy="457200"/>
          </a:xfrm>
          <a:prstGeom prst="roundRect">
            <a:avLst>
              <a:gd name="adj" fmla="val 12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0" i="0">
                <a:solidFill>
                  <a:srgbClr val="334155"/>
                </a:solidFill>
                <a:latin typeface="Arial"/>
              </a:rPr>
              <a:t>You hope it worked</a:t>
            </a:r>
          </a:p>
        </p:txBody>
      </p:sp>
      <p:sp>
        <p:nvSpPr>
          <p:cNvPr id="16" name="TextBox 15"/>
          <p:cNvSpPr txBox="1"/>
          <p:nvPr/>
        </p:nvSpPr>
        <p:spPr>
          <a:xfrm>
            <a:off x="713232" y="2194560"/>
            <a:ext cx="4206240" cy="201168"/>
          </a:xfrm>
          <a:prstGeom prst="rect">
            <a:avLst/>
          </a:prstGeom>
          <a:noFill/>
        </p:spPr>
        <p:txBody>
          <a:bodyPr wrap="square" lIns="0" rIns="0" tIns="0" bIns="0" anchor="t"/>
          <a:lstStyle/>
          <a:p>
            <a:pPr algn="l">
              <a:spcAft>
                <a:spcPts val="300"/>
              </a:spcAft>
              <a:buNone/>
            </a:pPr>
            <a:r>
              <a:rPr sz="750" b="1" i="0">
                <a:solidFill>
                  <a:srgbClr val="059668"/>
                </a:solidFill>
                <a:latin typeface="Arial"/>
              </a:rPr>
              <a:t>HYDRA NEXUS</a:t>
            </a:r>
          </a:p>
        </p:txBody>
      </p:sp>
      <p:sp>
        <p:nvSpPr>
          <p:cNvPr id="17" name="Rounded Rectangle 16"/>
          <p:cNvSpPr/>
          <p:nvPr/>
        </p:nvSpPr>
        <p:spPr>
          <a:xfrm>
            <a:off x="713232" y="2414016"/>
            <a:ext cx="896112" cy="457200"/>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0" i="0">
                <a:solidFill>
                  <a:srgbClr val="334155"/>
                </a:solidFill>
                <a:latin typeface="Arial"/>
              </a:rPr>
              <a:t>Test it first</a:t>
            </a:r>
          </a:p>
        </p:txBody>
      </p:sp>
      <p:cxnSp>
        <p:nvCxnSpPr>
          <p:cNvPr id="18" name="Connector 17"/>
          <p:cNvCxnSpPr/>
          <p:nvPr/>
        </p:nvCxnSpPr>
        <p:spPr>
          <a:xfrm>
            <a:off x="1609344" y="2642616"/>
            <a:ext cx="173736" cy="0"/>
          </a:xfrm>
          <a:prstGeom prst="line">
            <a:avLst/>
          </a:prstGeom>
          <a:ln w="15875">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783080" y="2414016"/>
            <a:ext cx="896112" cy="457200"/>
          </a:xfrm>
          <a:prstGeom prst="roundRect">
            <a:avLst>
              <a:gd name="adj" fmla="val 12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0" i="0">
                <a:solidFill>
                  <a:srgbClr val="334155"/>
                </a:solidFill>
                <a:latin typeface="Arial"/>
              </a:rPr>
              <a:t>Filter it to suit</a:t>
            </a:r>
          </a:p>
        </p:txBody>
      </p:sp>
      <p:cxnSp>
        <p:nvCxnSpPr>
          <p:cNvPr id="20" name="Connector 19"/>
          <p:cNvCxnSpPr/>
          <p:nvPr/>
        </p:nvCxnSpPr>
        <p:spPr>
          <a:xfrm>
            <a:off x="2679191" y="2642616"/>
            <a:ext cx="173737" cy="0"/>
          </a:xfrm>
          <a:prstGeom prst="line">
            <a:avLst/>
          </a:prstGeom>
          <a:ln w="15875">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852928" y="2414016"/>
            <a:ext cx="896112" cy="457200"/>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0" i="0">
                <a:solidFill>
                  <a:srgbClr val="334155"/>
                </a:solidFill>
                <a:latin typeface="Arial"/>
              </a:rPr>
              <a:t>Test it again</a:t>
            </a:r>
          </a:p>
        </p:txBody>
      </p:sp>
      <p:cxnSp>
        <p:nvCxnSpPr>
          <p:cNvPr id="22" name="Connector 21"/>
          <p:cNvCxnSpPr/>
          <p:nvPr/>
        </p:nvCxnSpPr>
        <p:spPr>
          <a:xfrm>
            <a:off x="3749039" y="2642616"/>
            <a:ext cx="173737" cy="0"/>
          </a:xfrm>
          <a:prstGeom prst="line">
            <a:avLst/>
          </a:prstGeom>
          <a:ln w="15875">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922776" y="2414016"/>
            <a:ext cx="896112" cy="457200"/>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0" i="0">
                <a:solidFill>
                  <a:srgbClr val="334155"/>
                </a:solidFill>
                <a:latin typeface="Arial"/>
              </a:rPr>
              <a:t>Pour or warn</a:t>
            </a:r>
          </a:p>
        </p:txBody>
      </p:sp>
      <p:sp>
        <p:nvSpPr>
          <p:cNvPr id="24" name="TextBox 23"/>
          <p:cNvSpPr txBox="1"/>
          <p:nvPr/>
        </p:nvSpPr>
        <p:spPr>
          <a:xfrm>
            <a:off x="713232" y="3063240"/>
            <a:ext cx="4224528" cy="2468880"/>
          </a:xfrm>
          <a:prstGeom prst="rect">
            <a:avLst/>
          </a:prstGeom>
          <a:noFill/>
        </p:spPr>
        <p:txBody>
          <a:bodyPr wrap="square" lIns="0" rIns="0" tIns="0" bIns="0" anchor="t"/>
          <a:lstStyle/>
          <a:p>
            <a:pPr algn="l" marL="128016" indent="-128016">
              <a:spcAft>
                <a:spcPts val="800"/>
              </a:spcAft>
              <a:buClr>
                <a:srgbClr val="059668"/>
              </a:buClr>
              <a:buSzPct val="100000"/>
              <a:buFont typeface="Arial"/>
              <a:buChar char="▪"/>
            </a:pPr>
            <a:r>
              <a:rPr sz="1000" b="0" i="0">
                <a:solidFill>
                  <a:srgbClr val="334155"/>
                </a:solidFill>
                <a:latin typeface="Arial"/>
              </a:rPr>
              <a:t>One test tells you about the water. It does not tell you whether the treatment worked.</a:t>
            </a:r>
          </a:p>
          <a:p>
            <a:pPr algn="l" marL="128016" indent="-128016">
              <a:spcAft>
                <a:spcPts val="800"/>
              </a:spcAft>
              <a:buClr>
                <a:srgbClr val="059668"/>
              </a:buClr>
              <a:buSzPct val="100000"/>
              <a:buFont typeface="Arial"/>
              <a:buChar char="▪"/>
            </a:pPr>
            <a:r>
              <a:rPr sz="1000" b="0" i="0">
                <a:solidFill>
                  <a:srgbClr val="334155"/>
                </a:solidFill>
                <a:latin typeface="Arial"/>
              </a:rPr>
              <a:t>Testing the same water before and after shows exactly what that one run changed.</a:t>
            </a:r>
          </a:p>
          <a:p>
            <a:pPr algn="l" marL="128016" indent="-128016">
              <a:spcAft>
                <a:spcPts val="800"/>
              </a:spcAft>
              <a:buClr>
                <a:srgbClr val="059668"/>
              </a:buClr>
              <a:buSzPct val="100000"/>
              <a:buFont typeface="Arial"/>
              <a:buChar char="▪"/>
            </a:pPr>
            <a:r>
              <a:rPr sz="1000" b="0" i="0">
                <a:solidFill>
                  <a:srgbClr val="334155"/>
                </a:solidFill>
                <a:latin typeface="Arial"/>
              </a:rPr>
              <a:t>If nothing improves, the cartridge is probably worn out, and we catch it before anyone drinks.</a:t>
            </a:r>
          </a:p>
          <a:p>
            <a:pPr algn="l" marL="128016" indent="-128016">
              <a:spcAft>
                <a:spcPts val="800"/>
              </a:spcAft>
              <a:buClr>
                <a:srgbClr val="059668"/>
              </a:buClr>
              <a:buSzPct val="100000"/>
              <a:buFont typeface="Arial"/>
              <a:buChar char="▪"/>
            </a:pPr>
            <a:r>
              <a:rPr sz="1000" b="0" i="0">
                <a:solidFill>
                  <a:srgbClr val="334155"/>
                </a:solidFill>
                <a:latin typeface="Arial"/>
              </a:rPr>
              <a:t>If something is outside what our sensors can check, we say so and suggest a proper lab test.</a:t>
            </a:r>
          </a:p>
        </p:txBody>
      </p:sp>
      <p:sp>
        <p:nvSpPr>
          <p:cNvPr id="25" name="Rounded Rectangle 24"/>
          <p:cNvSpPr/>
          <p:nvPr/>
        </p:nvSpPr>
        <p:spPr>
          <a:xfrm>
            <a:off x="5230368" y="960120"/>
            <a:ext cx="6428232" cy="4599432"/>
          </a:xfrm>
          <a:prstGeom prst="roundRect">
            <a:avLst>
              <a:gd name="adj" fmla="val 159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image.png"/>
          <p:cNvPicPr>
            <a:picLocks noChangeAspect="1"/>
          </p:cNvPicPr>
          <p:nvPr/>
        </p:nvPicPr>
        <p:blipFill>
          <a:blip r:embed="rId6"/>
          <a:stretch>
            <a:fillRect/>
          </a:stretch>
        </p:blipFill>
        <p:spPr>
          <a:xfrm>
            <a:off x="5385816" y="1115568"/>
            <a:ext cx="165463" cy="173736"/>
          </a:xfrm>
          <a:prstGeom prst="rect">
            <a:avLst/>
          </a:prstGeom>
        </p:spPr>
      </p:pic>
      <p:sp>
        <p:nvSpPr>
          <p:cNvPr id="27" name="TextBox 26"/>
          <p:cNvSpPr txBox="1"/>
          <p:nvPr/>
        </p:nvSpPr>
        <p:spPr>
          <a:xfrm>
            <a:off x="5641848" y="1078992"/>
            <a:ext cx="5879592"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Putting numbers on the problem</a:t>
            </a:r>
          </a:p>
        </p:txBody>
      </p:sp>
      <p:graphicFrame>
        <p:nvGraphicFramePr>
          <p:cNvPr id="28" name="Table 27"/>
          <p:cNvGraphicFramePr>
            <a:graphicFrameLocks noGrp="1"/>
          </p:cNvGraphicFramePr>
          <p:nvPr/>
        </p:nvGraphicFramePr>
        <p:xfrm>
          <a:off x="5394960" y="1353312"/>
          <a:ext cx="6099045" cy="3200400"/>
        </p:xfrm>
        <a:graphic>
          <a:graphicData uri="http://schemas.openxmlformats.org/drawingml/2006/table">
            <a:tbl>
              <a:tblPr firstRow="0" bandRow="0">
                <a:tableStyleId>{2D5ABB26-0587-4C30-8999-92F81FD0307C}</a:tableStyleId>
              </a:tblPr>
              <a:tblGrid>
                <a:gridCol w="1465662"/>
                <a:gridCol w="2458530"/>
                <a:gridCol w="1276544"/>
                <a:gridCol w="898309"/>
              </a:tblGrid>
              <a:tr h="457200">
                <a:tc>
                  <a:txBody>
                    <a:bodyPr wrap="square"/>
                    <a:lstStyle/>
                    <a:p>
                      <a:pPr algn="l"/>
                      <a:r>
                        <a:rPr sz="800" b="1" i="0">
                          <a:solidFill>
                            <a:srgbClr val="0F172A"/>
                          </a:solidFill>
                          <a:latin typeface="Arial"/>
                        </a:rPr>
                        <a:t>What we will measure</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800" b="1" i="0">
                          <a:solidFill>
                            <a:srgbClr val="0F172A"/>
                          </a:solidFill>
                          <a:latin typeface="Arial"/>
                        </a:rPr>
                        <a:t>How we will measure it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800" b="1" i="0">
                          <a:solidFill>
                            <a:srgbClr val="0F172A"/>
                          </a:solidFill>
                          <a:latin typeface="Arial"/>
                        </a:rPr>
                        <a:t>We report it as</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800" b="1" i="0">
                          <a:solidFill>
                            <a:srgbClr val="0F172A"/>
                          </a:solidFill>
                          <a:latin typeface="Arial"/>
                        </a:rPr>
                        <a:t>Status</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r>
              <a:tr h="457200">
                <a:tc>
                  <a:txBody>
                    <a:bodyPr wrap="square"/>
                    <a:lstStyle/>
                    <a:p>
                      <a:pPr algn="l"/>
                      <a:r>
                        <a:rPr sz="800" b="1" i="0">
                          <a:solidFill>
                            <a:srgbClr val="1E293B"/>
                          </a:solidFill>
                          <a:latin typeface="Arial"/>
                        </a:rPr>
                        <a:t>How long until you know about your water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Time a sample from collection to result: lab, handheld meter, and our capsule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Minutes per sample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Not yet measured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457200">
                <a:tc>
                  <a:txBody>
                    <a:bodyPr wrap="square"/>
                    <a:lstStyle/>
                    <a:p>
                      <a:pPr algn="l"/>
                      <a:r>
                        <a:rPr sz="800" b="1" i="0">
                          <a:solidFill>
                            <a:srgbClr val="1E293B"/>
                          </a:solidFill>
                          <a:latin typeface="Arial"/>
                        </a:rPr>
                        <a:t>How long one full cycle takes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Log the time from intake to clean water out, for 250 mL</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Minutes per 250 mL</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Not yet measured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457200">
                <a:tc>
                  <a:txBody>
                    <a:bodyPr wrap="square"/>
                    <a:lstStyle/>
                    <a:p>
                      <a:pPr algn="l"/>
                      <a:r>
                        <a:rPr sz="800" b="1" i="0">
                          <a:solidFill>
                            <a:srgbClr val="1E293B"/>
                          </a:solidFill>
                          <a:latin typeface="Arial"/>
                        </a:rPr>
                        <a:t>How much pH, TDS and turbidity change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Before and after readings, at least 3 runs per kind of water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Average change, with spread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Not yet measured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457200">
                <a:tc>
                  <a:txBody>
                    <a:bodyPr wrap="square"/>
                    <a:lstStyle/>
                    <a:p>
                      <a:pPr algn="l"/>
                      <a:r>
                        <a:rPr sz="800" b="1" i="0">
                          <a:solidFill>
                            <a:srgbClr val="1E293B"/>
                          </a:solidFill>
                          <a:latin typeface="Arial"/>
                        </a:rPr>
                        <a:t>How fast a bad treatment gets noticed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Count cycles until our capsule stops a run; a normal filter never does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Cycles or minutes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Not yet measured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457200">
                <a:tc>
                  <a:txBody>
                    <a:bodyPr wrap="square"/>
                    <a:lstStyle/>
                    <a:p>
                      <a:pPr algn="l"/>
                      <a:r>
                        <a:rPr sz="800" b="1" i="0">
                          <a:solidFill>
                            <a:srgbClr val="1E293B"/>
                          </a:solidFill>
                          <a:latin typeface="Arial"/>
                        </a:rPr>
                        <a:t>How many steps a person has to do</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Walk through both ways of checking water and count the steps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Number of steps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Not yet measured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457200">
                <a:tc>
                  <a:txBody>
                    <a:bodyPr wrap="square"/>
                    <a:lstStyle/>
                    <a:p>
                      <a:pPr algn="l"/>
                      <a:r>
                        <a:rPr sz="800" b="1" i="0">
                          <a:solidFill>
                            <a:srgbClr val="1E293B"/>
                          </a:solidFill>
                          <a:latin typeface="Arial"/>
                        </a:rPr>
                        <a:t>How steady the sensors are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10 repeat readings in reference liquids, and drift over 4 hours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Spread and drift per hour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Not yet measured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bl>
          </a:graphicData>
        </a:graphic>
      </p:graphicFrame>
      <p:sp>
        <p:nvSpPr>
          <p:cNvPr id="29" name="TextBox 28"/>
          <p:cNvSpPr txBox="1"/>
          <p:nvPr/>
        </p:nvSpPr>
        <p:spPr>
          <a:xfrm>
            <a:off x="5394960" y="4956048"/>
            <a:ext cx="6099048" cy="548640"/>
          </a:xfrm>
          <a:prstGeom prst="rect">
            <a:avLst/>
          </a:prstGeom>
          <a:noFill/>
        </p:spPr>
        <p:txBody>
          <a:bodyPr wrap="square" lIns="0" rIns="0" tIns="0" bIns="0" anchor="t"/>
          <a:lstStyle/>
          <a:p>
            <a:pPr algn="l">
              <a:spcAft>
                <a:spcPts val="300"/>
              </a:spcAft>
              <a:buNone/>
            </a:pPr>
            <a:r>
              <a:rPr sz="850" b="0" i="1">
                <a:solidFill>
                  <a:srgbClr val="64748B"/>
                </a:solidFill>
                <a:latin typeface="Arial"/>
              </a:rPr>
              <a:t>We are not quoting any baseline numbers yet. We could not find published figures that compare fairly with our setup, so we will measure them ourselves in Months 3 and 4.</a:t>
            </a:r>
          </a:p>
        </p:txBody>
      </p:sp>
      <p:pic>
        <p:nvPicPr>
          <p:cNvPr id="30" name="Note bar" descr="image.png"/>
          <p:cNvPicPr>
            <a:picLocks noChangeAspect="1"/>
          </p:cNvPicPr>
          <p:nvPr/>
        </p:nvPicPr>
        <p:blipFill>
          <a:blip r:embed="rId7"/>
          <a:stretch>
            <a:fillRect/>
          </a:stretch>
        </p:blipFill>
        <p:spPr>
          <a:xfrm>
            <a:off x="533095" y="5715000"/>
            <a:ext cx="11125504" cy="363016"/>
          </a:xfrm>
          <a:prstGeom prst="rect">
            <a:avLst/>
          </a:prstGeom>
        </p:spPr>
      </p:pic>
      <p:sp>
        <p:nvSpPr>
          <p:cNvPr id="31"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How:</a:t>
            </a:r>
            <a:r>
              <a:rPr sz="850" b="0" i="0">
                <a:solidFill>
                  <a:srgbClr val="334155"/>
                </a:solidFill>
                <a:latin typeface="Arial"/>
              </a:rPr>
              <a:t> we will run the same water samples through the usual method and through our capsule, so the difference comes from measurement, not guesswork.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User Journey: Before and After Hydra Nexus</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sp>
        <p:nvSpPr>
          <p:cNvPr id="7" name="Rounded Rectangle 6"/>
          <p:cNvSpPr/>
          <p:nvPr/>
        </p:nvSpPr>
        <p:spPr>
          <a:xfrm>
            <a:off x="533095" y="960120"/>
            <a:ext cx="1554480" cy="182880"/>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50" b="1" i="0">
                <a:solidFill>
                  <a:srgbClr val="334155"/>
                </a:solidFill>
                <a:latin typeface="Arial"/>
              </a:rPr>
              <a:t>BEFORE HYDRA NEXUS</a:t>
            </a:r>
          </a:p>
        </p:txBody>
      </p:sp>
      <p:sp>
        <p:nvSpPr>
          <p:cNvPr id="8" name="Rounded Rectangle 7"/>
          <p:cNvSpPr/>
          <p:nvPr/>
        </p:nvSpPr>
        <p:spPr>
          <a:xfrm>
            <a:off x="533095" y="1261872"/>
            <a:ext cx="1627632" cy="658368"/>
          </a:xfrm>
          <a:prstGeom prst="roundRect">
            <a:avLst>
              <a:gd name="adj" fmla="val 833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0F172A"/>
                </a:solidFill>
                <a:latin typeface="Arial"/>
              </a:rPr>
              <a:t>Water quality is unknown or keeps changing</a:t>
            </a:r>
          </a:p>
        </p:txBody>
      </p:sp>
      <p:sp>
        <p:nvSpPr>
          <p:cNvPr id="9" name="TextBox 8"/>
          <p:cNvSpPr txBox="1"/>
          <p:nvPr/>
        </p:nvSpPr>
        <p:spPr>
          <a:xfrm>
            <a:off x="533095" y="1965960"/>
            <a:ext cx="1627632" cy="320040"/>
          </a:xfrm>
          <a:prstGeom prst="rect">
            <a:avLst/>
          </a:prstGeom>
          <a:noFill/>
        </p:spPr>
        <p:txBody>
          <a:bodyPr wrap="square" lIns="0" rIns="0" tIns="0" bIns="0" anchor="t"/>
          <a:lstStyle/>
          <a:p>
            <a:pPr algn="ctr">
              <a:spcAft>
                <a:spcPts val="300"/>
              </a:spcAft>
              <a:buNone/>
            </a:pPr>
            <a:r>
              <a:rPr sz="800" b="0" i="1">
                <a:solidFill>
                  <a:srgbClr val="B45309"/>
                </a:solidFill>
                <a:latin typeface="Arial"/>
              </a:rPr>
              <a:t>Rain, season and source all change it</a:t>
            </a:r>
          </a:p>
        </p:txBody>
      </p:sp>
      <p:cxnSp>
        <p:nvCxnSpPr>
          <p:cNvPr id="10" name="Connector 9"/>
          <p:cNvCxnSpPr/>
          <p:nvPr/>
        </p:nvCxnSpPr>
        <p:spPr>
          <a:xfrm>
            <a:off x="2188159" y="1591056"/>
            <a:ext cx="217627"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433218" y="1261872"/>
            <a:ext cx="1627632" cy="658368"/>
          </a:xfrm>
          <a:prstGeom prst="roundRect">
            <a:avLst>
              <a:gd name="adj" fmla="val 833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0F172A"/>
                </a:solidFill>
                <a:latin typeface="Arial"/>
              </a:rPr>
              <a:t>People can’t tell what is in it</a:t>
            </a:r>
          </a:p>
        </p:txBody>
      </p:sp>
      <p:sp>
        <p:nvSpPr>
          <p:cNvPr id="12" name="TextBox 11"/>
          <p:cNvSpPr txBox="1"/>
          <p:nvPr/>
        </p:nvSpPr>
        <p:spPr>
          <a:xfrm>
            <a:off x="2433218" y="1965960"/>
            <a:ext cx="1627632" cy="320040"/>
          </a:xfrm>
          <a:prstGeom prst="rect">
            <a:avLst/>
          </a:prstGeom>
          <a:noFill/>
        </p:spPr>
        <p:txBody>
          <a:bodyPr wrap="square" lIns="0" rIns="0" tIns="0" bIns="0" anchor="t"/>
          <a:lstStyle/>
          <a:p>
            <a:pPr algn="ctr">
              <a:spcAft>
                <a:spcPts val="300"/>
              </a:spcAft>
              <a:buNone/>
            </a:pPr>
            <a:r>
              <a:rPr sz="800" b="0" i="1">
                <a:solidFill>
                  <a:srgbClr val="B45309"/>
                </a:solidFill>
                <a:latin typeface="Arial"/>
              </a:rPr>
              <a:t>Tests are slow, costly or far away</a:t>
            </a:r>
          </a:p>
        </p:txBody>
      </p:sp>
      <p:cxnSp>
        <p:nvCxnSpPr>
          <p:cNvPr id="13" name="Connector 12"/>
          <p:cNvCxnSpPr/>
          <p:nvPr/>
        </p:nvCxnSpPr>
        <p:spPr>
          <a:xfrm>
            <a:off x="4088282" y="1591056"/>
            <a:ext cx="217627"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33341" y="1261872"/>
            <a:ext cx="1627632" cy="658368"/>
          </a:xfrm>
          <a:prstGeom prst="roundRect">
            <a:avLst>
              <a:gd name="adj" fmla="val 833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0F172A"/>
                </a:solidFill>
                <a:latin typeface="Arial"/>
              </a:rPr>
              <a:t>The filter does the same thing every time</a:t>
            </a:r>
          </a:p>
        </p:txBody>
      </p:sp>
      <p:sp>
        <p:nvSpPr>
          <p:cNvPr id="15" name="TextBox 14"/>
          <p:cNvSpPr txBox="1"/>
          <p:nvPr/>
        </p:nvSpPr>
        <p:spPr>
          <a:xfrm>
            <a:off x="4333341" y="1965960"/>
            <a:ext cx="1627632" cy="320040"/>
          </a:xfrm>
          <a:prstGeom prst="rect">
            <a:avLst/>
          </a:prstGeom>
          <a:noFill/>
        </p:spPr>
        <p:txBody>
          <a:bodyPr wrap="square" lIns="0" rIns="0" tIns="0" bIns="0" anchor="t"/>
          <a:lstStyle/>
          <a:p>
            <a:pPr algn="ctr">
              <a:spcAft>
                <a:spcPts val="300"/>
              </a:spcAft>
              <a:buNone/>
            </a:pPr>
            <a:r>
              <a:rPr sz="800" b="0" i="1">
                <a:solidFill>
                  <a:srgbClr val="B45309"/>
                </a:solidFill>
                <a:latin typeface="Arial"/>
              </a:rPr>
              <a:t>One process for every sample</a:t>
            </a:r>
          </a:p>
        </p:txBody>
      </p:sp>
      <p:cxnSp>
        <p:nvCxnSpPr>
          <p:cNvPr id="16" name="Connector 15"/>
          <p:cNvCxnSpPr/>
          <p:nvPr/>
        </p:nvCxnSpPr>
        <p:spPr>
          <a:xfrm>
            <a:off x="5988405" y="1591056"/>
            <a:ext cx="217627"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33464" y="1261872"/>
            <a:ext cx="1627632" cy="658368"/>
          </a:xfrm>
          <a:prstGeom prst="roundRect">
            <a:avLst>
              <a:gd name="adj" fmla="val 833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0F172A"/>
                </a:solidFill>
                <a:latin typeface="Arial"/>
              </a:rPr>
              <a:t>Water gets treated</a:t>
            </a:r>
          </a:p>
        </p:txBody>
      </p:sp>
      <p:sp>
        <p:nvSpPr>
          <p:cNvPr id="18" name="TextBox 17"/>
          <p:cNvSpPr txBox="1"/>
          <p:nvPr/>
        </p:nvSpPr>
        <p:spPr>
          <a:xfrm>
            <a:off x="6233464" y="1965960"/>
            <a:ext cx="1627632" cy="320040"/>
          </a:xfrm>
          <a:prstGeom prst="rect">
            <a:avLst/>
          </a:prstGeom>
          <a:noFill/>
        </p:spPr>
        <p:txBody>
          <a:bodyPr wrap="square" lIns="0" rIns="0" tIns="0" bIns="0" anchor="t"/>
          <a:lstStyle/>
          <a:p>
            <a:pPr algn="ctr">
              <a:spcAft>
                <a:spcPts val="300"/>
              </a:spcAft>
              <a:buNone/>
            </a:pPr>
            <a:r>
              <a:rPr sz="800" b="0" i="1">
                <a:solidFill>
                  <a:srgbClr val="B45309"/>
                </a:solidFill>
                <a:latin typeface="Arial"/>
              </a:rPr>
              <a:t>No feedback while it runs</a:t>
            </a:r>
          </a:p>
        </p:txBody>
      </p:sp>
      <p:cxnSp>
        <p:nvCxnSpPr>
          <p:cNvPr id="19" name="Connector 18"/>
          <p:cNvCxnSpPr/>
          <p:nvPr/>
        </p:nvCxnSpPr>
        <p:spPr>
          <a:xfrm>
            <a:off x="7888528" y="1591056"/>
            <a:ext cx="217628"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33588" y="1261872"/>
            <a:ext cx="1627632" cy="658368"/>
          </a:xfrm>
          <a:prstGeom prst="roundRect">
            <a:avLst>
              <a:gd name="adj" fmla="val 833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0F172A"/>
                </a:solidFill>
                <a:latin typeface="Arial"/>
              </a:rPr>
              <a:t>No one checks the result</a:t>
            </a:r>
          </a:p>
        </p:txBody>
      </p:sp>
      <p:sp>
        <p:nvSpPr>
          <p:cNvPr id="21" name="TextBox 20"/>
          <p:cNvSpPr txBox="1"/>
          <p:nvPr/>
        </p:nvSpPr>
        <p:spPr>
          <a:xfrm>
            <a:off x="8133588" y="1965960"/>
            <a:ext cx="1627632" cy="320040"/>
          </a:xfrm>
          <a:prstGeom prst="rect">
            <a:avLst/>
          </a:prstGeom>
          <a:noFill/>
        </p:spPr>
        <p:txBody>
          <a:bodyPr wrap="square" lIns="0" rIns="0" tIns="0" bIns="0" anchor="t"/>
          <a:lstStyle/>
          <a:p>
            <a:pPr algn="ctr">
              <a:spcAft>
                <a:spcPts val="300"/>
              </a:spcAft>
              <a:buNone/>
            </a:pPr>
            <a:r>
              <a:rPr sz="800" b="0" i="1">
                <a:solidFill>
                  <a:srgbClr val="B45309"/>
                </a:solidFill>
                <a:latin typeface="Arial"/>
              </a:rPr>
              <a:t>A worn-out filter can go unnoticed</a:t>
            </a:r>
          </a:p>
        </p:txBody>
      </p:sp>
      <p:cxnSp>
        <p:nvCxnSpPr>
          <p:cNvPr id="22" name="Connector 21"/>
          <p:cNvCxnSpPr/>
          <p:nvPr/>
        </p:nvCxnSpPr>
        <p:spPr>
          <a:xfrm>
            <a:off x="9788651" y="1591056"/>
            <a:ext cx="217628" cy="0"/>
          </a:xfrm>
          <a:prstGeom prst="line">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033711" y="1261872"/>
            <a:ext cx="1627632" cy="658368"/>
          </a:xfrm>
          <a:prstGeom prst="roundRect">
            <a:avLst>
              <a:gd name="adj" fmla="val 833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0F172A"/>
                </a:solidFill>
                <a:latin typeface="Arial"/>
              </a:rPr>
              <a:t>People are left guessing</a:t>
            </a:r>
          </a:p>
        </p:txBody>
      </p:sp>
      <p:sp>
        <p:nvSpPr>
          <p:cNvPr id="24" name="TextBox 23"/>
          <p:cNvSpPr txBox="1"/>
          <p:nvPr/>
        </p:nvSpPr>
        <p:spPr>
          <a:xfrm>
            <a:off x="10033711" y="1965960"/>
            <a:ext cx="1627632" cy="320040"/>
          </a:xfrm>
          <a:prstGeom prst="rect">
            <a:avLst/>
          </a:prstGeom>
          <a:noFill/>
        </p:spPr>
        <p:txBody>
          <a:bodyPr wrap="square" lIns="0" rIns="0" tIns="0" bIns="0" anchor="t"/>
          <a:lstStyle/>
          <a:p>
            <a:pPr algn="ctr">
              <a:spcAft>
                <a:spcPts val="300"/>
              </a:spcAft>
              <a:buNone/>
            </a:pPr>
            <a:r>
              <a:rPr sz="800" b="0" i="1">
                <a:solidFill>
                  <a:srgbClr val="B45309"/>
                </a:solidFill>
                <a:latin typeface="Arial"/>
              </a:rPr>
              <a:t>Trust instead of proof</a:t>
            </a:r>
          </a:p>
        </p:txBody>
      </p:sp>
      <p:sp>
        <p:nvSpPr>
          <p:cNvPr id="25" name="Rounded Rectangle 24"/>
          <p:cNvSpPr/>
          <p:nvPr/>
        </p:nvSpPr>
        <p:spPr>
          <a:xfrm>
            <a:off x="533095" y="2487168"/>
            <a:ext cx="1463040" cy="18288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50" b="1" i="0">
                <a:solidFill>
                  <a:srgbClr val="047857"/>
                </a:solidFill>
                <a:latin typeface="Arial"/>
              </a:rPr>
              <a:t>AFTER HYDRA NEXUS</a:t>
            </a:r>
          </a:p>
        </p:txBody>
      </p:sp>
      <p:sp>
        <p:nvSpPr>
          <p:cNvPr id="26" name="Rounded Rectangle 25"/>
          <p:cNvSpPr/>
          <p:nvPr/>
        </p:nvSpPr>
        <p:spPr>
          <a:xfrm>
            <a:off x="533095" y="2788920"/>
            <a:ext cx="1627632" cy="960120"/>
          </a:xfrm>
          <a:prstGeom prst="roundRect">
            <a:avLst>
              <a:gd name="adj" fmla="val 571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300"/>
              </a:spcAft>
            </a:pPr>
            <a:r>
              <a:rPr sz="1050" b="1" i="0">
                <a:solidFill>
                  <a:srgbClr val="0368A1"/>
                </a:solidFill>
                <a:latin typeface="Arial"/>
              </a:rPr>
              <a:t>Water goes in</a:t>
            </a:r>
          </a:p>
          <a:p>
            <a:pPr algn="ctr">
              <a:spcAft>
                <a:spcPts val="0"/>
              </a:spcAft>
            </a:pPr>
            <a:r>
              <a:rPr sz="850" b="0" i="0">
                <a:solidFill>
                  <a:srgbClr val="334155"/>
                </a:solidFill>
                <a:latin typeface="Arial"/>
              </a:rPr>
              <a:t>The intake hose pulls in a small sample and sends it to the test cell</a:t>
            </a:r>
          </a:p>
        </p:txBody>
      </p:sp>
      <p:cxnSp>
        <p:nvCxnSpPr>
          <p:cNvPr id="27" name="Connector 26"/>
          <p:cNvCxnSpPr/>
          <p:nvPr/>
        </p:nvCxnSpPr>
        <p:spPr>
          <a:xfrm>
            <a:off x="2188159" y="3268980"/>
            <a:ext cx="217627" cy="0"/>
          </a:xfrm>
          <a:prstGeom prst="line">
            <a:avLst/>
          </a:prstGeom>
          <a:ln w="19050">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433218" y="2788920"/>
            <a:ext cx="1627632" cy="960120"/>
          </a:xfrm>
          <a:prstGeom prst="roundRect">
            <a:avLst>
              <a:gd name="adj" fmla="val 571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300"/>
              </a:spcAft>
            </a:pPr>
            <a:r>
              <a:rPr sz="1050" b="1" i="0">
                <a:solidFill>
                  <a:srgbClr val="059668"/>
                </a:solidFill>
                <a:latin typeface="Arial Black"/>
              </a:rPr>
              <a:t>IDENTIFY</a:t>
            </a:r>
          </a:p>
          <a:p>
            <a:pPr algn="ctr">
              <a:spcAft>
                <a:spcPts val="0"/>
              </a:spcAft>
            </a:pPr>
            <a:r>
              <a:rPr sz="850" b="0" i="0">
                <a:solidFill>
                  <a:srgbClr val="334155"/>
                </a:solidFill>
                <a:latin typeface="Arial"/>
              </a:rPr>
              <a:t>We measure pH, TDS, cloudiness and temperature of the raw water</a:t>
            </a:r>
          </a:p>
        </p:txBody>
      </p:sp>
      <p:cxnSp>
        <p:nvCxnSpPr>
          <p:cNvPr id="29" name="Connector 28"/>
          <p:cNvCxnSpPr/>
          <p:nvPr/>
        </p:nvCxnSpPr>
        <p:spPr>
          <a:xfrm>
            <a:off x="4088282" y="3268980"/>
            <a:ext cx="217627" cy="0"/>
          </a:xfrm>
          <a:prstGeom prst="line">
            <a:avLst/>
          </a:prstGeom>
          <a:ln w="19050">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333341" y="2788920"/>
            <a:ext cx="1627632" cy="960120"/>
          </a:xfrm>
          <a:prstGeom prst="roundRect">
            <a:avLst>
              <a:gd name="adj" fmla="val 571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300"/>
              </a:spcAft>
            </a:pPr>
            <a:r>
              <a:rPr sz="1050" b="1" i="0">
                <a:solidFill>
                  <a:srgbClr val="059668"/>
                </a:solidFill>
                <a:latin typeface="Arial Black"/>
              </a:rPr>
              <a:t>DECIDE</a:t>
            </a:r>
          </a:p>
          <a:p>
            <a:pPr algn="ctr">
              <a:spcAft>
                <a:spcPts val="0"/>
              </a:spcAft>
            </a:pPr>
            <a:r>
              <a:rPr sz="850" b="0" i="0">
                <a:solidFill>
                  <a:srgbClr val="334155"/>
                </a:solidFill>
                <a:latin typeface="Arial"/>
              </a:rPr>
              <a:t>The controller checks the readings and picks the flow speed and UV dose</a:t>
            </a:r>
          </a:p>
        </p:txBody>
      </p:sp>
      <p:cxnSp>
        <p:nvCxnSpPr>
          <p:cNvPr id="31" name="Connector 30"/>
          <p:cNvCxnSpPr/>
          <p:nvPr/>
        </p:nvCxnSpPr>
        <p:spPr>
          <a:xfrm>
            <a:off x="5988405" y="3268980"/>
            <a:ext cx="217627" cy="0"/>
          </a:xfrm>
          <a:prstGeom prst="line">
            <a:avLst/>
          </a:prstGeom>
          <a:ln w="19050">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233464" y="2788920"/>
            <a:ext cx="1627632" cy="960120"/>
          </a:xfrm>
          <a:prstGeom prst="roundRect">
            <a:avLst>
              <a:gd name="adj" fmla="val 571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300"/>
              </a:spcAft>
            </a:pPr>
            <a:r>
              <a:rPr sz="1050" b="1" i="0">
                <a:solidFill>
                  <a:srgbClr val="059668"/>
                </a:solidFill>
                <a:latin typeface="Arial Black"/>
              </a:rPr>
              <a:t>PURIFY</a:t>
            </a:r>
          </a:p>
          <a:p>
            <a:pPr algn="ctr">
              <a:spcAft>
                <a:spcPts val="0"/>
              </a:spcAft>
            </a:pPr>
            <a:r>
              <a:rPr sz="850" b="0" i="0">
                <a:solidFill>
                  <a:srgbClr val="334155"/>
                </a:solidFill>
                <a:latin typeface="Arial"/>
              </a:rPr>
              <a:t>The pump pushes water through carbon, a fine membrane and UV light</a:t>
            </a:r>
          </a:p>
        </p:txBody>
      </p:sp>
      <p:cxnSp>
        <p:nvCxnSpPr>
          <p:cNvPr id="33" name="Connector 32"/>
          <p:cNvCxnSpPr/>
          <p:nvPr/>
        </p:nvCxnSpPr>
        <p:spPr>
          <a:xfrm>
            <a:off x="7888528" y="3268980"/>
            <a:ext cx="217628" cy="0"/>
          </a:xfrm>
          <a:prstGeom prst="line">
            <a:avLst/>
          </a:prstGeom>
          <a:ln w="19050">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133588" y="2788920"/>
            <a:ext cx="1627632" cy="960120"/>
          </a:xfrm>
          <a:prstGeom prst="roundRect">
            <a:avLst>
              <a:gd name="adj" fmla="val 571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300"/>
              </a:spcAft>
            </a:pPr>
            <a:r>
              <a:rPr sz="1050" b="1" i="0">
                <a:solidFill>
                  <a:srgbClr val="059668"/>
                </a:solidFill>
                <a:latin typeface="Arial Black"/>
              </a:rPr>
              <a:t>VERIFY</a:t>
            </a:r>
          </a:p>
          <a:p>
            <a:pPr algn="ctr">
              <a:spcAft>
                <a:spcPts val="0"/>
              </a:spcAft>
            </a:pPr>
            <a:r>
              <a:rPr sz="850" b="0" i="0">
                <a:solidFill>
                  <a:srgbClr val="334155"/>
                </a:solidFill>
                <a:latin typeface="Arial"/>
              </a:rPr>
              <a:t>Treated water goes back through the same test cell</a:t>
            </a:r>
          </a:p>
        </p:txBody>
      </p:sp>
      <p:cxnSp>
        <p:nvCxnSpPr>
          <p:cNvPr id="35" name="Connector 34"/>
          <p:cNvCxnSpPr/>
          <p:nvPr/>
        </p:nvCxnSpPr>
        <p:spPr>
          <a:xfrm>
            <a:off x="9788651" y="3268980"/>
            <a:ext cx="217628" cy="0"/>
          </a:xfrm>
          <a:prstGeom prst="line">
            <a:avLst/>
          </a:prstGeom>
          <a:ln w="19050">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033711" y="2788920"/>
            <a:ext cx="1627632" cy="960120"/>
          </a:xfrm>
          <a:prstGeom prst="roundRect">
            <a:avLst>
              <a:gd name="adj" fmla="val 571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300"/>
              </a:spcAft>
            </a:pPr>
            <a:r>
              <a:rPr sz="1050" b="1" i="0">
                <a:solidFill>
                  <a:srgbClr val="059668"/>
                </a:solidFill>
                <a:latin typeface="Arial Black"/>
              </a:rPr>
              <a:t>COMPARE</a:t>
            </a:r>
          </a:p>
          <a:p>
            <a:pPr algn="ctr">
              <a:spcAft>
                <a:spcPts val="0"/>
              </a:spcAft>
            </a:pPr>
            <a:r>
              <a:rPr sz="850" b="0" i="0">
                <a:solidFill>
                  <a:srgbClr val="334155"/>
                </a:solidFill>
                <a:latin typeface="Arial"/>
              </a:rPr>
              <a:t>The capsule pours the water only if it really improved</a:t>
            </a:r>
          </a:p>
        </p:txBody>
      </p:sp>
      <p:cxnSp>
        <p:nvCxnSpPr>
          <p:cNvPr id="37" name="Connector 36"/>
          <p:cNvCxnSpPr/>
          <p:nvPr/>
        </p:nvCxnSpPr>
        <p:spPr>
          <a:xfrm>
            <a:off x="10847527" y="3749039"/>
            <a:ext cx="0" cy="320041"/>
          </a:xfrm>
          <a:prstGeom prst="line">
            <a:avLst/>
          </a:prstGeom>
          <a:ln w="19050">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172200" y="4069080"/>
            <a:ext cx="5486400" cy="457200"/>
          </a:xfrm>
          <a:prstGeom prst="roundRect">
            <a:avLst>
              <a:gd name="adj" fmla="val 12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0F172A"/>
                </a:solidFill>
                <a:latin typeface="Arial"/>
              </a:rPr>
              <a:t>On the screen and in the app:</a:t>
            </a:r>
            <a:r>
              <a:rPr sz="900" b="0" i="0">
                <a:solidFill>
                  <a:srgbClr val="334155"/>
                </a:solidFill>
                <a:latin typeface="Arial"/>
              </a:rPr>
              <a:t> what the water was like, what we did, and what it is like now</a:t>
            </a:r>
          </a:p>
        </p:txBody>
      </p:sp>
      <p:cxnSp>
        <p:nvCxnSpPr>
          <p:cNvPr id="39" name="Connector 38"/>
          <p:cNvCxnSpPr/>
          <p:nvPr/>
        </p:nvCxnSpPr>
        <p:spPr>
          <a:xfrm>
            <a:off x="7315200" y="4526280"/>
            <a:ext cx="0" cy="246888"/>
          </a:xfrm>
          <a:prstGeom prst="line">
            <a:avLst/>
          </a:prstGeom>
          <a:ln w="19050">
            <a:solidFill>
              <a:srgbClr val="0596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15600" y="4526280"/>
            <a:ext cx="0" cy="246888"/>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172200" y="4773168"/>
            <a:ext cx="2651760" cy="749808"/>
          </a:xfrm>
          <a:prstGeom prst="roundRect">
            <a:avLst>
              <a:gd name="adj" fmla="val 7317"/>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50" b="1" i="0">
                <a:solidFill>
                  <a:srgbClr val="059668"/>
                </a:solidFill>
                <a:latin typeface="Arial"/>
              </a:rPr>
              <a:t>It got better</a:t>
            </a:r>
          </a:p>
          <a:p>
            <a:pPr algn="ctr">
              <a:spcAft>
                <a:spcPts val="0"/>
              </a:spcAft>
            </a:pPr>
            <a:r>
              <a:rPr sz="850" b="0" i="0">
                <a:solidFill>
                  <a:srgbClr val="334155"/>
                </a:solidFill>
                <a:latin typeface="Arial"/>
              </a:rPr>
              <a:t>the water is poured, and we only claim what we measured</a:t>
            </a:r>
          </a:p>
        </p:txBody>
      </p:sp>
      <p:sp>
        <p:nvSpPr>
          <p:cNvPr id="42" name="Rounded Rectangle 41"/>
          <p:cNvSpPr/>
          <p:nvPr/>
        </p:nvSpPr>
        <p:spPr>
          <a:xfrm>
            <a:off x="9006840" y="4773168"/>
            <a:ext cx="2651760" cy="749808"/>
          </a:xfrm>
          <a:prstGeom prst="roundRect">
            <a:avLst>
              <a:gd name="adj" fmla="val 7317"/>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50" b="1" i="0">
                <a:solidFill>
                  <a:srgbClr val="B45309"/>
                </a:solidFill>
                <a:latin typeface="Arial"/>
              </a:rPr>
              <a:t>It didn’t</a:t>
            </a:r>
          </a:p>
          <a:p>
            <a:pPr algn="ctr">
              <a:spcAft>
                <a:spcPts val="0"/>
              </a:spcAft>
            </a:pPr>
            <a:r>
              <a:rPr sz="850" b="0" i="0">
                <a:solidFill>
                  <a:srgbClr val="334155"/>
                </a:solidFill>
                <a:latin typeface="Arial"/>
              </a:rPr>
              <a:t>we stop and suggest a second run, a new cartridge, or a lab test</a:t>
            </a:r>
          </a:p>
        </p:txBody>
      </p:sp>
      <p:sp>
        <p:nvSpPr>
          <p:cNvPr id="43" name="Rounded Rectangle 42"/>
          <p:cNvSpPr/>
          <p:nvPr/>
        </p:nvSpPr>
        <p:spPr>
          <a:xfrm>
            <a:off x="533095" y="4069080"/>
            <a:ext cx="5394960" cy="1463040"/>
          </a:xfrm>
          <a:prstGeom prst="roundRect">
            <a:avLst>
              <a:gd name="adj" fmla="val 5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image.png"/>
          <p:cNvPicPr>
            <a:picLocks noChangeAspect="1"/>
          </p:cNvPicPr>
          <p:nvPr/>
        </p:nvPicPr>
        <p:blipFill>
          <a:blip r:embed="rId5"/>
          <a:stretch>
            <a:fillRect/>
          </a:stretch>
        </p:blipFill>
        <p:spPr>
          <a:xfrm>
            <a:off x="688543" y="4224528"/>
            <a:ext cx="173736" cy="173736"/>
          </a:xfrm>
          <a:prstGeom prst="rect">
            <a:avLst/>
          </a:prstGeom>
        </p:spPr>
      </p:pic>
      <p:sp>
        <p:nvSpPr>
          <p:cNvPr id="45" name="TextBox 44"/>
          <p:cNvSpPr txBox="1"/>
          <p:nvPr/>
        </p:nvSpPr>
        <p:spPr>
          <a:xfrm>
            <a:off x="944575" y="4187952"/>
            <a:ext cx="4846320"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What changes for the person using it</a:t>
            </a:r>
          </a:p>
        </p:txBody>
      </p:sp>
      <p:sp>
        <p:nvSpPr>
          <p:cNvPr id="46" name="TextBox 45"/>
          <p:cNvSpPr txBox="1"/>
          <p:nvPr/>
        </p:nvSpPr>
        <p:spPr>
          <a:xfrm>
            <a:off x="713232" y="4434840"/>
            <a:ext cx="5074920" cy="1051560"/>
          </a:xfrm>
          <a:prstGeom prst="rect">
            <a:avLst/>
          </a:prstGeom>
          <a:noFill/>
        </p:spPr>
        <p:txBody>
          <a:bodyPr wrap="square" lIns="0" rIns="0" tIns="0" bIns="0" anchor="t"/>
          <a:lstStyle/>
          <a:p>
            <a:pPr algn="l" marL="128016" indent="-128016">
              <a:spcAft>
                <a:spcPts val="400"/>
              </a:spcAft>
              <a:buClr>
                <a:srgbClr val="059668"/>
              </a:buClr>
              <a:buSzPct val="100000"/>
              <a:buFont typeface="Arial"/>
              <a:buChar char="▪"/>
            </a:pPr>
            <a:r>
              <a:rPr sz="900" b="0" i="0">
                <a:solidFill>
                  <a:srgbClr val="334155"/>
                </a:solidFill>
                <a:latin typeface="Arial"/>
              </a:rPr>
              <a:t>They can test and clean water wherever they are, with something that fits in a pocket.</a:t>
            </a:r>
          </a:p>
          <a:p>
            <a:pPr algn="l" marL="128016" indent="-128016">
              <a:spcAft>
                <a:spcPts val="400"/>
              </a:spcAft>
              <a:buClr>
                <a:srgbClr val="059668"/>
              </a:buClr>
              <a:buSzPct val="100000"/>
              <a:buFont typeface="Arial"/>
              <a:buChar char="▪"/>
            </a:pPr>
            <a:r>
              <a:rPr sz="900" b="0" i="0">
                <a:solidFill>
                  <a:srgbClr val="334155"/>
                </a:solidFill>
                <a:latin typeface="Arial"/>
              </a:rPr>
              <a:t>They see what was in the water, what the capsule did about it, and how much it changed.</a:t>
            </a:r>
          </a:p>
          <a:p>
            <a:pPr algn="l" marL="128016" indent="-128016">
              <a:spcAft>
                <a:spcPts val="400"/>
              </a:spcAft>
              <a:buClr>
                <a:srgbClr val="059668"/>
              </a:buClr>
              <a:buSzPct val="100000"/>
              <a:buFont typeface="Arial"/>
              <a:buChar char="▪"/>
            </a:pPr>
            <a:r>
              <a:rPr sz="900" b="0" i="0">
                <a:solidFill>
                  <a:srgbClr val="334155"/>
                </a:solidFill>
                <a:latin typeface="Arial"/>
              </a:rPr>
              <a:t>They get a warning before drinking if the water did not improve, or if we cannot test for something.</a:t>
            </a:r>
          </a:p>
        </p:txBody>
      </p:sp>
      <p:pic>
        <p:nvPicPr>
          <p:cNvPr id="47" name="Note bar" descr="image.png"/>
          <p:cNvPicPr>
            <a:picLocks noChangeAspect="1"/>
          </p:cNvPicPr>
          <p:nvPr/>
        </p:nvPicPr>
        <p:blipFill>
          <a:blip r:embed="rId6"/>
          <a:stretch>
            <a:fillRect/>
          </a:stretch>
        </p:blipFill>
        <p:spPr>
          <a:xfrm>
            <a:off x="533095" y="5715000"/>
            <a:ext cx="11125504" cy="363016"/>
          </a:xfrm>
          <a:prstGeom prst="rect">
            <a:avLst/>
          </a:prstGeom>
        </p:spPr>
      </p:pic>
      <p:sp>
        <p:nvSpPr>
          <p:cNvPr id="48"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From our Stage 1 idea:</a:t>
            </a:r>
            <a:r>
              <a:rPr sz="850" b="0" i="0">
                <a:solidFill>
                  <a:srgbClr val="334155"/>
                </a:solidFill>
                <a:latin typeface="Arial"/>
              </a:rPr>
              <a:t> people should not have to simply trust a purifier. They should be able to see what it actually did to their water.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User Journey: How We Will Judge It</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graphicFrame>
        <p:nvGraphicFramePr>
          <p:cNvPr id="7" name="Table 6"/>
          <p:cNvGraphicFramePr>
            <a:graphicFrameLocks noGrp="1"/>
          </p:cNvGraphicFramePr>
          <p:nvPr/>
        </p:nvGraphicFramePr>
        <p:xfrm>
          <a:off x="533095" y="960120"/>
          <a:ext cx="7086598" cy="4114800"/>
        </p:xfrm>
        <a:graphic>
          <a:graphicData uri="http://schemas.openxmlformats.org/drawingml/2006/table">
            <a:tbl>
              <a:tblPr firstRow="0" bandRow="0">
                <a:tableStyleId>{2D5ABB26-0587-4C30-8999-92F81FD0307C}</a:tableStyleId>
              </a:tblPr>
              <a:tblGrid>
                <a:gridCol w="1486699"/>
                <a:gridCol w="2428275"/>
                <a:gridCol w="2329162"/>
                <a:gridCol w="842462"/>
              </a:tblGrid>
              <a:tr h="457200">
                <a:tc>
                  <a:txBody>
                    <a:bodyPr wrap="square"/>
                    <a:lstStyle/>
                    <a:p>
                      <a:pPr algn="l"/>
                      <a:r>
                        <a:rPr sz="850" b="1" i="0">
                          <a:solidFill>
                            <a:srgbClr val="0F172A"/>
                          </a:solidFill>
                          <a:latin typeface="Arial"/>
                        </a:rPr>
                        <a:t>What we check</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850" b="1" i="0">
                          <a:solidFill>
                            <a:srgbClr val="0F172A"/>
                          </a:solidFill>
                          <a:latin typeface="Arial"/>
                        </a:rPr>
                        <a:t>How we test it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850" b="1" i="0">
                          <a:solidFill>
                            <a:srgbClr val="0F172A"/>
                          </a:solidFill>
                          <a:latin typeface="Arial"/>
                        </a:rPr>
                        <a:t>Our target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850" b="1" i="0">
                          <a:solidFill>
                            <a:srgbClr val="0F172A"/>
                          </a:solidFill>
                          <a:latin typeface="Arial"/>
                        </a:rPr>
                        <a:t>Status</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r>
              <a:tr h="457200">
                <a:tc>
                  <a:txBody>
                    <a:bodyPr wrap="square"/>
                    <a:lstStyle/>
                    <a:p>
                      <a:pPr algn="l"/>
                      <a:r>
                        <a:rPr sz="850" b="1" i="0">
                          <a:solidFill>
                            <a:srgbClr val="1E293B"/>
                          </a:solidFill>
                          <a:latin typeface="Arial"/>
                        </a:rPr>
                        <a:t>Every run has before and after readings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Go through the log for each run</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Both readings saved for every single run</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To be tested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457200">
                <a:tc>
                  <a:txBody>
                    <a:bodyPr wrap="square"/>
                    <a:lstStyle/>
                    <a:p>
                      <a:pPr algn="l"/>
                      <a:r>
                        <a:rPr sz="850" b="1" i="0">
                          <a:solidFill>
                            <a:srgbClr val="1E293B"/>
                          </a:solidFill>
                          <a:latin typeface="Arial"/>
                        </a:rPr>
                        <a:t>Sensors give the same answer twice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10 readings in pH 4 and pH 7 buffer and a TDS reference liquid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Within 0.1 pH and 10% for TDS (the makers’ stated accuracy)</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To be tested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457200">
                <a:tc>
                  <a:txBody>
                    <a:bodyPr wrap="square"/>
                    <a:lstStyle/>
                    <a:p>
                      <a:pPr algn="l"/>
                      <a:r>
                        <a:rPr sz="850" b="1" i="0">
                          <a:solidFill>
                            <a:srgbClr val="1E293B"/>
                          </a:solidFill>
                          <a:latin typeface="Arial"/>
                        </a:rPr>
                        <a:t>Sensors settle quickly</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Move the probes between reference liquids and time it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A steady reading within about a minute (mini pH probe still to be checked)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To be tested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457200">
                <a:tc>
                  <a:txBody>
                    <a:bodyPr wrap="square"/>
                    <a:lstStyle/>
                    <a:p>
                      <a:pPr algn="l"/>
                      <a:r>
                        <a:rPr sz="850" b="1" i="0">
                          <a:solidFill>
                            <a:srgbClr val="1E293B"/>
                          </a:solidFill>
                          <a:latin typeface="Arial"/>
                        </a:rPr>
                        <a:t>Old water doesn’t spoil the second test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Run very salty water, flush with 15 mL of clean water, then compare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Less than 2% of the old reading left over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To be tested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457200">
                <a:tc>
                  <a:txBody>
                    <a:bodyPr wrap="square"/>
                    <a:lstStyle/>
                    <a:p>
                      <a:pPr algn="l"/>
                      <a:r>
                        <a:rPr sz="850" b="1" i="0">
                          <a:solidFill>
                            <a:srgbClr val="1E293B"/>
                          </a:solidFill>
                          <a:latin typeface="Arial"/>
                        </a:rPr>
                        <a:t>One cycle doesn’t take too long</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Time a 250 mL run from start to finish</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Three minutes or less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To be tested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457200">
                <a:tc>
                  <a:txBody>
                    <a:bodyPr wrap="square"/>
                    <a:lstStyle/>
                    <a:p>
                      <a:pPr algn="l"/>
                      <a:r>
                        <a:rPr sz="850" b="1" i="0">
                          <a:solidFill>
                            <a:srgbClr val="1E293B"/>
                          </a:solidFill>
                          <a:latin typeface="Arial"/>
                        </a:rPr>
                        <a:t>How much the water improves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Before and after readings, 3 or more runs per water type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We report what we see; we assume nothing</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To be tested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457200">
                <a:tc>
                  <a:txBody>
                    <a:bodyPr wrap="square"/>
                    <a:lstStyle/>
                    <a:p>
                      <a:pPr algn="l"/>
                      <a:r>
                        <a:rPr sz="850" b="1" i="0">
                          <a:solidFill>
                            <a:srgbClr val="1E293B"/>
                          </a:solidFill>
                          <a:latin typeface="Arial"/>
                        </a:rPr>
                        <a:t>How long the battery lasts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Run cycles back to back from a full charge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At least 30 runs (our estimate is about 50)</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50" b="0" i="0">
                          <a:solidFill>
                            <a:srgbClr val="334155"/>
                          </a:solidFill>
                          <a:latin typeface="Arial"/>
                        </a:rPr>
                        <a:t>To be tested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457200">
                <a:tc>
                  <a:txBody>
                    <a:bodyPr wrap="square"/>
                    <a:lstStyle/>
                    <a:p>
                      <a:pPr algn="l"/>
                      <a:r>
                        <a:rPr sz="850" b="1" i="0">
                          <a:solidFill>
                            <a:srgbClr val="1E293B"/>
                          </a:solidFill>
                          <a:latin typeface="Arial"/>
                        </a:rPr>
                        <a:t>Faults are caught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Run it dry, block the cartridge, unplug a sensor, wet the electronics area</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Everything switches off within 2 seconds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50" b="0" i="0">
                          <a:solidFill>
                            <a:srgbClr val="334155"/>
                          </a:solidFill>
                          <a:latin typeface="Arial"/>
                        </a:rPr>
                        <a:t>To be tested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bl>
          </a:graphicData>
        </a:graphic>
      </p:graphicFrame>
      <p:sp>
        <p:nvSpPr>
          <p:cNvPr id="8" name="Rounded Rectangle 7"/>
          <p:cNvSpPr/>
          <p:nvPr/>
        </p:nvSpPr>
        <p:spPr>
          <a:xfrm>
            <a:off x="7818120" y="960120"/>
            <a:ext cx="3840480" cy="3063240"/>
          </a:xfrm>
          <a:prstGeom prst="roundRect">
            <a:avLst>
              <a:gd name="adj" fmla="val 2388"/>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mage.png"/>
          <p:cNvPicPr>
            <a:picLocks noChangeAspect="1"/>
          </p:cNvPicPr>
          <p:nvPr/>
        </p:nvPicPr>
        <p:blipFill>
          <a:blip r:embed="rId5"/>
          <a:stretch>
            <a:fillRect/>
          </a:stretch>
        </p:blipFill>
        <p:spPr>
          <a:xfrm>
            <a:off x="7973568" y="1115568"/>
            <a:ext cx="173736" cy="173736"/>
          </a:xfrm>
          <a:prstGeom prst="rect">
            <a:avLst/>
          </a:prstGeom>
        </p:spPr>
      </p:pic>
      <p:sp>
        <p:nvSpPr>
          <p:cNvPr id="10" name="TextBox 9"/>
          <p:cNvSpPr txBox="1"/>
          <p:nvPr/>
        </p:nvSpPr>
        <p:spPr>
          <a:xfrm>
            <a:off x="8229600" y="1078992"/>
            <a:ext cx="3291840"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What we write down for every run</a:t>
            </a:r>
          </a:p>
        </p:txBody>
      </p:sp>
      <p:sp>
        <p:nvSpPr>
          <p:cNvPr id="11" name="TextBox 10"/>
          <p:cNvSpPr txBox="1"/>
          <p:nvPr/>
        </p:nvSpPr>
        <p:spPr>
          <a:xfrm>
            <a:off x="7982712" y="1325880"/>
            <a:ext cx="3566160" cy="2651760"/>
          </a:xfrm>
          <a:prstGeom prst="rect">
            <a:avLst/>
          </a:prstGeom>
          <a:noFill/>
        </p:spPr>
        <p:txBody>
          <a:bodyPr wrap="square" lIns="0" rIns="0" tIns="0" bIns="0" anchor="t"/>
          <a:lstStyle/>
          <a:p>
            <a:pPr algn="l" marL="128016" indent="-128016">
              <a:spcAft>
                <a:spcPts val="400"/>
              </a:spcAft>
              <a:buClr>
                <a:srgbClr val="059668"/>
              </a:buClr>
              <a:buSzPct val="100000"/>
              <a:buFont typeface="Arial"/>
              <a:buChar char="▪"/>
            </a:pPr>
            <a:r>
              <a:rPr sz="900" b="1" i="0">
                <a:solidFill>
                  <a:srgbClr val="0F172A"/>
                </a:solidFill>
                <a:latin typeface="Arial"/>
              </a:rPr>
              <a:t>Sample name</a:t>
            </a:r>
            <a:r>
              <a:rPr sz="900" b="0" i="0">
                <a:solidFill>
                  <a:srgbClr val="334155"/>
                </a:solidFill>
                <a:latin typeface="Arial"/>
              </a:rPr>
              <a:t> and where it came from</a:t>
            </a:r>
          </a:p>
          <a:p>
            <a:pPr algn="l" marL="128016" indent="-128016">
              <a:spcAft>
                <a:spcPts val="400"/>
              </a:spcAft>
              <a:buClr>
                <a:srgbClr val="059668"/>
              </a:buClr>
              <a:buSzPct val="100000"/>
              <a:buFont typeface="Arial"/>
              <a:buChar char="▪"/>
            </a:pPr>
            <a:r>
              <a:rPr sz="900" b="1" i="0">
                <a:solidFill>
                  <a:srgbClr val="0F172A"/>
                </a:solidFill>
                <a:latin typeface="Arial"/>
              </a:rPr>
              <a:t>First readings:</a:t>
            </a:r>
            <a:r>
              <a:rPr sz="900" b="0" i="0">
                <a:solidFill>
                  <a:srgbClr val="334155"/>
                </a:solidFill>
                <a:latin typeface="Arial"/>
              </a:rPr>
              <a:t> pH, TDS, cloudiness, temperature</a:t>
            </a:r>
          </a:p>
          <a:p>
            <a:pPr algn="l" marL="128016" indent="-128016">
              <a:spcAft>
                <a:spcPts val="400"/>
              </a:spcAft>
              <a:buClr>
                <a:srgbClr val="059668"/>
              </a:buClr>
              <a:buSzPct val="100000"/>
              <a:buFont typeface="Arial"/>
              <a:buChar char="▪"/>
            </a:pPr>
            <a:r>
              <a:rPr sz="900" b="1" i="0">
                <a:solidFill>
                  <a:srgbClr val="0F172A"/>
                </a:solidFill>
                <a:latin typeface="Arial"/>
              </a:rPr>
              <a:t>What the capsule chose</a:t>
            </a:r>
            <a:r>
              <a:rPr sz="900" b="0" i="0">
                <a:solidFill>
                  <a:srgbClr val="334155"/>
                </a:solidFill>
                <a:latin typeface="Arial"/>
              </a:rPr>
              <a:t> to do, and why</a:t>
            </a:r>
          </a:p>
          <a:p>
            <a:pPr algn="l" marL="128016" indent="-128016">
              <a:spcAft>
                <a:spcPts val="400"/>
              </a:spcAft>
              <a:buClr>
                <a:srgbClr val="059668"/>
              </a:buClr>
              <a:buSzPct val="100000"/>
              <a:buFont typeface="Arial"/>
              <a:buChar char="▪"/>
            </a:pPr>
            <a:r>
              <a:rPr sz="900" b="1" i="0">
                <a:solidFill>
                  <a:srgbClr val="0F172A"/>
                </a:solidFill>
                <a:latin typeface="Arial"/>
              </a:rPr>
              <a:t>How long it ran</a:t>
            </a:r>
            <a:r>
              <a:rPr sz="900" b="0" i="0">
                <a:solidFill>
                  <a:srgbClr val="334155"/>
                </a:solidFill>
                <a:latin typeface="Arial"/>
              </a:rPr>
              <a:t>, how much water, how much battery</a:t>
            </a:r>
          </a:p>
          <a:p>
            <a:pPr algn="l" marL="128016" indent="-128016">
              <a:spcAft>
                <a:spcPts val="400"/>
              </a:spcAft>
              <a:buClr>
                <a:srgbClr val="059668"/>
              </a:buClr>
              <a:buSzPct val="100000"/>
              <a:buFont typeface="Arial"/>
              <a:buChar char="▪"/>
            </a:pPr>
            <a:r>
              <a:rPr sz="900" b="1" i="0">
                <a:solidFill>
                  <a:srgbClr val="0F172A"/>
                </a:solidFill>
                <a:latin typeface="Arial"/>
              </a:rPr>
              <a:t>Final readings</a:t>
            </a:r>
            <a:r>
              <a:rPr sz="900" b="0" i="0">
                <a:solidFill>
                  <a:srgbClr val="334155"/>
                </a:solidFill>
                <a:latin typeface="Arial"/>
              </a:rPr>
              <a:t> after treatment</a:t>
            </a:r>
          </a:p>
          <a:p>
            <a:pPr algn="l" marL="128016" indent="-128016">
              <a:spcAft>
                <a:spcPts val="400"/>
              </a:spcAft>
              <a:buClr>
                <a:srgbClr val="059668"/>
              </a:buClr>
              <a:buSzPct val="100000"/>
              <a:buFont typeface="Arial"/>
              <a:buChar char="▪"/>
            </a:pPr>
            <a:r>
              <a:rPr sz="900" b="1" i="0">
                <a:solidFill>
                  <a:srgbClr val="0F172A"/>
                </a:solidFill>
                <a:latin typeface="Arial"/>
              </a:rPr>
              <a:t>How consistent</a:t>
            </a:r>
            <a:r>
              <a:rPr sz="900" b="0" i="0">
                <a:solidFill>
                  <a:srgbClr val="334155"/>
                </a:solidFill>
                <a:latin typeface="Arial"/>
              </a:rPr>
              <a:t> the repeat readings were</a:t>
            </a:r>
          </a:p>
          <a:p>
            <a:pPr algn="l" marL="128016" indent="-128016">
              <a:spcAft>
                <a:spcPts val="400"/>
              </a:spcAft>
              <a:buClr>
                <a:srgbClr val="059668"/>
              </a:buClr>
              <a:buSzPct val="100000"/>
              <a:buFont typeface="Arial"/>
              <a:buChar char="▪"/>
            </a:pPr>
            <a:r>
              <a:rPr sz="900" b="1" i="0">
                <a:solidFill>
                  <a:srgbClr val="0F172A"/>
                </a:solidFill>
                <a:latin typeface="Arial"/>
              </a:rPr>
              <a:t>Anything that went wrong</a:t>
            </a:r>
          </a:p>
        </p:txBody>
      </p:sp>
      <p:sp>
        <p:nvSpPr>
          <p:cNvPr id="12" name="Rounded Rectangle 11"/>
          <p:cNvSpPr/>
          <p:nvPr/>
        </p:nvSpPr>
        <p:spPr>
          <a:xfrm>
            <a:off x="7818120" y="4160520"/>
            <a:ext cx="3840480" cy="1399032"/>
          </a:xfrm>
          <a:prstGeom prst="roundRect">
            <a:avLst>
              <a:gd name="adj" fmla="val 5228"/>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mage.png"/>
          <p:cNvPicPr>
            <a:picLocks noChangeAspect="1"/>
          </p:cNvPicPr>
          <p:nvPr/>
        </p:nvPicPr>
        <p:blipFill>
          <a:blip r:embed="rId6"/>
          <a:stretch>
            <a:fillRect/>
          </a:stretch>
        </p:blipFill>
        <p:spPr>
          <a:xfrm>
            <a:off x="7973568" y="4315968"/>
            <a:ext cx="173736" cy="173736"/>
          </a:xfrm>
          <a:prstGeom prst="rect">
            <a:avLst/>
          </a:prstGeom>
        </p:spPr>
      </p:pic>
      <p:sp>
        <p:nvSpPr>
          <p:cNvPr id="14" name="TextBox 13"/>
          <p:cNvSpPr txBox="1"/>
          <p:nvPr/>
        </p:nvSpPr>
        <p:spPr>
          <a:xfrm>
            <a:off x="8229600" y="4279392"/>
            <a:ext cx="3291840"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What our sensors can’t tell you</a:t>
            </a:r>
          </a:p>
        </p:txBody>
      </p:sp>
      <p:sp>
        <p:nvSpPr>
          <p:cNvPr id="15" name="TextBox 14"/>
          <p:cNvSpPr txBox="1"/>
          <p:nvPr/>
        </p:nvSpPr>
        <p:spPr>
          <a:xfrm>
            <a:off x="7982712" y="4507992"/>
            <a:ext cx="3566160" cy="1005840"/>
          </a:xfrm>
          <a:prstGeom prst="rect">
            <a:avLst/>
          </a:prstGeom>
          <a:noFill/>
        </p:spPr>
        <p:txBody>
          <a:bodyPr wrap="square" lIns="0" rIns="0" tIns="0" bIns="0" anchor="t"/>
          <a:lstStyle/>
          <a:p>
            <a:pPr algn="l">
              <a:spcAft>
                <a:spcPts val="300"/>
              </a:spcAft>
              <a:buNone/>
            </a:pPr>
            <a:r>
              <a:rPr sz="850" b="0" i="0">
                <a:solidFill>
                  <a:srgbClr val="334155"/>
                </a:solidFill>
                <a:latin typeface="Arial"/>
              </a:rPr>
              <a:t>pH, TDS and cloudiness can’t prove water is free of germs or harmful chemicals. We only report what we measure, and we suggest a lab test when that matters.</a:t>
            </a:r>
          </a:p>
        </p:txBody>
      </p:sp>
      <p:pic>
        <p:nvPicPr>
          <p:cNvPr id="16" name="Note bar" descr="image.png"/>
          <p:cNvPicPr>
            <a:picLocks noChangeAspect="1"/>
          </p:cNvPicPr>
          <p:nvPr/>
        </p:nvPicPr>
        <p:blipFill>
          <a:blip r:embed="rId7"/>
          <a:stretch>
            <a:fillRect/>
          </a:stretch>
        </p:blipFill>
        <p:spPr>
          <a:xfrm>
            <a:off x="533095" y="5715000"/>
            <a:ext cx="11125504" cy="363016"/>
          </a:xfrm>
          <a:prstGeom prst="rect">
            <a:avLst/>
          </a:prstGeom>
        </p:spPr>
      </p:pic>
      <p:sp>
        <p:nvSpPr>
          <p:cNvPr id="17"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Please note:</a:t>
            </a:r>
            <a:r>
              <a:rPr sz="850" b="0" i="0">
                <a:solidFill>
                  <a:srgbClr val="334155"/>
                </a:solidFill>
                <a:latin typeface="Arial"/>
              </a:rPr>
              <a:t> every number on this slide is a target we will test against. None of them are results yet.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System Architecture: How the Capsule Works</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cxnSp>
        <p:nvCxnSpPr>
          <p:cNvPr id="7" name="Connector 6"/>
          <p:cNvCxnSpPr/>
          <p:nvPr/>
        </p:nvCxnSpPr>
        <p:spPr>
          <a:xfrm>
            <a:off x="7315200" y="841248"/>
            <a:ext cx="256031" cy="0"/>
          </a:xfrm>
          <a:prstGeom prst="line">
            <a:avLst/>
          </a:prstGeom>
          <a:ln w="2222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616952" y="758952"/>
            <a:ext cx="822960" cy="182880"/>
          </a:xfrm>
          <a:prstGeom prst="rect">
            <a:avLst/>
          </a:prstGeom>
          <a:noFill/>
        </p:spPr>
        <p:txBody>
          <a:bodyPr wrap="square" lIns="0" rIns="0" tIns="0" bIns="0" anchor="t"/>
          <a:lstStyle/>
          <a:p>
            <a:pPr algn="l">
              <a:spcAft>
                <a:spcPts val="300"/>
              </a:spcAft>
              <a:buNone/>
            </a:pPr>
            <a:r>
              <a:rPr sz="700" b="0" i="0">
                <a:solidFill>
                  <a:srgbClr val="64748B"/>
                </a:solidFill>
                <a:latin typeface="Arial"/>
              </a:rPr>
              <a:t>Water</a:t>
            </a:r>
          </a:p>
        </p:txBody>
      </p:sp>
      <p:cxnSp>
        <p:nvCxnSpPr>
          <p:cNvPr id="9" name="Connector 8"/>
          <p:cNvCxnSpPr/>
          <p:nvPr/>
        </p:nvCxnSpPr>
        <p:spPr>
          <a:xfrm>
            <a:off x="8412480" y="841248"/>
            <a:ext cx="256031" cy="0"/>
          </a:xfrm>
          <a:prstGeom prst="line">
            <a:avLst/>
          </a:prstGeom>
          <a:ln w="2222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714232" y="758952"/>
            <a:ext cx="822960" cy="182880"/>
          </a:xfrm>
          <a:prstGeom prst="rect">
            <a:avLst/>
          </a:prstGeom>
          <a:noFill/>
        </p:spPr>
        <p:txBody>
          <a:bodyPr wrap="square" lIns="0" rIns="0" tIns="0" bIns="0" anchor="t"/>
          <a:lstStyle/>
          <a:p>
            <a:pPr algn="l">
              <a:spcAft>
                <a:spcPts val="300"/>
              </a:spcAft>
              <a:buNone/>
            </a:pPr>
            <a:r>
              <a:rPr sz="700" b="0" i="0">
                <a:solidFill>
                  <a:srgbClr val="64748B"/>
                </a:solidFill>
                <a:latin typeface="Arial"/>
              </a:rPr>
              <a:t>Sensor data</a:t>
            </a:r>
          </a:p>
        </p:txBody>
      </p:sp>
      <p:cxnSp>
        <p:nvCxnSpPr>
          <p:cNvPr id="11" name="Connector 10"/>
          <p:cNvCxnSpPr/>
          <p:nvPr/>
        </p:nvCxnSpPr>
        <p:spPr>
          <a:xfrm>
            <a:off x="9509760" y="841248"/>
            <a:ext cx="256032" cy="0"/>
          </a:xfrm>
          <a:prstGeom prst="line">
            <a:avLst/>
          </a:prstGeom>
          <a:ln w="2222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811512" y="758952"/>
            <a:ext cx="822960" cy="182880"/>
          </a:xfrm>
          <a:prstGeom prst="rect">
            <a:avLst/>
          </a:prstGeom>
          <a:noFill/>
        </p:spPr>
        <p:txBody>
          <a:bodyPr wrap="square" lIns="0" rIns="0" tIns="0" bIns="0" anchor="t"/>
          <a:lstStyle/>
          <a:p>
            <a:pPr algn="l">
              <a:spcAft>
                <a:spcPts val="300"/>
              </a:spcAft>
              <a:buNone/>
            </a:pPr>
            <a:r>
              <a:rPr sz="700" b="0" i="0">
                <a:solidFill>
                  <a:srgbClr val="64748B"/>
                </a:solidFill>
                <a:latin typeface="Arial"/>
              </a:rPr>
              <a:t>Commands</a:t>
            </a:r>
          </a:p>
        </p:txBody>
      </p:sp>
      <p:sp>
        <p:nvSpPr>
          <p:cNvPr id="13" name="Rounded Rectangle 12"/>
          <p:cNvSpPr/>
          <p:nvPr/>
        </p:nvSpPr>
        <p:spPr>
          <a:xfrm>
            <a:off x="10625328" y="777240"/>
            <a:ext cx="201168" cy="128016"/>
          </a:xfrm>
          <a:prstGeom prst="roundRect">
            <a:avLst>
              <a:gd name="adj" fmla="val 21428"/>
            </a:avLst>
          </a:prstGeom>
          <a:solidFill>
            <a:srgbClr val="EFF6FF"/>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863072" y="758952"/>
            <a:ext cx="822960" cy="182880"/>
          </a:xfrm>
          <a:prstGeom prst="rect">
            <a:avLst/>
          </a:prstGeom>
          <a:noFill/>
        </p:spPr>
        <p:txBody>
          <a:bodyPr wrap="square" lIns="0" rIns="0" tIns="0" bIns="0" anchor="t"/>
          <a:lstStyle/>
          <a:p>
            <a:pPr algn="l">
              <a:spcAft>
                <a:spcPts val="300"/>
              </a:spcAft>
              <a:buNone/>
            </a:pPr>
            <a:r>
              <a:rPr sz="700" b="0" i="0">
                <a:solidFill>
                  <a:srgbClr val="64748B"/>
                </a:solidFill>
                <a:latin typeface="Arial"/>
              </a:rPr>
              <a:t>Moving part</a:t>
            </a:r>
          </a:p>
        </p:txBody>
      </p:sp>
      <p:sp>
        <p:nvSpPr>
          <p:cNvPr id="15" name="Rounded Rectangle 14"/>
          <p:cNvSpPr/>
          <p:nvPr/>
        </p:nvSpPr>
        <p:spPr>
          <a:xfrm>
            <a:off x="533095" y="1005840"/>
            <a:ext cx="1325880" cy="566928"/>
          </a:xfrm>
          <a:prstGeom prst="roundRect">
            <a:avLst>
              <a:gd name="adj" fmla="val 9677"/>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Intake hose</a:t>
            </a:r>
          </a:p>
          <a:p>
            <a:pPr algn="ctr">
              <a:spcAft>
                <a:spcPts val="0"/>
              </a:spcAft>
            </a:pPr>
            <a:r>
              <a:rPr sz="750" b="0" i="0">
                <a:solidFill>
                  <a:srgbClr val="334155"/>
                </a:solidFill>
                <a:latin typeface="Arial"/>
              </a:rPr>
              <a:t>with a 40 µm mesh at the tip</a:t>
            </a:r>
          </a:p>
        </p:txBody>
      </p:sp>
      <p:cxnSp>
        <p:nvCxnSpPr>
          <p:cNvPr id="16" name="Connector 15"/>
          <p:cNvCxnSpPr/>
          <p:nvPr/>
        </p:nvCxnSpPr>
        <p:spPr>
          <a:xfrm>
            <a:off x="1868119" y="1289304"/>
            <a:ext cx="182880" cy="0"/>
          </a:xfrm>
          <a:prstGeom prst="line">
            <a:avLst/>
          </a:prstGeom>
          <a:ln w="2222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060143" y="1005840"/>
            <a:ext cx="1234440" cy="566928"/>
          </a:xfrm>
          <a:prstGeom prst="roundRect">
            <a:avLst>
              <a:gd name="adj" fmla="val 9677"/>
            </a:avLst>
          </a:prstGeom>
          <a:solidFill>
            <a:srgbClr val="EFF6FF"/>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Small pump</a:t>
            </a:r>
          </a:p>
          <a:p>
            <a:pPr algn="ctr">
              <a:spcAft>
                <a:spcPts val="0"/>
              </a:spcAft>
            </a:pPr>
            <a:r>
              <a:rPr sz="750" b="0" i="0">
                <a:solidFill>
                  <a:srgbClr val="334155"/>
                </a:solidFill>
                <a:latin typeface="Arial"/>
              </a:rPr>
              <a:t>runs on 5–6 V</a:t>
            </a:r>
          </a:p>
        </p:txBody>
      </p:sp>
      <p:cxnSp>
        <p:nvCxnSpPr>
          <p:cNvPr id="18" name="Connector 17"/>
          <p:cNvCxnSpPr/>
          <p:nvPr/>
        </p:nvCxnSpPr>
        <p:spPr>
          <a:xfrm>
            <a:off x="3303727" y="1289304"/>
            <a:ext cx="182880" cy="0"/>
          </a:xfrm>
          <a:prstGeom prst="line">
            <a:avLst/>
          </a:prstGeom>
          <a:ln w="2222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495751" y="1005840"/>
            <a:ext cx="1143000" cy="566928"/>
          </a:xfrm>
          <a:prstGeom prst="roundRect">
            <a:avLst>
              <a:gd name="adj" fmla="val 9677"/>
            </a:avLst>
          </a:prstGeom>
          <a:solidFill>
            <a:srgbClr val="EFF6FF"/>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Valve 1</a:t>
            </a:r>
          </a:p>
          <a:p>
            <a:pPr algn="ctr">
              <a:spcAft>
                <a:spcPts val="0"/>
              </a:spcAft>
            </a:pPr>
            <a:r>
              <a:rPr sz="750" b="0" i="0">
                <a:solidFill>
                  <a:srgbClr val="334155"/>
                </a:solidFill>
                <a:latin typeface="Arial"/>
              </a:rPr>
              <a:t>test or treat</a:t>
            </a:r>
          </a:p>
        </p:txBody>
      </p:sp>
      <p:cxnSp>
        <p:nvCxnSpPr>
          <p:cNvPr id="20" name="Connector 19"/>
          <p:cNvCxnSpPr/>
          <p:nvPr/>
        </p:nvCxnSpPr>
        <p:spPr>
          <a:xfrm>
            <a:off x="4647895" y="1289304"/>
            <a:ext cx="182880" cy="0"/>
          </a:xfrm>
          <a:prstGeom prst="line">
            <a:avLst/>
          </a:prstGeom>
          <a:ln w="2222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839919" y="1005840"/>
            <a:ext cx="2194560" cy="566928"/>
          </a:xfrm>
          <a:prstGeom prst="roundRect">
            <a:avLst>
              <a:gd name="adj" fmla="val 9677"/>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Filter cartridge</a:t>
            </a:r>
          </a:p>
          <a:p>
            <a:pPr algn="ctr">
              <a:spcAft>
                <a:spcPts val="0"/>
              </a:spcAft>
            </a:pPr>
            <a:r>
              <a:rPr sz="750" b="0" i="0">
                <a:solidFill>
                  <a:srgbClr val="334155"/>
                </a:solidFill>
                <a:latin typeface="Arial"/>
              </a:rPr>
              <a:t>carbon plus a fine membrane</a:t>
            </a:r>
          </a:p>
        </p:txBody>
      </p:sp>
      <p:cxnSp>
        <p:nvCxnSpPr>
          <p:cNvPr id="22" name="Connector 21"/>
          <p:cNvCxnSpPr/>
          <p:nvPr/>
        </p:nvCxnSpPr>
        <p:spPr>
          <a:xfrm>
            <a:off x="7043623" y="1289304"/>
            <a:ext cx="182880" cy="0"/>
          </a:xfrm>
          <a:prstGeom prst="line">
            <a:avLst/>
          </a:prstGeom>
          <a:ln w="2222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235647" y="1005840"/>
            <a:ext cx="1463040" cy="566928"/>
          </a:xfrm>
          <a:prstGeom prst="roundRect">
            <a:avLst>
              <a:gd name="adj" fmla="val 9677"/>
            </a:avLst>
          </a:prstGeom>
          <a:solidFill>
            <a:srgbClr val="EFF6FF"/>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UV-C light</a:t>
            </a:r>
          </a:p>
          <a:p>
            <a:pPr algn="ctr">
              <a:spcAft>
                <a:spcPts val="0"/>
              </a:spcAft>
            </a:pPr>
            <a:r>
              <a:rPr sz="750" b="0" i="0">
                <a:solidFill>
                  <a:srgbClr val="334155"/>
                </a:solidFill>
                <a:latin typeface="Arial"/>
              </a:rPr>
              <a:t>optional, locks with the cap</a:t>
            </a:r>
          </a:p>
        </p:txBody>
      </p:sp>
      <p:cxnSp>
        <p:nvCxnSpPr>
          <p:cNvPr id="24" name="Connector 23"/>
          <p:cNvCxnSpPr/>
          <p:nvPr/>
        </p:nvCxnSpPr>
        <p:spPr>
          <a:xfrm>
            <a:off x="8707831" y="1289304"/>
            <a:ext cx="182880" cy="0"/>
          </a:xfrm>
          <a:prstGeom prst="line">
            <a:avLst/>
          </a:prstGeom>
          <a:ln w="2222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899855" y="1005840"/>
            <a:ext cx="1143000" cy="566928"/>
          </a:xfrm>
          <a:prstGeom prst="roundRect">
            <a:avLst>
              <a:gd name="adj" fmla="val 9677"/>
            </a:avLst>
          </a:prstGeom>
          <a:solidFill>
            <a:srgbClr val="EFF6FF"/>
          </a:solidFill>
          <a:ln w="1587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Valve 2</a:t>
            </a:r>
          </a:p>
          <a:p>
            <a:pPr algn="ctr">
              <a:spcAft>
                <a:spcPts val="0"/>
              </a:spcAft>
            </a:pPr>
            <a:r>
              <a:rPr sz="750" b="0" i="0">
                <a:solidFill>
                  <a:srgbClr val="334155"/>
                </a:solidFill>
                <a:latin typeface="Arial"/>
              </a:rPr>
              <a:t>test again or pour</a:t>
            </a:r>
          </a:p>
        </p:txBody>
      </p:sp>
      <p:cxnSp>
        <p:nvCxnSpPr>
          <p:cNvPr id="26" name="Connector 25"/>
          <p:cNvCxnSpPr/>
          <p:nvPr/>
        </p:nvCxnSpPr>
        <p:spPr>
          <a:xfrm>
            <a:off x="10051999" y="1289304"/>
            <a:ext cx="182880" cy="0"/>
          </a:xfrm>
          <a:prstGeom prst="line">
            <a:avLst/>
          </a:prstGeom>
          <a:ln w="2222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244023" y="1005840"/>
            <a:ext cx="1417320" cy="566928"/>
          </a:xfrm>
          <a:prstGeom prst="roundRect">
            <a:avLst>
              <a:gd name="adj" fmla="val 9677"/>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Spout</a:t>
            </a:r>
          </a:p>
          <a:p>
            <a:pPr algn="ctr">
              <a:spcAft>
                <a:spcPts val="0"/>
              </a:spcAft>
            </a:pPr>
            <a:r>
              <a:rPr sz="750" b="0" i="0">
                <a:solidFill>
                  <a:srgbClr val="334155"/>
                </a:solidFill>
                <a:latin typeface="Arial"/>
              </a:rPr>
              <a:t>opens only after the check</a:t>
            </a:r>
          </a:p>
        </p:txBody>
      </p:sp>
      <p:sp>
        <p:nvSpPr>
          <p:cNvPr id="28" name="Rounded Rectangle 27"/>
          <p:cNvSpPr/>
          <p:nvPr/>
        </p:nvSpPr>
        <p:spPr>
          <a:xfrm>
            <a:off x="533095" y="1810512"/>
            <a:ext cx="1325880" cy="640080"/>
          </a:xfrm>
          <a:prstGeom prst="roundRect">
            <a:avLst>
              <a:gd name="adj" fmla="val 857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Safety sensing</a:t>
            </a:r>
          </a:p>
          <a:p>
            <a:pPr algn="ctr">
              <a:spcAft>
                <a:spcPts val="0"/>
              </a:spcAft>
            </a:pPr>
            <a:r>
              <a:rPr sz="700" b="0" i="0">
                <a:solidFill>
                  <a:srgbClr val="334155"/>
                </a:solidFill>
                <a:latin typeface="Arial"/>
              </a:rPr>
              <a:t>battery, pump current, leaks</a:t>
            </a:r>
          </a:p>
        </p:txBody>
      </p:sp>
      <p:cxnSp>
        <p:nvCxnSpPr>
          <p:cNvPr id="29" name="Connector 28"/>
          <p:cNvCxnSpPr/>
          <p:nvPr/>
        </p:nvCxnSpPr>
        <p:spPr>
          <a:xfrm>
            <a:off x="1196035" y="2450591"/>
            <a:ext cx="0" cy="201169"/>
          </a:xfrm>
          <a:prstGeom prst="line">
            <a:avLst/>
          </a:prstGeom>
          <a:ln w="1587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060143" y="1810512"/>
            <a:ext cx="1234440" cy="640080"/>
          </a:xfrm>
          <a:prstGeom prst="roundRect">
            <a:avLst>
              <a:gd name="adj" fmla="val 8571"/>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Switches</a:t>
            </a:r>
          </a:p>
          <a:p>
            <a:pPr algn="ctr">
              <a:spcAft>
                <a:spcPts val="0"/>
              </a:spcAft>
            </a:pPr>
            <a:r>
              <a:rPr sz="700" b="0" i="0">
                <a:solidFill>
                  <a:srgbClr val="334155"/>
                </a:solidFill>
                <a:latin typeface="Arial"/>
              </a:rPr>
              <a:t>turn the pump, valves and UV on and off</a:t>
            </a:r>
          </a:p>
        </p:txBody>
      </p:sp>
      <p:cxnSp>
        <p:nvCxnSpPr>
          <p:cNvPr id="31" name="Connector 30"/>
          <p:cNvCxnSpPr/>
          <p:nvPr/>
        </p:nvCxnSpPr>
        <p:spPr>
          <a:xfrm flipV="1">
            <a:off x="2677363" y="1572768"/>
            <a:ext cx="0" cy="237744"/>
          </a:xfrm>
          <a:prstGeom prst="line">
            <a:avLst/>
          </a:prstGeom>
          <a:ln w="1587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677363" y="2450591"/>
            <a:ext cx="0" cy="201169"/>
          </a:xfrm>
          <a:prstGeom prst="line">
            <a:avLst/>
          </a:prstGeom>
          <a:ln w="1587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495751" y="1810512"/>
            <a:ext cx="6547104" cy="640080"/>
          </a:xfrm>
          <a:prstGeom prst="roundRect">
            <a:avLst>
              <a:gd name="adj" fmla="val 8571"/>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One small test cell (about 3 mL), used twice</a:t>
            </a:r>
          </a:p>
          <a:p>
            <a:pPr algn="ctr">
              <a:spcAft>
                <a:spcPts val="0"/>
              </a:spcAft>
            </a:pPr>
            <a:r>
              <a:rPr sz="750" b="0" i="0">
                <a:solidFill>
                  <a:srgbClr val="334155"/>
                </a:solidFill>
                <a:latin typeface="Arial"/>
              </a:rPr>
              <a:t>pH, TDS, cloudiness and temperature. First the raw water through valve 1, then the treated water through valve 2.</a:t>
            </a:r>
          </a:p>
        </p:txBody>
      </p:sp>
      <p:cxnSp>
        <p:nvCxnSpPr>
          <p:cNvPr id="34" name="Connector 33"/>
          <p:cNvCxnSpPr/>
          <p:nvPr/>
        </p:nvCxnSpPr>
        <p:spPr>
          <a:xfrm>
            <a:off x="4067251" y="1572768"/>
            <a:ext cx="0" cy="237744"/>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471355" y="1572768"/>
            <a:ext cx="0" cy="237744"/>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042855" y="2130552"/>
            <a:ext cx="201168" cy="0"/>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244023" y="1810512"/>
            <a:ext cx="1417320" cy="640080"/>
          </a:xfrm>
          <a:prstGeom prst="roundRect">
            <a:avLst>
              <a:gd name="adj" fmla="val 857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Waste outlet</a:t>
            </a:r>
          </a:p>
          <a:p>
            <a:pPr algn="ctr">
              <a:spcAft>
                <a:spcPts val="0"/>
              </a:spcAft>
            </a:pPr>
            <a:r>
              <a:rPr sz="700" b="0" i="0">
                <a:solidFill>
                  <a:srgbClr val="334155"/>
                </a:solidFill>
                <a:latin typeface="Arial"/>
              </a:rPr>
              <a:t>test and rinse water</a:t>
            </a:r>
          </a:p>
        </p:txBody>
      </p:sp>
      <p:cxnSp>
        <p:nvCxnSpPr>
          <p:cNvPr id="38" name="Connector 37"/>
          <p:cNvCxnSpPr/>
          <p:nvPr/>
        </p:nvCxnSpPr>
        <p:spPr>
          <a:xfrm>
            <a:off x="6769303" y="2450591"/>
            <a:ext cx="0" cy="201169"/>
          </a:xfrm>
          <a:prstGeom prst="line">
            <a:avLst/>
          </a:prstGeom>
          <a:ln w="1587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33095" y="2651760"/>
            <a:ext cx="11125504" cy="822960"/>
          </a:xfrm>
          <a:prstGeom prst="roundRect">
            <a:avLst>
              <a:gd name="adj" fmla="val 8888"/>
            </a:avLst>
          </a:prstGeom>
          <a:solidFill>
            <a:srgbClr val="EEF2FF"/>
          </a:solidFill>
          <a:ln w="9525">
            <a:solidFill>
              <a:srgbClr val="A5B4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58368" y="2715768"/>
            <a:ext cx="1783080" cy="685800"/>
          </a:xfrm>
          <a:prstGeom prst="rect">
            <a:avLst/>
          </a:prstGeom>
          <a:noFill/>
        </p:spPr>
        <p:txBody>
          <a:bodyPr wrap="square" lIns="0" rIns="0" tIns="0" bIns="0" anchor="ctr"/>
          <a:lstStyle/>
          <a:p>
            <a:pPr algn="l">
              <a:spcAft>
                <a:spcPts val="300"/>
              </a:spcAft>
              <a:buNone/>
            </a:pPr>
            <a:r>
              <a:rPr sz="900" b="0" i="0">
                <a:solidFill>
                  <a:srgbClr val="1E398A"/>
                </a:solidFill>
                <a:latin typeface="Arial Black"/>
              </a:rPr>
              <a:t>THE BRAIN: ESP32-C3</a:t>
            </a:r>
          </a:p>
          <a:p>
            <a:pPr algn="l">
              <a:spcAft>
                <a:spcPts val="300"/>
              </a:spcAft>
              <a:buNone/>
            </a:pPr>
            <a:r>
              <a:rPr sz="750" b="0" i="0">
                <a:solidFill>
                  <a:srgbClr val="64748B"/>
                </a:solidFill>
                <a:latin typeface="Arial"/>
              </a:rPr>
              <a:t>a small Wi-Fi and Bluetooth chip</a:t>
            </a:r>
          </a:p>
        </p:txBody>
      </p:sp>
      <p:sp>
        <p:nvSpPr>
          <p:cNvPr id="41" name="Rounded Rectangle 40"/>
          <p:cNvSpPr/>
          <p:nvPr/>
        </p:nvSpPr>
        <p:spPr>
          <a:xfrm>
            <a:off x="2514600" y="2743200"/>
            <a:ext cx="2176272" cy="640080"/>
          </a:xfrm>
          <a:prstGeom prst="roundRect">
            <a:avLst>
              <a:gd name="adj" fmla="val 8571"/>
            </a:avLst>
          </a:prstGeom>
          <a:solidFill>
            <a:srgbClr val="FFFF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Check the readings</a:t>
            </a:r>
          </a:p>
          <a:p>
            <a:pPr algn="ctr">
              <a:spcAft>
                <a:spcPts val="0"/>
              </a:spcAft>
            </a:pPr>
            <a:r>
              <a:rPr sz="750" b="0" i="0">
                <a:solidFill>
                  <a:srgbClr val="334155"/>
                </a:solidFill>
                <a:latin typeface="Arial"/>
              </a:rPr>
              <a:t>are they sensible and steady?</a:t>
            </a:r>
          </a:p>
        </p:txBody>
      </p:sp>
      <p:sp>
        <p:nvSpPr>
          <p:cNvPr id="42" name="Rounded Rectangle 41"/>
          <p:cNvSpPr/>
          <p:nvPr/>
        </p:nvSpPr>
        <p:spPr>
          <a:xfrm>
            <a:off x="4782312" y="2743200"/>
            <a:ext cx="2176272" cy="640080"/>
          </a:xfrm>
          <a:prstGeom prst="roundRect">
            <a:avLst>
              <a:gd name="adj" fmla="val 8571"/>
            </a:avLst>
          </a:prstGeom>
          <a:solidFill>
            <a:srgbClr val="FFFF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Choose the treatment</a:t>
            </a:r>
          </a:p>
          <a:p>
            <a:pPr algn="ctr">
              <a:spcAft>
                <a:spcPts val="0"/>
              </a:spcAft>
            </a:pPr>
            <a:r>
              <a:rPr sz="750" b="0" i="0">
                <a:solidFill>
                  <a:srgbClr val="334155"/>
                </a:solidFill>
                <a:latin typeface="Arial"/>
              </a:rPr>
              <a:t>flow speed, UV dose, cartridge advice</a:t>
            </a:r>
          </a:p>
        </p:txBody>
      </p:sp>
      <p:sp>
        <p:nvSpPr>
          <p:cNvPr id="43" name="Rounded Rectangle 42"/>
          <p:cNvSpPr/>
          <p:nvPr/>
        </p:nvSpPr>
        <p:spPr>
          <a:xfrm>
            <a:off x="7050024" y="2743200"/>
            <a:ext cx="2176272" cy="640080"/>
          </a:xfrm>
          <a:prstGeom prst="roundRect">
            <a:avLst>
              <a:gd name="adj" fmla="val 8571"/>
            </a:avLst>
          </a:prstGeom>
          <a:solidFill>
            <a:srgbClr val="FFFF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Compare before and after</a:t>
            </a:r>
          </a:p>
          <a:p>
            <a:pPr algn="ctr">
              <a:spcAft>
                <a:spcPts val="0"/>
              </a:spcAft>
            </a:pPr>
            <a:r>
              <a:rPr sz="750" b="0" i="0">
                <a:solidFill>
                  <a:srgbClr val="334155"/>
                </a:solidFill>
                <a:latin typeface="Arial"/>
              </a:rPr>
              <a:t>did the water really improve?</a:t>
            </a:r>
          </a:p>
        </p:txBody>
      </p:sp>
      <p:sp>
        <p:nvSpPr>
          <p:cNvPr id="44" name="Rounded Rectangle 43"/>
          <p:cNvSpPr/>
          <p:nvPr/>
        </p:nvSpPr>
        <p:spPr>
          <a:xfrm>
            <a:off x="9317736" y="2743200"/>
            <a:ext cx="2176272" cy="640080"/>
          </a:xfrm>
          <a:prstGeom prst="roundRect">
            <a:avLst>
              <a:gd name="adj" fmla="val 8571"/>
            </a:avLst>
          </a:prstGeom>
          <a:solidFill>
            <a:srgbClr val="FFFF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Keep it safe</a:t>
            </a:r>
          </a:p>
          <a:p>
            <a:pPr algn="ctr">
              <a:spcAft>
                <a:spcPts val="0"/>
              </a:spcAft>
            </a:pPr>
            <a:r>
              <a:rPr sz="750" b="0" i="0">
                <a:solidFill>
                  <a:srgbClr val="334155"/>
                </a:solidFill>
                <a:latin typeface="Arial"/>
              </a:rPr>
              <a:t>leaks, running dry, blockages, battery, UV lock</a:t>
            </a:r>
          </a:p>
        </p:txBody>
      </p:sp>
      <p:cxnSp>
        <p:nvCxnSpPr>
          <p:cNvPr id="45" name="Connector 44"/>
          <p:cNvCxnSpPr/>
          <p:nvPr/>
        </p:nvCxnSpPr>
        <p:spPr>
          <a:xfrm>
            <a:off x="2743200" y="3474720"/>
            <a:ext cx="0" cy="201167"/>
          </a:xfrm>
          <a:prstGeom prst="line">
            <a:avLst/>
          </a:prstGeom>
          <a:ln w="1587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533095" y="3675887"/>
            <a:ext cx="4480560" cy="457200"/>
          </a:xfrm>
          <a:prstGeom prst="roundRect">
            <a:avLst>
              <a:gd name="adj" fmla="val 1200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What you see:</a:t>
            </a:r>
            <a:r>
              <a:rPr sz="850" b="0" i="0">
                <a:solidFill>
                  <a:srgbClr val="334155"/>
                </a:solidFill>
                <a:latin typeface="Arial"/>
              </a:rPr>
              <a:t> a small screen, a light ring, one button, and a phone app with your history</a:t>
            </a:r>
          </a:p>
        </p:txBody>
      </p:sp>
      <p:cxnSp>
        <p:nvCxnSpPr>
          <p:cNvPr id="47" name="Connector 46"/>
          <p:cNvCxnSpPr/>
          <p:nvPr/>
        </p:nvCxnSpPr>
        <p:spPr>
          <a:xfrm>
            <a:off x="5010912" y="3904487"/>
            <a:ext cx="338328" cy="0"/>
          </a:xfrm>
          <a:prstGeom prst="line">
            <a:avLst/>
          </a:prstGeom>
          <a:ln w="1587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349240" y="3675887"/>
            <a:ext cx="2834640" cy="457200"/>
          </a:xfrm>
          <a:prstGeom prst="roundRect">
            <a:avLst>
              <a:gd name="adj" fmla="val 1200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59668"/>
                </a:solidFill>
                <a:latin typeface="Arial"/>
              </a:rPr>
              <a:t>ALL GOOD: WATER POURS</a:t>
            </a:r>
          </a:p>
          <a:p>
            <a:pPr algn="ctr">
              <a:spcAft>
                <a:spcPts val="0"/>
              </a:spcAft>
            </a:pPr>
            <a:r>
              <a:rPr sz="750" b="0" i="0">
                <a:solidFill>
                  <a:srgbClr val="334155"/>
                </a:solidFill>
                <a:latin typeface="Arial"/>
              </a:rPr>
              <a:t>the change is what we wanted</a:t>
            </a:r>
          </a:p>
        </p:txBody>
      </p:sp>
      <p:sp>
        <p:nvSpPr>
          <p:cNvPr id="49" name="Rounded Rectangle 48"/>
          <p:cNvSpPr/>
          <p:nvPr/>
        </p:nvSpPr>
        <p:spPr>
          <a:xfrm>
            <a:off x="8366760" y="3675887"/>
            <a:ext cx="3291840" cy="457200"/>
          </a:xfrm>
          <a:prstGeom prst="roundRect">
            <a:avLst>
              <a:gd name="adj" fmla="val 12000"/>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B45309"/>
                </a:solidFill>
                <a:latin typeface="Arial"/>
              </a:rPr>
              <a:t>NOT GOOD: STOP AND ADVISE</a:t>
            </a:r>
          </a:p>
          <a:p>
            <a:pPr algn="ctr">
              <a:spcAft>
                <a:spcPts val="0"/>
              </a:spcAft>
            </a:pPr>
            <a:r>
              <a:rPr sz="750" b="0" i="0">
                <a:solidFill>
                  <a:srgbClr val="334155"/>
                </a:solidFill>
                <a:latin typeface="Arial"/>
              </a:rPr>
              <a:t>run again, change the cartridge, or get a lab test</a:t>
            </a:r>
          </a:p>
        </p:txBody>
      </p:sp>
      <p:sp>
        <p:nvSpPr>
          <p:cNvPr id="50" name="TextBox 49"/>
          <p:cNvSpPr txBox="1"/>
          <p:nvPr/>
        </p:nvSpPr>
        <p:spPr>
          <a:xfrm>
            <a:off x="8183879" y="3785615"/>
            <a:ext cx="182880" cy="228600"/>
          </a:xfrm>
          <a:prstGeom prst="rect">
            <a:avLst/>
          </a:prstGeom>
          <a:noFill/>
        </p:spPr>
        <p:txBody>
          <a:bodyPr wrap="square" lIns="0" rIns="0" tIns="0" bIns="0" anchor="t"/>
          <a:lstStyle/>
          <a:p>
            <a:pPr algn="ctr">
              <a:spcAft>
                <a:spcPts val="300"/>
              </a:spcAft>
              <a:buNone/>
            </a:pPr>
            <a:r>
              <a:rPr sz="1000" b="1" i="0">
                <a:solidFill>
                  <a:srgbClr val="64748B"/>
                </a:solidFill>
                <a:latin typeface="Arial"/>
              </a:rPr>
              <a:t>/</a:t>
            </a:r>
          </a:p>
        </p:txBody>
      </p:sp>
      <p:graphicFrame>
        <p:nvGraphicFramePr>
          <p:cNvPr id="51" name="Table 50"/>
          <p:cNvGraphicFramePr>
            <a:graphicFrameLocks noGrp="1"/>
          </p:cNvGraphicFramePr>
          <p:nvPr/>
        </p:nvGraphicFramePr>
        <p:xfrm>
          <a:off x="533095" y="4297680"/>
          <a:ext cx="7086600" cy="1289304"/>
        </p:xfrm>
        <a:graphic>
          <a:graphicData uri="http://schemas.openxmlformats.org/drawingml/2006/table">
            <a:tbl>
              <a:tblPr firstRow="0" bandRow="0">
                <a:tableStyleId>{2D5ABB26-0587-4C30-8999-92F81FD0307C}</a:tableStyleId>
              </a:tblPr>
              <a:tblGrid>
                <a:gridCol w="2011680"/>
                <a:gridCol w="2514600"/>
                <a:gridCol w="2560320"/>
              </a:tblGrid>
              <a:tr h="214884">
                <a:tc>
                  <a:txBody>
                    <a:bodyPr wrap="square"/>
                    <a:lstStyle/>
                    <a:p>
                      <a:pPr algn="l"/>
                      <a:r>
                        <a:rPr sz="750" b="1" i="0">
                          <a:solidFill>
                            <a:srgbClr val="0F172A"/>
                          </a:solidFill>
                          <a:latin typeface="Arial"/>
                        </a:rPr>
                        <a:t>What the first test shows</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What the capsule does</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If the cartridge can’t fix it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r>
              <a:tr h="214884">
                <a:tc>
                  <a:txBody>
                    <a:bodyPr wrap="square"/>
                    <a:lstStyle/>
                    <a:p>
                      <a:pPr algn="l"/>
                      <a:r>
                        <a:rPr sz="750" b="1" i="0">
                          <a:solidFill>
                            <a:srgbClr val="1E293B"/>
                          </a:solidFill>
                          <a:latin typeface="Arial"/>
                        </a:rPr>
                        <a:t>Readings look wrong or jumpy</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Doesn’t treat; tests twice more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Warns about a sensor problem</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14884">
                <a:tc>
                  <a:txBody>
                    <a:bodyPr wrap="square"/>
                    <a:lstStyle/>
                    <a:p>
                      <a:pPr algn="l"/>
                      <a:r>
                        <a:rPr sz="750" b="1" i="0">
                          <a:solidFill>
                            <a:srgbClr val="1E293B"/>
                          </a:solidFill>
                          <a:latin typeface="Arial"/>
                        </a:rPr>
                        <a:t>Water is cloudy</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Slows the flow; uses UV only once it is clear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Stops and suggests letting it settle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14884">
                <a:tc>
                  <a:txBody>
                    <a:bodyPr wrap="square"/>
                    <a:lstStyle/>
                    <a:p>
                      <a:pPr algn="l"/>
                      <a:r>
                        <a:rPr sz="750" b="1" i="0">
                          <a:solidFill>
                            <a:srgbClr val="1E293B"/>
                          </a:solidFill>
                          <a:latin typeface="Arial"/>
                        </a:rPr>
                        <a:t>Water is clear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Normal flow, UV on if fitted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Nothing extra needed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14884">
                <a:tc>
                  <a:txBody>
                    <a:bodyPr wrap="square"/>
                    <a:lstStyle/>
                    <a:p>
                      <a:pPr algn="l"/>
                      <a:r>
                        <a:rPr sz="750" b="1" i="0">
                          <a:solidFill>
                            <a:srgbClr val="1E293B"/>
                          </a:solidFill>
                          <a:latin typeface="Arial"/>
                        </a:rPr>
                        <a:t>TDS above 500 mg/L, or pH outside 6.5–8.5</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Treats as normal and flags it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Explains the cartridge can’t change this; suggests a test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14884">
                <a:tc>
                  <a:txBody>
                    <a:bodyPr wrap="square"/>
                    <a:lstStyle/>
                    <a:p>
                      <a:pPr algn="l"/>
                      <a:r>
                        <a:rPr sz="750" b="1" i="0">
                          <a:solidFill>
                            <a:srgbClr val="1E293B"/>
                          </a:solidFill>
                          <a:latin typeface="Arial"/>
                        </a:rPr>
                        <a:t>Second test shows no improvement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Doesn’t pour the water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Suggests a new cartridge or a lab test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bl>
          </a:graphicData>
        </a:graphic>
      </p:graphicFrame>
      <p:sp>
        <p:nvSpPr>
          <p:cNvPr id="52" name="Rounded Rectangle 51"/>
          <p:cNvSpPr/>
          <p:nvPr/>
        </p:nvSpPr>
        <p:spPr>
          <a:xfrm>
            <a:off x="7772400" y="4297680"/>
            <a:ext cx="3886200" cy="1307592"/>
          </a:xfrm>
          <a:prstGeom prst="roundRect">
            <a:avLst>
              <a:gd name="adj" fmla="val 559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image.png"/>
          <p:cNvPicPr>
            <a:picLocks noChangeAspect="1"/>
          </p:cNvPicPr>
          <p:nvPr/>
        </p:nvPicPr>
        <p:blipFill>
          <a:blip r:embed="rId5"/>
          <a:stretch>
            <a:fillRect/>
          </a:stretch>
        </p:blipFill>
        <p:spPr>
          <a:xfrm>
            <a:off x="7927848" y="4453128"/>
            <a:ext cx="214615" cy="173736"/>
          </a:xfrm>
          <a:prstGeom prst="rect">
            <a:avLst/>
          </a:prstGeom>
        </p:spPr>
      </p:pic>
      <p:sp>
        <p:nvSpPr>
          <p:cNvPr id="54" name="TextBox 53"/>
          <p:cNvSpPr txBox="1"/>
          <p:nvPr/>
        </p:nvSpPr>
        <p:spPr>
          <a:xfrm>
            <a:off x="8183879" y="4416552"/>
            <a:ext cx="3337560" cy="274320"/>
          </a:xfrm>
          <a:prstGeom prst="rect">
            <a:avLst/>
          </a:prstGeom>
          <a:noFill/>
        </p:spPr>
        <p:txBody>
          <a:bodyPr wrap="square" lIns="0" rIns="0" tIns="0" bIns="0" anchor="t"/>
          <a:lstStyle/>
          <a:p>
            <a:pPr algn="l">
              <a:spcAft>
                <a:spcPts val="300"/>
              </a:spcAft>
              <a:buNone/>
            </a:pPr>
            <a:r>
              <a:rPr sz="950" b="1" i="0">
                <a:solidFill>
                  <a:srgbClr val="0F172A"/>
                </a:solidFill>
                <a:latin typeface="Arial"/>
              </a:rPr>
              <a:t>Why this loop matters</a:t>
            </a:r>
          </a:p>
        </p:txBody>
      </p:sp>
      <p:sp>
        <p:nvSpPr>
          <p:cNvPr id="55" name="TextBox 54"/>
          <p:cNvSpPr txBox="1"/>
          <p:nvPr/>
        </p:nvSpPr>
        <p:spPr>
          <a:xfrm>
            <a:off x="7936992" y="4645152"/>
            <a:ext cx="3611880" cy="941832"/>
          </a:xfrm>
          <a:prstGeom prst="rect">
            <a:avLst/>
          </a:prstGeom>
          <a:noFill/>
        </p:spPr>
        <p:txBody>
          <a:bodyPr wrap="square" lIns="0" rIns="0" tIns="0" bIns="0" anchor="t"/>
          <a:lstStyle/>
          <a:p>
            <a:pPr algn="l" marL="128016" indent="-128016">
              <a:spcAft>
                <a:spcPts val="300"/>
              </a:spcAft>
              <a:buClr>
                <a:srgbClr val="059668"/>
              </a:buClr>
              <a:buSzPct val="100000"/>
              <a:buFont typeface="Arial"/>
              <a:buChar char="▪"/>
            </a:pPr>
            <a:r>
              <a:rPr sz="850" b="0" i="0">
                <a:solidFill>
                  <a:srgbClr val="334155"/>
                </a:solidFill>
                <a:latin typeface="Arial"/>
              </a:rPr>
              <a:t>The same sensors test the water before and after, so we never just assume the filter worked.</a:t>
            </a:r>
          </a:p>
          <a:p>
            <a:pPr algn="l" marL="128016" indent="-128016">
              <a:spcAft>
                <a:spcPts val="300"/>
              </a:spcAft>
              <a:buClr>
                <a:srgbClr val="059668"/>
              </a:buClr>
              <a:buSzPct val="100000"/>
              <a:buFont typeface="Arial"/>
              <a:buChar char="▪"/>
            </a:pPr>
            <a:r>
              <a:rPr sz="850" b="0" i="0">
                <a:solidFill>
                  <a:srgbClr val="334155"/>
                </a:solidFill>
                <a:latin typeface="Arial"/>
              </a:rPr>
              <a:t>Water only comes out once the second test passes.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System Specs: Targets and Parts We Chose</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graphicFrame>
        <p:nvGraphicFramePr>
          <p:cNvPr id="7" name="Table 6"/>
          <p:cNvGraphicFramePr>
            <a:graphicFrameLocks noGrp="1"/>
          </p:cNvGraphicFramePr>
          <p:nvPr/>
        </p:nvGraphicFramePr>
        <p:xfrm>
          <a:off x="533095" y="960120"/>
          <a:ext cx="11125502" cy="3675888"/>
        </p:xfrm>
        <a:graphic>
          <a:graphicData uri="http://schemas.openxmlformats.org/drawingml/2006/table">
            <a:tbl>
              <a:tblPr firstRow="0" bandRow="0">
                <a:tableStyleId>{2D5ABB26-0587-4C30-8999-92F81FD0307C}</a:tableStyleId>
              </a:tblPr>
              <a:tblGrid>
                <a:gridCol w="1421319"/>
                <a:gridCol w="3087695"/>
                <a:gridCol w="4214948"/>
                <a:gridCol w="2401540"/>
              </a:tblGrid>
              <a:tr h="306324">
                <a:tc>
                  <a:txBody>
                    <a:bodyPr wrap="square"/>
                    <a:lstStyle/>
                    <a:p>
                      <a:pPr algn="l"/>
                      <a:r>
                        <a:rPr sz="750" b="1" i="0">
                          <a:solidFill>
                            <a:srgbClr val="0F172A"/>
                          </a:solidFill>
                          <a:latin typeface="Arial"/>
                        </a:rPr>
                        <a:t>Area</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What we are aiming for</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Parts we plan to use</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How we will check it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r>
              <a:tr h="306324">
                <a:tc>
                  <a:txBody>
                    <a:bodyPr wrap="square"/>
                    <a:lstStyle/>
                    <a:p>
                      <a:pPr algn="l"/>
                      <a:r>
                        <a:rPr sz="750" b="1" i="0">
                          <a:solidFill>
                            <a:srgbClr val="1E293B"/>
                          </a:solidFill>
                          <a:latin typeface="Arial"/>
                        </a:rPr>
                        <a:t>Size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About 60 mm wide and 210 mm tall for the first version, shrinking to about 50 × 170 mm; under 400 g</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3D-printed PETG body, with the wet parts kept separate from a sealed electronics section</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Measure and weigh version 1</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06324">
                <a:tc>
                  <a:txBody>
                    <a:bodyPr wrap="square"/>
                    <a:lstStyle/>
                    <a:p>
                      <a:pPr algn="l"/>
                      <a:r>
                        <a:rPr sz="750" b="1" i="0">
                          <a:solidFill>
                            <a:srgbClr val="1E293B"/>
                          </a:solidFill>
                          <a:latin typeface="Arial"/>
                        </a:rPr>
                        <a:t>Controller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Low power, Bluetooth for the phone app, sleeps between uses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ESP32-C3 (the WROOM-02 module in our schematic; the smaller MINI-1 for the final build)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Power it up and measure sleep current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06324">
                <a:tc>
                  <a:txBody>
                    <a:bodyPr wrap="square"/>
                    <a:lstStyle/>
                    <a:p>
                      <a:pPr algn="l"/>
                      <a:r>
                        <a:rPr sz="750" b="1" i="0">
                          <a:solidFill>
                            <a:srgbClr val="1E293B"/>
                          </a:solidFill>
                          <a:latin typeface="Arial"/>
                        </a:rPr>
                        <a:t>Sensors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One 3 mL test cell used twice; pH within 0.1, TDS within 10%, temperature within 0.5 °C</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Small pH probe (supplier still to find) with a DFRobot pH board and isolator, DFRobot TDS board, our own infrared cloudiness sensor, DS18B20, ADS1115</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Calibrate with buffer liquids and turbidity standards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06324">
                <a:tc>
                  <a:txBody>
                    <a:bodyPr wrap="square"/>
                    <a:lstStyle/>
                    <a:p>
                      <a:pPr algn="l"/>
                      <a:r>
                        <a:rPr sz="750" b="1" i="0">
                          <a:solidFill>
                            <a:srgbClr val="1E293B"/>
                          </a:solidFill>
                          <a:latin typeface="Arial"/>
                        </a:rPr>
                        <a:t>Water path</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250 mL per run at 0.2–0.4 L per minute, with a 15 mL rinse before the second test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Hose and mesh, pump, valve 1, cartridge, UV, valve 2, spout; test water goes to the waste outlet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Flow test and leftover-water test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06324">
                <a:tc>
                  <a:txBody>
                    <a:bodyPr wrap="square"/>
                    <a:lstStyle/>
                    <a:p>
                      <a:pPr algn="l"/>
                      <a:r>
                        <a:rPr sz="750" b="1" i="0">
                          <a:solidFill>
                            <a:srgbClr val="1E293B"/>
                          </a:solidFill>
                          <a:latin typeface="Arial"/>
                        </a:rPr>
                        <a:t>Treatment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Adjust flow speed, UV dose, suggest a second run or a new cartridge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Twist-off cartridge with activated carbon and a hollow-fibre membrane; optional UV-C LED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Check each treatment route with clean water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06324">
                <a:tc>
                  <a:txBody>
                    <a:bodyPr wrap="square"/>
                    <a:lstStyle/>
                    <a:p>
                      <a:pPr algn="l"/>
                      <a:r>
                        <a:rPr sz="750" b="1" i="0">
                          <a:solidFill>
                            <a:srgbClr val="1E293B"/>
                          </a:solidFill>
                          <a:latin typeface="Arial"/>
                        </a:rPr>
                        <a:t>Pump and valves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Primes itself, stops within 3 s if dry, spots blockages from pump current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Small 5–6 V diaphragm pump, two small 3-way valves, INA219 current sensor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Dry-run and blockage tests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06324">
                <a:tc>
                  <a:txBody>
                    <a:bodyPr wrap="square"/>
                    <a:lstStyle/>
                    <a:p>
                      <a:pPr algn="l"/>
                      <a:r>
                        <a:rPr sz="750" b="1" i="0">
                          <a:solidFill>
                            <a:srgbClr val="1E293B"/>
                          </a:solidFill>
                          <a:latin typeface="Arial"/>
                        </a:rPr>
                        <a:t>Power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At least 30 runs per charge, USB-C charging; temperature-safe charging in the next version</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One protected 18650 battery, MCP73831 charger, 3.3 V and 5 V supplies, battery level check</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Battery life test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06324">
                <a:tc>
                  <a:txBody>
                    <a:bodyPr wrap="square"/>
                    <a:lstStyle/>
                    <a:p>
                      <a:pPr algn="l"/>
                      <a:r>
                        <a:rPr sz="750" b="1" i="0">
                          <a:solidFill>
                            <a:srgbClr val="1E293B"/>
                          </a:solidFill>
                          <a:latin typeface="Arial"/>
                        </a:rPr>
                        <a:t>Waterproofing</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Electronics fully sealed off from the water; aiming for IPX7</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O-ring wall, sealed cable passages, sealed USB-C, a leak sensor inside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Dunk test planned; not tested yet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06324">
                <a:tc>
                  <a:txBody>
                    <a:bodyPr wrap="square"/>
                    <a:lstStyle/>
                    <a:p>
                      <a:pPr algn="l"/>
                      <a:r>
                        <a:rPr sz="750" b="1" i="0">
                          <a:solidFill>
                            <a:srgbClr val="1E293B"/>
                          </a:solidFill>
                          <a:latin typeface="Arial"/>
                        </a:rPr>
                        <a:t>Comparison</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Average 30 readings, compare before and after, pour only if it passes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Code on the ESP32-C3, with limits from IS 10500:2012</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Test with water we already know</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06324">
                <a:tc>
                  <a:txBody>
                    <a:bodyPr wrap="square"/>
                    <a:lstStyle/>
                    <a:p>
                      <a:pPr algn="l"/>
                      <a:r>
                        <a:rPr sz="750" b="1" i="0">
                          <a:solidFill>
                            <a:srgbClr val="1E293B"/>
                          </a:solidFill>
                          <a:latin typeface="Arial"/>
                        </a:rPr>
                        <a:t>Display</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Result shown within a second; history kept in the app</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Small OLED screen, light ring, one button, phone app (still to build)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Try it out with real users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06324">
                <a:tc>
                  <a:txBody>
                    <a:bodyPr wrap="square"/>
                    <a:lstStyle/>
                    <a:p>
                      <a:pPr algn="l"/>
                      <a:r>
                        <a:rPr sz="750" b="1" i="0">
                          <a:solidFill>
                            <a:srgbClr val="1E293B"/>
                          </a:solidFill>
                          <a:latin typeface="Arial"/>
                        </a:rPr>
                        <a:t>Conditions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Water and air between 5 and 40 °C; you dip it in, or pour water into a cup</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Limited by the probes and the battery</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Temperature check</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bl>
          </a:graphicData>
        </a:graphic>
      </p:graphicFrame>
      <p:sp>
        <p:nvSpPr>
          <p:cNvPr id="8" name="TextBox 7"/>
          <p:cNvSpPr txBox="1"/>
          <p:nvPr/>
        </p:nvSpPr>
        <p:spPr>
          <a:xfrm>
            <a:off x="533095" y="4965192"/>
            <a:ext cx="2743200" cy="182880"/>
          </a:xfrm>
          <a:prstGeom prst="rect">
            <a:avLst/>
          </a:prstGeom>
          <a:noFill/>
        </p:spPr>
        <p:txBody>
          <a:bodyPr wrap="square" lIns="0" rIns="0" tIns="0" bIns="0" anchor="t"/>
          <a:lstStyle/>
          <a:p>
            <a:pPr algn="l">
              <a:spcAft>
                <a:spcPts val="300"/>
              </a:spcAft>
              <a:buNone/>
            </a:pPr>
            <a:r>
              <a:rPr sz="750" b="1" i="0">
                <a:solidFill>
                  <a:srgbClr val="64748B"/>
                </a:solidFill>
                <a:latin typeface="Arial"/>
              </a:rPr>
              <a:t>ONE 250 mL RUN, STEP BY STEP</a:t>
            </a:r>
          </a:p>
        </p:txBody>
      </p:sp>
      <p:sp>
        <p:nvSpPr>
          <p:cNvPr id="9" name="Pentagon 8"/>
          <p:cNvSpPr/>
          <p:nvPr/>
        </p:nvSpPr>
        <p:spPr>
          <a:xfrm>
            <a:off x="533095" y="5166360"/>
            <a:ext cx="1436408" cy="411480"/>
          </a:xfrm>
          <a:prstGeom prst="homePlate">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Take a sample</a:t>
            </a:r>
          </a:p>
        </p:txBody>
      </p:sp>
      <p:sp>
        <p:nvSpPr>
          <p:cNvPr id="10" name="Chevron 9"/>
          <p:cNvSpPr/>
          <p:nvPr/>
        </p:nvSpPr>
        <p:spPr>
          <a:xfrm>
            <a:off x="1923783" y="5166360"/>
            <a:ext cx="1436408" cy="411480"/>
          </a:xfrm>
          <a:prstGeom prst="chevron">
            <a:avLst/>
          </a:prstGeom>
          <a:solidFill>
            <a:srgbClr val="059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FFFFFF"/>
                </a:solidFill>
                <a:latin typeface="Arial"/>
              </a:rPr>
              <a:t>Test it</a:t>
            </a:r>
          </a:p>
        </p:txBody>
      </p:sp>
      <p:sp>
        <p:nvSpPr>
          <p:cNvPr id="11" name="Chevron 10"/>
          <p:cNvSpPr/>
          <p:nvPr/>
        </p:nvSpPr>
        <p:spPr>
          <a:xfrm>
            <a:off x="3314471" y="5166360"/>
            <a:ext cx="1436408" cy="411480"/>
          </a:xfrm>
          <a:prstGeom prst="chevron">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Check readings</a:t>
            </a:r>
          </a:p>
        </p:txBody>
      </p:sp>
      <p:sp>
        <p:nvSpPr>
          <p:cNvPr id="12" name="Chevron 11"/>
          <p:cNvSpPr/>
          <p:nvPr/>
        </p:nvSpPr>
        <p:spPr>
          <a:xfrm>
            <a:off x="4705159" y="5166360"/>
            <a:ext cx="1436408" cy="411480"/>
          </a:xfrm>
          <a:prstGeom prst="chevron">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Pick a treatment</a:t>
            </a:r>
          </a:p>
        </p:txBody>
      </p:sp>
      <p:sp>
        <p:nvSpPr>
          <p:cNvPr id="13" name="Chevron 12"/>
          <p:cNvSpPr/>
          <p:nvPr/>
        </p:nvSpPr>
        <p:spPr>
          <a:xfrm>
            <a:off x="6095847" y="5166360"/>
            <a:ext cx="1436408" cy="411480"/>
          </a:xfrm>
          <a:prstGeom prst="chevron">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Treat</a:t>
            </a:r>
          </a:p>
        </p:txBody>
      </p:sp>
      <p:sp>
        <p:nvSpPr>
          <p:cNvPr id="14" name="Chevron 13"/>
          <p:cNvSpPr/>
          <p:nvPr/>
        </p:nvSpPr>
        <p:spPr>
          <a:xfrm>
            <a:off x="7486535" y="5166360"/>
            <a:ext cx="1436408" cy="411480"/>
          </a:xfrm>
          <a:prstGeom prst="chevron">
            <a:avLst/>
          </a:prstGeom>
          <a:solidFill>
            <a:srgbClr val="059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FFFFFF"/>
                </a:solidFill>
                <a:latin typeface="Arial"/>
              </a:rPr>
              <a:t>Rinse and retest</a:t>
            </a:r>
          </a:p>
        </p:txBody>
      </p:sp>
      <p:sp>
        <p:nvSpPr>
          <p:cNvPr id="15" name="Chevron 14"/>
          <p:cNvSpPr/>
          <p:nvPr/>
        </p:nvSpPr>
        <p:spPr>
          <a:xfrm>
            <a:off x="8877223" y="5166360"/>
            <a:ext cx="1436408" cy="411480"/>
          </a:xfrm>
          <a:prstGeom prst="chevron">
            <a:avLst/>
          </a:prstGeom>
          <a:solidFill>
            <a:srgbClr val="059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FFFFFF"/>
                </a:solidFill>
                <a:latin typeface="Arial"/>
              </a:rPr>
              <a:t>Compare</a:t>
            </a:r>
          </a:p>
        </p:txBody>
      </p:sp>
      <p:sp>
        <p:nvSpPr>
          <p:cNvPr id="16" name="Chevron 15"/>
          <p:cNvSpPr/>
          <p:nvPr/>
        </p:nvSpPr>
        <p:spPr>
          <a:xfrm>
            <a:off x="10267911" y="5166360"/>
            <a:ext cx="1436408" cy="411480"/>
          </a:xfrm>
          <a:prstGeom prst="chevron">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Pour or warn</a:t>
            </a:r>
          </a:p>
        </p:txBody>
      </p:sp>
      <p:pic>
        <p:nvPicPr>
          <p:cNvPr id="17" name="Note bar" descr="image.png"/>
          <p:cNvPicPr>
            <a:picLocks noChangeAspect="1"/>
          </p:cNvPicPr>
          <p:nvPr/>
        </p:nvPicPr>
        <p:blipFill>
          <a:blip r:embed="rId5"/>
          <a:stretch>
            <a:fillRect/>
          </a:stretch>
        </p:blipFill>
        <p:spPr>
          <a:xfrm>
            <a:off x="533095" y="5715000"/>
            <a:ext cx="11125504" cy="363016"/>
          </a:xfrm>
          <a:prstGeom prst="rect">
            <a:avLst/>
          </a:prstGeom>
        </p:spPr>
      </p:pic>
      <p:sp>
        <p:nvSpPr>
          <p:cNvPr id="18"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Battery maths (our estimate):</a:t>
            </a:r>
            <a:r>
              <a:rPr sz="850" b="0" i="0">
                <a:solidFill>
                  <a:srgbClr val="334155"/>
                </a:solidFill>
                <a:latin typeface="Arial"/>
              </a:rPr>
              <a:t> pump 1.5 W, UV 1 W and electronics 0.4 W for 3 minutes is about 0.15 Wh per run. A 18650 holds about 10.8 Wh, so roughly 50 runs (12 litres) per charge.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CAD Design: The Capsule, Inside and Out</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pic>
        <p:nvPicPr>
          <p:cNvPr id="7" name="Assembly view (concept)" descr="cap_assembly_c.png"/>
          <p:cNvPicPr>
            <a:picLocks noChangeAspect="1"/>
          </p:cNvPicPr>
          <p:nvPr/>
        </p:nvPicPr>
        <p:blipFill>
          <a:blip r:embed="rId5"/>
          <a:stretch>
            <a:fillRect/>
          </a:stretch>
        </p:blipFill>
        <p:spPr>
          <a:xfrm>
            <a:off x="594360" y="960120"/>
            <a:ext cx="3229850" cy="4343400"/>
          </a:xfrm>
          <a:prstGeom prst="rect">
            <a:avLst/>
          </a:prstGeom>
        </p:spPr>
      </p:pic>
      <p:sp>
        <p:nvSpPr>
          <p:cNvPr id="8" name="TextBox 7"/>
          <p:cNvSpPr txBox="1"/>
          <p:nvPr/>
        </p:nvSpPr>
        <p:spPr>
          <a:xfrm>
            <a:off x="533095" y="5349240"/>
            <a:ext cx="3566160" cy="201168"/>
          </a:xfrm>
          <a:prstGeom prst="rect">
            <a:avLst/>
          </a:prstGeom>
          <a:noFill/>
        </p:spPr>
        <p:txBody>
          <a:bodyPr wrap="square" lIns="0" rIns="0" tIns="0" bIns="0" anchor="t"/>
          <a:lstStyle/>
          <a:p>
            <a:pPr algn="ctr">
              <a:spcAft>
                <a:spcPts val="300"/>
              </a:spcAft>
              <a:buNone/>
            </a:pPr>
            <a:r>
              <a:rPr sz="800" b="0" i="1">
                <a:solidFill>
                  <a:srgbClr val="64748B"/>
                </a:solidFill>
                <a:latin typeface="Arial"/>
              </a:rPr>
              <a:t>The capsule put together, with rough sizes</a:t>
            </a:r>
          </a:p>
        </p:txBody>
      </p:sp>
      <p:pic>
        <p:nvPicPr>
          <p:cNvPr id="9" name="Exploded view (concept)" descr="cap_exploded_c.png"/>
          <p:cNvPicPr>
            <a:picLocks noChangeAspect="1"/>
          </p:cNvPicPr>
          <p:nvPr/>
        </p:nvPicPr>
        <p:blipFill>
          <a:blip r:embed="rId6"/>
          <a:stretch>
            <a:fillRect/>
          </a:stretch>
        </p:blipFill>
        <p:spPr>
          <a:xfrm>
            <a:off x="4434840" y="960120"/>
            <a:ext cx="2767751" cy="4343400"/>
          </a:xfrm>
          <a:prstGeom prst="rect">
            <a:avLst/>
          </a:prstGeom>
        </p:spPr>
      </p:pic>
      <p:sp>
        <p:nvSpPr>
          <p:cNvPr id="10" name="TextBox 9"/>
          <p:cNvSpPr txBox="1"/>
          <p:nvPr/>
        </p:nvSpPr>
        <p:spPr>
          <a:xfrm>
            <a:off x="4023360" y="5349240"/>
            <a:ext cx="3657600" cy="201168"/>
          </a:xfrm>
          <a:prstGeom prst="rect">
            <a:avLst/>
          </a:prstGeom>
          <a:noFill/>
        </p:spPr>
        <p:txBody>
          <a:bodyPr wrap="square" lIns="0" rIns="0" tIns="0" bIns="0" anchor="t"/>
          <a:lstStyle/>
          <a:p>
            <a:pPr algn="ctr">
              <a:spcAft>
                <a:spcPts val="300"/>
              </a:spcAft>
              <a:buNone/>
            </a:pPr>
            <a:r>
              <a:rPr sz="800" b="0" i="1">
                <a:solidFill>
                  <a:srgbClr val="64748B"/>
                </a:solidFill>
                <a:latin typeface="Arial"/>
              </a:rPr>
              <a:t>Taken apart: cap, cartridge, test cell, pump, electronics</a:t>
            </a:r>
          </a:p>
        </p:txBody>
      </p:sp>
      <p:sp>
        <p:nvSpPr>
          <p:cNvPr id="11" name="Rounded Rectangle 10"/>
          <p:cNvSpPr/>
          <p:nvPr/>
        </p:nvSpPr>
        <p:spPr>
          <a:xfrm>
            <a:off x="7863840" y="960120"/>
            <a:ext cx="3794760" cy="4617720"/>
          </a:xfrm>
          <a:prstGeom prst="roundRect">
            <a:avLst>
              <a:gd name="adj" fmla="val 1927"/>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png"/>
          <p:cNvPicPr>
            <a:picLocks noChangeAspect="1"/>
          </p:cNvPicPr>
          <p:nvPr/>
        </p:nvPicPr>
        <p:blipFill>
          <a:blip r:embed="rId7"/>
          <a:stretch>
            <a:fillRect/>
          </a:stretch>
        </p:blipFill>
        <p:spPr>
          <a:xfrm>
            <a:off x="8019288" y="1115568"/>
            <a:ext cx="165463" cy="173736"/>
          </a:xfrm>
          <a:prstGeom prst="rect">
            <a:avLst/>
          </a:prstGeom>
        </p:spPr>
      </p:pic>
      <p:sp>
        <p:nvSpPr>
          <p:cNvPr id="13" name="TextBox 12"/>
          <p:cNvSpPr txBox="1"/>
          <p:nvPr/>
        </p:nvSpPr>
        <p:spPr>
          <a:xfrm>
            <a:off x="8275319" y="1078992"/>
            <a:ext cx="3246120"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What each part is</a:t>
            </a:r>
          </a:p>
        </p:txBody>
      </p:sp>
      <p:sp>
        <p:nvSpPr>
          <p:cNvPr id="14" name="Oval 13"/>
          <p:cNvSpPr/>
          <p:nvPr/>
        </p:nvSpPr>
        <p:spPr>
          <a:xfrm>
            <a:off x="8028431" y="1335024"/>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1</a:t>
            </a:r>
          </a:p>
        </p:txBody>
      </p:sp>
      <p:sp>
        <p:nvSpPr>
          <p:cNvPr id="15" name="TextBox 14"/>
          <p:cNvSpPr txBox="1"/>
          <p:nvPr/>
        </p:nvSpPr>
        <p:spPr>
          <a:xfrm>
            <a:off x="8302752" y="1325880"/>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Spout in the top cap, with a status light ring</a:t>
            </a:r>
          </a:p>
        </p:txBody>
      </p:sp>
      <p:sp>
        <p:nvSpPr>
          <p:cNvPr id="16" name="Oval 15"/>
          <p:cNvSpPr/>
          <p:nvPr/>
        </p:nvSpPr>
        <p:spPr>
          <a:xfrm>
            <a:off x="8028431" y="1595628"/>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2</a:t>
            </a:r>
          </a:p>
        </p:txBody>
      </p:sp>
      <p:sp>
        <p:nvSpPr>
          <p:cNvPr id="17" name="TextBox 16"/>
          <p:cNvSpPr txBox="1"/>
          <p:nvPr/>
        </p:nvSpPr>
        <p:spPr>
          <a:xfrm>
            <a:off x="8302752" y="1586484"/>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UV-C light chamber with a quartz window (optional)</a:t>
            </a:r>
          </a:p>
        </p:txBody>
      </p:sp>
      <p:sp>
        <p:nvSpPr>
          <p:cNvPr id="18" name="Oval 17"/>
          <p:cNvSpPr/>
          <p:nvPr/>
        </p:nvSpPr>
        <p:spPr>
          <a:xfrm>
            <a:off x="8028431" y="1856231"/>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3</a:t>
            </a:r>
          </a:p>
        </p:txBody>
      </p:sp>
      <p:sp>
        <p:nvSpPr>
          <p:cNvPr id="19" name="TextBox 18"/>
          <p:cNvSpPr txBox="1"/>
          <p:nvPr/>
        </p:nvSpPr>
        <p:spPr>
          <a:xfrm>
            <a:off x="8302752" y="1847088"/>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Twist-off filter: carbon and a fine membrane</a:t>
            </a:r>
          </a:p>
        </p:txBody>
      </p:sp>
      <p:sp>
        <p:nvSpPr>
          <p:cNvPr id="20" name="Oval 19"/>
          <p:cNvSpPr/>
          <p:nvPr/>
        </p:nvSpPr>
        <p:spPr>
          <a:xfrm>
            <a:off x="8028431" y="2116836"/>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4</a:t>
            </a:r>
          </a:p>
        </p:txBody>
      </p:sp>
      <p:sp>
        <p:nvSpPr>
          <p:cNvPr id="21" name="TextBox 20"/>
          <p:cNvSpPr txBox="1"/>
          <p:nvPr/>
        </p:nvSpPr>
        <p:spPr>
          <a:xfrm>
            <a:off x="8302752" y="2107692"/>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Test cell for pH, TDS, cloudiness and temperature</a:t>
            </a:r>
          </a:p>
        </p:txBody>
      </p:sp>
      <p:sp>
        <p:nvSpPr>
          <p:cNvPr id="22" name="Oval 21"/>
          <p:cNvSpPr/>
          <p:nvPr/>
        </p:nvSpPr>
        <p:spPr>
          <a:xfrm>
            <a:off x="8028431" y="2377440"/>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5</a:t>
            </a:r>
          </a:p>
        </p:txBody>
      </p:sp>
      <p:sp>
        <p:nvSpPr>
          <p:cNvPr id="23" name="TextBox 22"/>
          <p:cNvSpPr txBox="1"/>
          <p:nvPr/>
        </p:nvSpPr>
        <p:spPr>
          <a:xfrm>
            <a:off x="8302752" y="2368296"/>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Valve 1 (test or treat) and valve 2 (retest or pour)</a:t>
            </a:r>
          </a:p>
        </p:txBody>
      </p:sp>
      <p:sp>
        <p:nvSpPr>
          <p:cNvPr id="24" name="Oval 23"/>
          <p:cNvSpPr/>
          <p:nvPr/>
        </p:nvSpPr>
        <p:spPr>
          <a:xfrm>
            <a:off x="8028431" y="2638044"/>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6</a:t>
            </a:r>
          </a:p>
        </p:txBody>
      </p:sp>
      <p:sp>
        <p:nvSpPr>
          <p:cNvPr id="25" name="TextBox 24"/>
          <p:cNvSpPr txBox="1"/>
          <p:nvPr/>
        </p:nvSpPr>
        <p:spPr>
          <a:xfrm>
            <a:off x="8302752" y="2628900"/>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Small pump</a:t>
            </a:r>
          </a:p>
        </p:txBody>
      </p:sp>
      <p:sp>
        <p:nvSpPr>
          <p:cNvPr id="26" name="Oval 25"/>
          <p:cNvSpPr/>
          <p:nvPr/>
        </p:nvSpPr>
        <p:spPr>
          <a:xfrm>
            <a:off x="8028431" y="2898648"/>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7</a:t>
            </a:r>
          </a:p>
        </p:txBody>
      </p:sp>
      <p:sp>
        <p:nvSpPr>
          <p:cNvPr id="27" name="TextBox 26"/>
          <p:cNvSpPr txBox="1"/>
          <p:nvPr/>
        </p:nvSpPr>
        <p:spPr>
          <a:xfrm>
            <a:off x="8302752" y="2889504"/>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Intake hose with a weighted mesh tip</a:t>
            </a:r>
          </a:p>
        </p:txBody>
      </p:sp>
      <p:sp>
        <p:nvSpPr>
          <p:cNvPr id="28" name="Oval 27"/>
          <p:cNvSpPr/>
          <p:nvPr/>
        </p:nvSpPr>
        <p:spPr>
          <a:xfrm>
            <a:off x="8028431" y="3159252"/>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8</a:t>
            </a:r>
          </a:p>
        </p:txBody>
      </p:sp>
      <p:sp>
        <p:nvSpPr>
          <p:cNvPr id="29" name="TextBox 28"/>
          <p:cNvSpPr txBox="1"/>
          <p:nvPr/>
        </p:nvSpPr>
        <p:spPr>
          <a:xfrm>
            <a:off x="8302752" y="3150108"/>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Waste outlet for test and rinse water</a:t>
            </a:r>
          </a:p>
        </p:txBody>
      </p:sp>
      <p:sp>
        <p:nvSpPr>
          <p:cNvPr id="30" name="Oval 29"/>
          <p:cNvSpPr/>
          <p:nvPr/>
        </p:nvSpPr>
        <p:spPr>
          <a:xfrm>
            <a:off x="8028431" y="3419856"/>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9</a:t>
            </a:r>
          </a:p>
        </p:txBody>
      </p:sp>
      <p:sp>
        <p:nvSpPr>
          <p:cNvPr id="31" name="TextBox 30"/>
          <p:cNvSpPr txBox="1"/>
          <p:nvPr/>
        </p:nvSpPr>
        <p:spPr>
          <a:xfrm>
            <a:off x="8302752" y="3410712"/>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Battery (18650), in the sealed dry side</a:t>
            </a:r>
          </a:p>
        </p:txBody>
      </p:sp>
      <p:sp>
        <p:nvSpPr>
          <p:cNvPr id="32" name="Oval 31"/>
          <p:cNvSpPr/>
          <p:nvPr/>
        </p:nvSpPr>
        <p:spPr>
          <a:xfrm>
            <a:off x="8028431" y="3680460"/>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10</a:t>
            </a:r>
          </a:p>
        </p:txBody>
      </p:sp>
      <p:sp>
        <p:nvSpPr>
          <p:cNvPr id="33" name="TextBox 32"/>
          <p:cNvSpPr txBox="1"/>
          <p:nvPr/>
        </p:nvSpPr>
        <p:spPr>
          <a:xfrm>
            <a:off x="8302752" y="3671316"/>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Circuit board with the ESP32-C3</a:t>
            </a:r>
          </a:p>
        </p:txBody>
      </p:sp>
      <p:sp>
        <p:nvSpPr>
          <p:cNvPr id="34" name="Oval 33"/>
          <p:cNvSpPr/>
          <p:nvPr/>
        </p:nvSpPr>
        <p:spPr>
          <a:xfrm>
            <a:off x="8028431" y="3941064"/>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11</a:t>
            </a:r>
          </a:p>
        </p:txBody>
      </p:sp>
      <p:sp>
        <p:nvSpPr>
          <p:cNvPr id="35" name="TextBox 34"/>
          <p:cNvSpPr txBox="1"/>
          <p:nvPr/>
        </p:nvSpPr>
        <p:spPr>
          <a:xfrm>
            <a:off x="8302752" y="3931920"/>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Small screen and button on the side</a:t>
            </a:r>
          </a:p>
        </p:txBody>
      </p:sp>
      <p:sp>
        <p:nvSpPr>
          <p:cNvPr id="36" name="Oval 35"/>
          <p:cNvSpPr/>
          <p:nvPr/>
        </p:nvSpPr>
        <p:spPr>
          <a:xfrm>
            <a:off x="8028431" y="4201668"/>
            <a:ext cx="201168" cy="201168"/>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700" b="1" i="0">
                <a:solidFill>
                  <a:srgbClr val="FFFFFF"/>
                </a:solidFill>
                <a:latin typeface="Arial"/>
              </a:rPr>
              <a:t>12</a:t>
            </a:r>
          </a:p>
        </p:txBody>
      </p:sp>
      <p:sp>
        <p:nvSpPr>
          <p:cNvPr id="37" name="TextBox 36"/>
          <p:cNvSpPr txBox="1"/>
          <p:nvPr/>
        </p:nvSpPr>
        <p:spPr>
          <a:xfrm>
            <a:off x="8302752" y="4192524"/>
            <a:ext cx="3246120" cy="246888"/>
          </a:xfrm>
          <a:prstGeom prst="rect">
            <a:avLst/>
          </a:prstGeom>
          <a:noFill/>
        </p:spPr>
        <p:txBody>
          <a:bodyPr wrap="square" lIns="0" rIns="0" tIns="0" bIns="0" anchor="t"/>
          <a:lstStyle/>
          <a:p>
            <a:pPr algn="l">
              <a:spcAft>
                <a:spcPts val="300"/>
              </a:spcAft>
              <a:buNone/>
            </a:pPr>
            <a:r>
              <a:rPr sz="850" b="0" i="0">
                <a:solidFill>
                  <a:srgbClr val="334155"/>
                </a:solidFill>
                <a:latin typeface="Arial"/>
              </a:rPr>
              <a:t>Sealed USB-C port for charging</a:t>
            </a:r>
          </a:p>
        </p:txBody>
      </p:sp>
      <p:sp>
        <p:nvSpPr>
          <p:cNvPr id="38" name="TextBox 37"/>
          <p:cNvSpPr txBox="1"/>
          <p:nvPr/>
        </p:nvSpPr>
        <p:spPr>
          <a:xfrm>
            <a:off x="8028431" y="4526280"/>
            <a:ext cx="3520440" cy="1005840"/>
          </a:xfrm>
          <a:prstGeom prst="rect">
            <a:avLst/>
          </a:prstGeom>
          <a:noFill/>
        </p:spPr>
        <p:txBody>
          <a:bodyPr wrap="square" lIns="0" rIns="0" tIns="0" bIns="0" anchor="t"/>
          <a:lstStyle/>
          <a:p>
            <a:pPr algn="l">
              <a:spcAft>
                <a:spcPts val="300"/>
              </a:spcAft>
              <a:buNone/>
            </a:pPr>
            <a:r>
              <a:rPr sz="850" b="1" i="0">
                <a:solidFill>
                  <a:srgbClr val="0F172A"/>
                </a:solidFill>
                <a:latin typeface="Arial"/>
              </a:rPr>
              <a:t>Water path:</a:t>
            </a:r>
            <a:r>
              <a:rPr sz="850" b="0" i="0">
                <a:solidFill>
                  <a:srgbClr val="334155"/>
                </a:solidFill>
                <a:latin typeface="Arial"/>
              </a:rPr>
              <a:t> hose (7), pump (6), valve 1, filter (3), UV (2), valve 2, spout (1). Test water goes through the cell (4) to the waste outlet (8).</a:t>
            </a:r>
          </a:p>
          <a:p>
            <a:pPr algn="l">
              <a:spcAft>
                <a:spcPts val="300"/>
              </a:spcAft>
              <a:buNone/>
            </a:pPr>
            <a:r>
              <a:rPr sz="850" b="1" i="0">
                <a:solidFill>
                  <a:srgbClr val="0F172A"/>
                </a:solidFill>
                <a:latin typeface="Arial"/>
              </a:rPr>
              <a:t>Changing the filter:</a:t>
            </a:r>
            <a:r>
              <a:rPr sz="850" b="0" i="0">
                <a:solidFill>
                  <a:srgbClr val="334155"/>
                </a:solidFill>
                <a:latin typeface="Arial"/>
              </a:rPr>
              <a:t> unscrew the cap and give the cartridge a quarter turn.</a:t>
            </a:r>
          </a:p>
          <a:p>
            <a:pPr algn="l">
              <a:spcAft>
                <a:spcPts val="300"/>
              </a:spcAft>
              <a:buNone/>
            </a:pPr>
            <a:r>
              <a:rPr sz="850" b="1" i="0">
                <a:solidFill>
                  <a:srgbClr val="0F172A"/>
                </a:solidFill>
                <a:latin typeface="Arial"/>
              </a:rPr>
              <a:t>Size:</a:t>
            </a:r>
            <a:r>
              <a:rPr sz="850" b="0" i="0">
                <a:solidFill>
                  <a:srgbClr val="334155"/>
                </a:solidFill>
                <a:latin typeface="Arial"/>
              </a:rPr>
              <a:t> about 60 × 210 mm now, aiming for 50 × 170 mm.</a:t>
            </a:r>
          </a:p>
        </p:txBody>
      </p:sp>
      <p:pic>
        <p:nvPicPr>
          <p:cNvPr id="39" name="Note bar" descr="image.png"/>
          <p:cNvPicPr>
            <a:picLocks noChangeAspect="1"/>
          </p:cNvPicPr>
          <p:nvPr/>
        </p:nvPicPr>
        <p:blipFill>
          <a:blip r:embed="rId8"/>
          <a:stretch>
            <a:fillRect/>
          </a:stretch>
        </p:blipFill>
        <p:spPr>
          <a:xfrm>
            <a:off x="533095" y="5715000"/>
            <a:ext cx="11125504" cy="363016"/>
          </a:xfrm>
          <a:prstGeom prst="rect">
            <a:avLst/>
          </a:prstGeom>
        </p:spPr>
      </p:pic>
      <p:sp>
        <p:nvSpPr>
          <p:cNvPr id="40"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About these pictures:</a:t>
            </a:r>
            <a:r>
              <a:rPr sz="850" b="0" i="0">
                <a:solidFill>
                  <a:srgbClr val="334155"/>
                </a:solidFill>
                <a:latin typeface="Arial"/>
              </a:rPr>
              <a:t> they are concept renders. Our actual parametric FreeCAD model is in the project repository, and there is a screenshot of it on slide 13.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Mechanical Specs: Materials and Our Checks</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graphicFrame>
        <p:nvGraphicFramePr>
          <p:cNvPr id="7" name="Table 6"/>
          <p:cNvGraphicFramePr>
            <a:graphicFrameLocks noGrp="1"/>
          </p:cNvGraphicFramePr>
          <p:nvPr/>
        </p:nvGraphicFramePr>
        <p:xfrm>
          <a:off x="533095" y="960120"/>
          <a:ext cx="6263640" cy="3584448"/>
        </p:xfrm>
        <a:graphic>
          <a:graphicData uri="http://schemas.openxmlformats.org/drawingml/2006/table">
            <a:tbl>
              <a:tblPr firstRow="0" bandRow="0">
                <a:tableStyleId>{2D5ABB26-0587-4C30-8999-92F81FD0307C}</a:tableStyleId>
              </a:tblPr>
              <a:tblGrid>
                <a:gridCol w="1188720"/>
                <a:gridCol w="2057400"/>
                <a:gridCol w="2057400"/>
                <a:gridCol w="960120"/>
              </a:tblGrid>
              <a:tr h="512064">
                <a:tc>
                  <a:txBody>
                    <a:bodyPr wrap="square"/>
                    <a:lstStyle/>
                    <a:p>
                      <a:pPr algn="l"/>
                      <a:r>
                        <a:rPr sz="800" b="1" i="0">
                          <a:solidFill>
                            <a:srgbClr val="0F172A"/>
                          </a:solidFill>
                          <a:latin typeface="Arial"/>
                        </a:rPr>
                        <a:t>Part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800" b="1" i="0">
                          <a:solidFill>
                            <a:srgbClr val="0F172A"/>
                          </a:solidFill>
                          <a:latin typeface="Arial"/>
                        </a:rPr>
                        <a:t>Material we picked</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800" b="1" i="0">
                          <a:solidFill>
                            <a:srgbClr val="0F172A"/>
                          </a:solidFill>
                          <a:latin typeface="Arial"/>
                        </a:rPr>
                        <a:t>Why</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800" b="1" i="0">
                          <a:solidFill>
                            <a:srgbClr val="0F172A"/>
                          </a:solidFill>
                          <a:latin typeface="Arial"/>
                        </a:rPr>
                        <a:t>Status</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r>
              <a:tr h="512064">
                <a:tc>
                  <a:txBody>
                    <a:bodyPr wrap="square"/>
                    <a:lstStyle/>
                    <a:p>
                      <a:pPr algn="l"/>
                      <a:r>
                        <a:rPr sz="800" b="1" i="0">
                          <a:solidFill>
                            <a:srgbClr val="1E293B"/>
                          </a:solidFill>
                          <a:latin typeface="Arial"/>
                        </a:rPr>
                        <a:t>Body and cap</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3D-printed PETG for now; moulded PP or Tritan-type plastic later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Tough and light; easy to print today, easy to mould later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Need to confirm it is food-safe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512064">
                <a:tc>
                  <a:txBody>
                    <a:bodyPr wrap="square"/>
                    <a:lstStyle/>
                    <a:p>
                      <a:pPr algn="l"/>
                      <a:r>
                        <a:rPr sz="800" b="1" i="0">
                          <a:solidFill>
                            <a:srgbClr val="1E293B"/>
                          </a:solidFill>
                          <a:latin typeface="Arial"/>
                        </a:rPr>
                        <a:t>Water tubes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PP fittings and platinum-cured silicone tube, 3 mm inside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Bends around tight corners and is safe with water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Need the supplier’s certificate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512064">
                <a:tc>
                  <a:txBody>
                    <a:bodyPr wrap="square"/>
                    <a:lstStyle/>
                    <a:p>
                      <a:pPr algn="l"/>
                      <a:r>
                        <a:rPr sz="800" b="1" i="0">
                          <a:solidFill>
                            <a:srgbClr val="1E293B"/>
                          </a:solidFill>
                          <a:latin typeface="Arial"/>
                        </a:rPr>
                        <a:t>Test cell</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Clear acrylic with an infrared window; titanium or stainless-steel pins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Clear enough for the cloudiness sensor; pins that won’t rust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Our choice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512064">
                <a:tc>
                  <a:txBody>
                    <a:bodyPr wrap="square"/>
                    <a:lstStyle/>
                    <a:p>
                      <a:pPr algn="l"/>
                      <a:r>
                        <a:rPr sz="800" b="1" i="0">
                          <a:solidFill>
                            <a:srgbClr val="1E293B"/>
                          </a:solidFill>
                          <a:latin typeface="Arial"/>
                        </a:rPr>
                        <a:t>UV-C chamber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Quartz window with a PTFE reflector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UV-C damages most plastics, but passes through quartz</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Need supplier data</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512064">
                <a:tc>
                  <a:txBody>
                    <a:bodyPr wrap="square"/>
                    <a:lstStyle/>
                    <a:p>
                      <a:pPr algn="l"/>
                      <a:r>
                        <a:rPr sz="800" b="1" i="0">
                          <a:solidFill>
                            <a:srgbClr val="1E293B"/>
                          </a:solidFill>
                          <a:latin typeface="Arial"/>
                        </a:rPr>
                        <a:t>Cartridge and seals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PP housing with twist-lock tabs; EPDM or silicone O-rings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Quick to swap, and it seals well</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800" b="0" i="0">
                          <a:solidFill>
                            <a:srgbClr val="334155"/>
                          </a:solidFill>
                          <a:latin typeface="Arial"/>
                        </a:rPr>
                        <a:t>Need to confirm</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512064">
                <a:tc>
                  <a:txBody>
                    <a:bodyPr wrap="square"/>
                    <a:lstStyle/>
                    <a:p>
                      <a:pPr algn="l"/>
                      <a:r>
                        <a:rPr sz="800" b="1" i="0">
                          <a:solidFill>
                            <a:srgbClr val="1E293B"/>
                          </a:solidFill>
                          <a:latin typeface="Arial"/>
                        </a:rPr>
                        <a:t>Electronics side and grip</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Flame-retardant PC/ABS, a silicone grip sleeve, stainless screws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Protects the battery; easy to hold when wet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800" b="0" i="0">
                          <a:solidFill>
                            <a:srgbClr val="334155"/>
                          </a:solidFill>
                          <a:latin typeface="Arial"/>
                        </a:rPr>
                        <a:t>Our choice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bl>
          </a:graphicData>
        </a:graphic>
      </p:graphicFrame>
      <p:sp>
        <p:nvSpPr>
          <p:cNvPr id="8" name="TextBox 7"/>
          <p:cNvSpPr txBox="1"/>
          <p:nvPr/>
        </p:nvSpPr>
        <p:spPr>
          <a:xfrm>
            <a:off x="533095" y="4681728"/>
            <a:ext cx="6263640" cy="822960"/>
          </a:xfrm>
          <a:prstGeom prst="rect">
            <a:avLst/>
          </a:prstGeom>
          <a:noFill/>
        </p:spPr>
        <p:txBody>
          <a:bodyPr wrap="square" lIns="0" rIns="0" tIns="0" bIns="0" anchor="t"/>
          <a:lstStyle/>
          <a:p>
            <a:pPr algn="l">
              <a:spcAft>
                <a:spcPts val="300"/>
              </a:spcAft>
              <a:buNone/>
            </a:pPr>
            <a:r>
              <a:rPr sz="850" b="0" i="1">
                <a:solidFill>
                  <a:srgbClr val="64748B"/>
                </a:solidFill>
                <a:latin typeface="Arial"/>
              </a:rPr>
              <a:t>We weighed safety with water, rust, how easy it is to make, leaks, upkeep, weight and cost. Before we lock anything in, we need supplier sheets showing each material is safe for drinking water between 5 and 40 °C.</a:t>
            </a:r>
          </a:p>
        </p:txBody>
      </p:sp>
      <p:sp>
        <p:nvSpPr>
          <p:cNvPr id="9" name="Rounded Rectangle 8"/>
          <p:cNvSpPr/>
          <p:nvPr/>
        </p:nvSpPr>
        <p:spPr>
          <a:xfrm>
            <a:off x="6967728" y="960120"/>
            <a:ext cx="4690872" cy="4617720"/>
          </a:xfrm>
          <a:prstGeom prst="roundRect">
            <a:avLst>
              <a:gd name="adj" fmla="val 158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image.png"/>
          <p:cNvPicPr>
            <a:picLocks noChangeAspect="1"/>
          </p:cNvPicPr>
          <p:nvPr/>
        </p:nvPicPr>
        <p:blipFill>
          <a:blip r:embed="rId5"/>
          <a:stretch>
            <a:fillRect/>
          </a:stretch>
        </p:blipFill>
        <p:spPr>
          <a:xfrm>
            <a:off x="7123176" y="1115568"/>
            <a:ext cx="179165" cy="173736"/>
          </a:xfrm>
          <a:prstGeom prst="rect">
            <a:avLst/>
          </a:prstGeom>
        </p:spPr>
      </p:pic>
      <p:sp>
        <p:nvSpPr>
          <p:cNvPr id="11" name="TextBox 10"/>
          <p:cNvSpPr txBox="1"/>
          <p:nvPr/>
        </p:nvSpPr>
        <p:spPr>
          <a:xfrm>
            <a:off x="7379208" y="1078992"/>
            <a:ext cx="4142231"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Our rough calculations and planned tests</a:t>
            </a:r>
          </a:p>
        </p:txBody>
      </p:sp>
      <p:sp>
        <p:nvSpPr>
          <p:cNvPr id="12" name="TextBox 11"/>
          <p:cNvSpPr txBox="1"/>
          <p:nvPr/>
        </p:nvSpPr>
        <p:spPr>
          <a:xfrm>
            <a:off x="7132320" y="1325880"/>
            <a:ext cx="4389120" cy="4206240"/>
          </a:xfrm>
          <a:prstGeom prst="rect">
            <a:avLst/>
          </a:prstGeom>
          <a:noFill/>
        </p:spPr>
        <p:txBody>
          <a:bodyPr wrap="square" lIns="0" rIns="0" tIns="0" bIns="0" anchor="t"/>
          <a:lstStyle/>
          <a:p>
            <a:pPr algn="l">
              <a:spcAft>
                <a:spcPts val="400"/>
              </a:spcAft>
              <a:buNone/>
            </a:pPr>
            <a:r>
              <a:rPr sz="900" b="1" i="0">
                <a:solidFill>
                  <a:srgbClr val="0F172A"/>
                </a:solidFill>
                <a:latin typeface="Arial"/>
              </a:rPr>
              <a:t>1. Weight:</a:t>
            </a:r>
            <a:r>
              <a:rPr sz="900" b="0" i="0">
                <a:solidFill>
                  <a:srgbClr val="334155"/>
                </a:solidFill>
                <a:latin typeface="Arial"/>
              </a:rPr>
              <a:t> body 120 g, wet cartridge 90 g, battery 47 g, pump 40 g, valves 30 g, board and screen 25 g, UV 15 g, test cell 30 g. That is about 400 g. These are estimates; we will weigh the real parts.</a:t>
            </a:r>
          </a:p>
          <a:p>
            <a:pPr algn="l">
              <a:spcAft>
                <a:spcPts val="400"/>
              </a:spcAft>
              <a:buNone/>
            </a:pPr>
            <a:r>
              <a:rPr sz="900" b="1" i="0">
                <a:solidFill>
                  <a:srgbClr val="0F172A"/>
                </a:solidFill>
                <a:latin typeface="Arial"/>
              </a:rPr>
              <a:t>2. Pressure loss in the tubes:</a:t>
            </a:r>
            <a:r>
              <a:rPr sz="900" b="0" i="0">
                <a:solidFill>
                  <a:srgbClr val="334155"/>
                </a:solidFill>
                <a:latin typeface="Arial"/>
              </a:rPr>
              <a:t> at 0.3 L per minute through a 3 mm tube, water moves at about 0.7 m/s and the flow is smooth (Re about 2,100). That costs only about 0.008 bar over our 0.3 m of tube. The membrane matters far more, so we watch it through the pump current.</a:t>
            </a:r>
          </a:p>
          <a:p>
            <a:pPr algn="l">
              <a:spcAft>
                <a:spcPts val="400"/>
              </a:spcAft>
              <a:buNone/>
            </a:pPr>
            <a:r>
              <a:rPr sz="900" b="1" i="0">
                <a:solidFill>
                  <a:srgbClr val="0F172A"/>
                </a:solidFill>
                <a:latin typeface="Arial"/>
              </a:rPr>
              <a:t>3. Leaks:</a:t>
            </a:r>
            <a:r>
              <a:rPr sz="900" b="0" i="0">
                <a:solidFill>
                  <a:srgbClr val="334155"/>
                </a:solidFill>
                <a:latin typeface="Arial"/>
              </a:rPr>
              <a:t> pressurise it to 1.5 times the pump’s maximum for 10 minutes. The electronics side must stay completely dry.</a:t>
            </a:r>
          </a:p>
          <a:p>
            <a:pPr algn="l">
              <a:spcAft>
                <a:spcPts val="400"/>
              </a:spcAft>
              <a:buNone/>
            </a:pPr>
            <a:r>
              <a:rPr sz="900" b="1" i="0">
                <a:solidFill>
                  <a:srgbClr val="0F172A"/>
                </a:solidFill>
                <a:latin typeface="Arial"/>
              </a:rPr>
              <a:t>4. Water and drops:</a:t>
            </a:r>
            <a:r>
              <a:rPr sz="900" b="0" i="0">
                <a:solidFill>
                  <a:srgbClr val="334155"/>
                </a:solidFill>
                <a:latin typeface="Arial"/>
              </a:rPr>
              <a:t> a 1 m, 30-minute dunk test (planned), and dropping it from 1 m onto each side with a full cartridge.</a:t>
            </a:r>
          </a:p>
          <a:p>
            <a:pPr algn="l">
              <a:spcAft>
                <a:spcPts val="400"/>
              </a:spcAft>
              <a:buNone/>
            </a:pPr>
            <a:r>
              <a:rPr sz="900" b="1" i="0">
                <a:solidFill>
                  <a:srgbClr val="0F172A"/>
                </a:solidFill>
                <a:latin typeface="Arial"/>
              </a:rPr>
              <a:t>5. Twist-lock and joints:</a:t>
            </a:r>
            <a:r>
              <a:rPr sz="900" b="0" i="0">
                <a:solidFill>
                  <a:srgbClr val="334155"/>
                </a:solidFill>
                <a:latin typeface="Arial"/>
              </a:rPr>
              <a:t> easy to turn (under 1 N·m), survives 500 twists, and every tube joint gets a pull test.</a:t>
            </a:r>
          </a:p>
          <a:p>
            <a:pPr algn="l">
              <a:spcAft>
                <a:spcPts val="300"/>
              </a:spcAft>
              <a:buNone/>
            </a:pPr>
            <a:r>
              <a:rPr sz="900" b="1" i="0">
                <a:solidFill>
                  <a:srgbClr val="0F172A"/>
                </a:solidFill>
                <a:latin typeface="Arial"/>
              </a:rPr>
              <a:t>6. Stress analysis:</a:t>
            </a:r>
            <a:r>
              <a:rPr sz="900" b="0" i="0">
                <a:solidFill>
                  <a:srgbClr val="334155"/>
                </a:solidFill>
                <a:latin typeface="Arial"/>
              </a:rPr>
              <a:t> not done yet. We will check the body in a drop and the twist-lock tabs, aiming for a safety factor of at least 2.</a:t>
            </a:r>
          </a:p>
        </p:txBody>
      </p:sp>
      <p:pic>
        <p:nvPicPr>
          <p:cNvPr id="13" name="Note bar" descr="image.png"/>
          <p:cNvPicPr>
            <a:picLocks noChangeAspect="1"/>
          </p:cNvPicPr>
          <p:nvPr/>
        </p:nvPicPr>
        <p:blipFill>
          <a:blip r:embed="rId6"/>
          <a:stretch>
            <a:fillRect/>
          </a:stretch>
        </p:blipFill>
        <p:spPr>
          <a:xfrm>
            <a:off x="533095" y="5715000"/>
            <a:ext cx="11125504" cy="363016"/>
          </a:xfrm>
          <a:prstGeom prst="rect">
            <a:avLst/>
          </a:prstGeom>
        </p:spPr>
      </p:pic>
      <p:sp>
        <p:nvSpPr>
          <p:cNvPr id="14"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To be clear:</a:t>
            </a:r>
            <a:r>
              <a:rPr sz="850" b="0" i="0">
                <a:solidFill>
                  <a:srgbClr val="334155"/>
                </a:solidFill>
                <a:latin typeface="Arial"/>
              </a:rPr>
              <a:t> we have not done any FEA yet and we are not claiming safety factors. These are hand calculations with our assumptions shown, and real measurements will replace them.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Electronics: Schematic Overview and Pin Map</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sp>
        <p:nvSpPr>
          <p:cNvPr id="7" name="Rounded Rectangle 6"/>
          <p:cNvSpPr/>
          <p:nvPr/>
        </p:nvSpPr>
        <p:spPr>
          <a:xfrm>
            <a:off x="533095" y="960120"/>
            <a:ext cx="2103120" cy="502920"/>
          </a:xfrm>
          <a:prstGeom prst="roundRect">
            <a:avLst>
              <a:gd name="adj" fmla="val 10909"/>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USB-C port</a:t>
            </a:r>
          </a:p>
          <a:p>
            <a:pPr algn="ctr">
              <a:spcAft>
                <a:spcPts val="0"/>
              </a:spcAft>
            </a:pPr>
            <a:r>
              <a:rPr sz="750" b="0" i="0">
                <a:solidFill>
                  <a:srgbClr val="334155"/>
                </a:solidFill>
                <a:latin typeface="Arial"/>
              </a:rPr>
              <a:t>charging, programming, downloading logs</a:t>
            </a:r>
          </a:p>
        </p:txBody>
      </p:sp>
      <p:cxnSp>
        <p:nvCxnSpPr>
          <p:cNvPr id="8" name="Connector 7"/>
          <p:cNvCxnSpPr/>
          <p:nvPr/>
        </p:nvCxnSpPr>
        <p:spPr>
          <a:xfrm>
            <a:off x="1581912" y="1463040"/>
            <a:ext cx="0" cy="182880"/>
          </a:xfrm>
          <a:prstGeom prst="line">
            <a:avLst/>
          </a:prstGeom>
          <a:ln w="19050">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33095" y="1645920"/>
            <a:ext cx="2103120" cy="502920"/>
          </a:xfrm>
          <a:prstGeom prst="roundRect">
            <a:avLst>
              <a:gd name="adj" fmla="val 10909"/>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Charger (MCP73831)</a:t>
            </a:r>
          </a:p>
          <a:p>
            <a:pPr algn="ctr">
              <a:spcAft>
                <a:spcPts val="0"/>
              </a:spcAft>
            </a:pPr>
            <a:r>
              <a:rPr sz="750" b="0" i="0">
                <a:solidFill>
                  <a:srgbClr val="334155"/>
                </a:solidFill>
                <a:latin typeface="Arial"/>
              </a:rPr>
              <a:t>charges at 500 mA</a:t>
            </a:r>
          </a:p>
        </p:txBody>
      </p:sp>
      <p:cxnSp>
        <p:nvCxnSpPr>
          <p:cNvPr id="10" name="Connector 9"/>
          <p:cNvCxnSpPr/>
          <p:nvPr/>
        </p:nvCxnSpPr>
        <p:spPr>
          <a:xfrm>
            <a:off x="1581912" y="2148840"/>
            <a:ext cx="0" cy="182880"/>
          </a:xfrm>
          <a:prstGeom prst="line">
            <a:avLst/>
          </a:prstGeom>
          <a:ln w="19050">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33095" y="2331720"/>
            <a:ext cx="2103120" cy="502920"/>
          </a:xfrm>
          <a:prstGeom prst="roundRect">
            <a:avLst>
              <a:gd name="adj" fmla="val 10909"/>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18650 battery</a:t>
            </a:r>
          </a:p>
          <a:p>
            <a:pPr algn="ctr">
              <a:spcAft>
                <a:spcPts val="0"/>
              </a:spcAft>
            </a:pPr>
            <a:r>
              <a:rPr sz="750" b="0" i="0">
                <a:solidFill>
                  <a:srgbClr val="334155"/>
                </a:solidFill>
                <a:latin typeface="Arial"/>
              </a:rPr>
              <a:t>built-in protection, fuse, level check</a:t>
            </a:r>
          </a:p>
        </p:txBody>
      </p:sp>
      <p:cxnSp>
        <p:nvCxnSpPr>
          <p:cNvPr id="12" name="Connector 11"/>
          <p:cNvCxnSpPr/>
          <p:nvPr/>
        </p:nvCxnSpPr>
        <p:spPr>
          <a:xfrm>
            <a:off x="1033271" y="2834640"/>
            <a:ext cx="0" cy="182880"/>
          </a:xfrm>
          <a:prstGeom prst="line">
            <a:avLst/>
          </a:prstGeom>
          <a:ln w="19050">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130552" y="2834640"/>
            <a:ext cx="0" cy="182880"/>
          </a:xfrm>
          <a:prstGeom prst="line">
            <a:avLst/>
          </a:prstGeom>
          <a:ln w="19050">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33095" y="3017520"/>
            <a:ext cx="1005840" cy="685800"/>
          </a:xfrm>
          <a:prstGeom prst="roundRect">
            <a:avLst>
              <a:gd name="adj" fmla="val 8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3.3 V supply</a:t>
            </a:r>
          </a:p>
          <a:p>
            <a:pPr algn="ctr">
              <a:spcAft>
                <a:spcPts val="0"/>
              </a:spcAft>
            </a:pPr>
            <a:r>
              <a:rPr sz="700" b="0" i="0">
                <a:solidFill>
                  <a:srgbClr val="334155"/>
                </a:solidFill>
                <a:latin typeface="Arial"/>
              </a:rPr>
              <a:t>chip, sensors, screen</a:t>
            </a:r>
          </a:p>
        </p:txBody>
      </p:sp>
      <p:sp>
        <p:nvSpPr>
          <p:cNvPr id="15" name="Rounded Rectangle 14"/>
          <p:cNvSpPr/>
          <p:nvPr/>
        </p:nvSpPr>
        <p:spPr>
          <a:xfrm>
            <a:off x="1627632" y="3017520"/>
            <a:ext cx="1005840" cy="685800"/>
          </a:xfrm>
          <a:prstGeom prst="roundRect">
            <a:avLst>
              <a:gd name="adj" fmla="val 8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5 V supply</a:t>
            </a:r>
          </a:p>
          <a:p>
            <a:pPr algn="ctr">
              <a:spcAft>
                <a:spcPts val="0"/>
              </a:spcAft>
            </a:pPr>
            <a:r>
              <a:rPr sz="700" b="0" i="0">
                <a:solidFill>
                  <a:srgbClr val="334155"/>
                </a:solidFill>
                <a:latin typeface="Arial"/>
              </a:rPr>
              <a:t>pump, valves, UV</a:t>
            </a:r>
          </a:p>
        </p:txBody>
      </p:sp>
      <p:cxnSp>
        <p:nvCxnSpPr>
          <p:cNvPr id="16" name="Connector 15"/>
          <p:cNvCxnSpPr/>
          <p:nvPr/>
        </p:nvCxnSpPr>
        <p:spPr>
          <a:xfrm>
            <a:off x="2633472" y="3355848"/>
            <a:ext cx="338328" cy="0"/>
          </a:xfrm>
          <a:prstGeom prst="line">
            <a:avLst/>
          </a:prstGeom>
          <a:ln w="19050">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30552" y="3703320"/>
            <a:ext cx="0" cy="822960"/>
          </a:xfrm>
          <a:prstGeom prst="line">
            <a:avLst/>
          </a:prstGeom>
          <a:ln w="19050">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3794760"/>
            <a:ext cx="1463040" cy="640080"/>
          </a:xfrm>
          <a:prstGeom prst="rect">
            <a:avLst/>
          </a:prstGeom>
          <a:noFill/>
        </p:spPr>
        <p:txBody>
          <a:bodyPr wrap="square" lIns="0" rIns="0" tIns="0" bIns="0" anchor="t"/>
          <a:lstStyle/>
          <a:p>
            <a:pPr algn="l">
              <a:spcAft>
                <a:spcPts val="300"/>
              </a:spcAft>
              <a:buNone/>
            </a:pPr>
            <a:r>
              <a:rPr sz="750" b="0" i="1">
                <a:solidFill>
                  <a:srgbClr val="64748B"/>
                </a:solidFill>
                <a:latin typeface="Arial"/>
              </a:rPr>
              <a:t>Sleeps between uses; one button press wakes it up</a:t>
            </a:r>
          </a:p>
        </p:txBody>
      </p:sp>
      <p:sp>
        <p:nvSpPr>
          <p:cNvPr id="19" name="Rounded Rectangle 18"/>
          <p:cNvSpPr/>
          <p:nvPr/>
        </p:nvSpPr>
        <p:spPr>
          <a:xfrm>
            <a:off x="2971800" y="960120"/>
            <a:ext cx="2057400" cy="3337560"/>
          </a:xfrm>
          <a:prstGeom prst="roundRect">
            <a:avLst>
              <a:gd name="adj" fmla="val 3555"/>
            </a:avLst>
          </a:prstGeom>
          <a:solidFill>
            <a:srgbClr val="EEF2FF"/>
          </a:solidFill>
          <a:ln w="9525">
            <a:solidFill>
              <a:srgbClr val="A5B4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063240" y="1024128"/>
            <a:ext cx="1874519" cy="3200400"/>
          </a:xfrm>
          <a:prstGeom prst="rect">
            <a:avLst/>
          </a:prstGeom>
          <a:noFill/>
        </p:spPr>
        <p:txBody>
          <a:bodyPr wrap="square" lIns="0" rIns="0" tIns="0" bIns="0" anchor="t"/>
          <a:lstStyle/>
          <a:p>
            <a:pPr algn="l">
              <a:spcAft>
                <a:spcPts val="100"/>
              </a:spcAft>
              <a:buNone/>
            </a:pPr>
            <a:r>
              <a:rPr sz="900" b="0" i="0">
                <a:solidFill>
                  <a:srgbClr val="1E398A"/>
                </a:solidFill>
                <a:latin typeface="Arial Black"/>
              </a:rPr>
              <a:t>ESP32-C3</a:t>
            </a:r>
          </a:p>
          <a:p>
            <a:pPr algn="l">
              <a:spcAft>
                <a:spcPts val="500"/>
              </a:spcAft>
              <a:buNone/>
            </a:pPr>
            <a:r>
              <a:rPr sz="750" b="0" i="0">
                <a:solidFill>
                  <a:srgbClr val="64748B"/>
                </a:solidFill>
                <a:latin typeface="Arial"/>
              </a:rPr>
              <a:t>Wi-Fi and Bluetooth</a:t>
            </a:r>
          </a:p>
          <a:p>
            <a:pPr algn="l">
              <a:spcAft>
                <a:spcPts val="150"/>
              </a:spcAft>
              <a:buNone/>
            </a:pPr>
            <a:r>
              <a:rPr sz="800" b="1" i="0">
                <a:solidFill>
                  <a:srgbClr val="0F172A"/>
                </a:solidFill>
                <a:latin typeface="Arial"/>
              </a:rPr>
              <a:t>Sensor bus</a:t>
            </a:r>
            <a:r>
              <a:rPr sz="800" b="0" i="0">
                <a:solidFill>
                  <a:srgbClr val="334155"/>
                </a:solidFill>
                <a:latin typeface="Arial"/>
              </a:rPr>
              <a:t> pins 6, 7</a:t>
            </a:r>
          </a:p>
          <a:p>
            <a:pPr algn="l">
              <a:spcAft>
                <a:spcPts val="150"/>
              </a:spcAft>
              <a:buNone/>
            </a:pPr>
            <a:r>
              <a:rPr sz="800" b="1" i="0">
                <a:solidFill>
                  <a:srgbClr val="0F172A"/>
                </a:solidFill>
                <a:latin typeface="Arial"/>
              </a:rPr>
              <a:t>Temperature</a:t>
            </a:r>
            <a:r>
              <a:rPr sz="800" b="0" i="0">
                <a:solidFill>
                  <a:srgbClr val="334155"/>
                </a:solidFill>
                <a:latin typeface="Arial"/>
              </a:rPr>
              <a:t> pin 21</a:t>
            </a:r>
          </a:p>
          <a:p>
            <a:pPr algn="l">
              <a:spcAft>
                <a:spcPts val="150"/>
              </a:spcAft>
              <a:buNone/>
            </a:pPr>
            <a:r>
              <a:rPr sz="800" b="1" i="0">
                <a:solidFill>
                  <a:srgbClr val="0F172A"/>
                </a:solidFill>
                <a:latin typeface="Arial"/>
              </a:rPr>
              <a:t>Pump</a:t>
            </a:r>
            <a:r>
              <a:rPr sz="800" b="0" i="0">
                <a:solidFill>
                  <a:srgbClr val="334155"/>
                </a:solidFill>
                <a:latin typeface="Arial"/>
              </a:rPr>
              <a:t> pin 10</a:t>
            </a:r>
          </a:p>
          <a:p>
            <a:pPr algn="l">
              <a:spcAft>
                <a:spcPts val="150"/>
              </a:spcAft>
              <a:buNone/>
            </a:pPr>
            <a:r>
              <a:rPr sz="800" b="1" i="0">
                <a:solidFill>
                  <a:srgbClr val="0F172A"/>
                </a:solidFill>
                <a:latin typeface="Arial"/>
              </a:rPr>
              <a:t>Valves</a:t>
            </a:r>
            <a:r>
              <a:rPr sz="800" b="0" i="0">
                <a:solidFill>
                  <a:srgbClr val="334155"/>
                </a:solidFill>
                <a:latin typeface="Arial"/>
              </a:rPr>
              <a:t> pins 4, 5</a:t>
            </a:r>
          </a:p>
          <a:p>
            <a:pPr algn="l">
              <a:spcAft>
                <a:spcPts val="150"/>
              </a:spcAft>
              <a:buNone/>
            </a:pPr>
            <a:r>
              <a:rPr sz="800" b="1" i="0">
                <a:solidFill>
                  <a:srgbClr val="0F172A"/>
                </a:solidFill>
                <a:latin typeface="Arial"/>
              </a:rPr>
              <a:t>UV light</a:t>
            </a:r>
            <a:r>
              <a:rPr sz="800" b="0" i="0">
                <a:solidFill>
                  <a:srgbClr val="334155"/>
                </a:solidFill>
                <a:latin typeface="Arial"/>
              </a:rPr>
              <a:t> pin 1</a:t>
            </a:r>
          </a:p>
          <a:p>
            <a:pPr algn="l">
              <a:spcAft>
                <a:spcPts val="150"/>
              </a:spcAft>
              <a:buNone/>
            </a:pPr>
            <a:r>
              <a:rPr sz="800" b="1" i="0">
                <a:solidFill>
                  <a:srgbClr val="0F172A"/>
                </a:solidFill>
                <a:latin typeface="Arial"/>
              </a:rPr>
              <a:t>IR light</a:t>
            </a:r>
            <a:r>
              <a:rPr sz="800" b="0" i="0">
                <a:solidFill>
                  <a:srgbClr val="334155"/>
                </a:solidFill>
                <a:latin typeface="Arial"/>
              </a:rPr>
              <a:t> pin 0</a:t>
            </a:r>
          </a:p>
          <a:p>
            <a:pPr algn="l">
              <a:spcAft>
                <a:spcPts val="150"/>
              </a:spcAft>
              <a:buNone/>
            </a:pPr>
            <a:r>
              <a:rPr sz="800" b="1" i="0">
                <a:solidFill>
                  <a:srgbClr val="0F172A"/>
                </a:solidFill>
                <a:latin typeface="Arial"/>
              </a:rPr>
              <a:t>TDS power</a:t>
            </a:r>
            <a:r>
              <a:rPr sz="800" b="0" i="0">
                <a:solidFill>
                  <a:srgbClr val="334155"/>
                </a:solidFill>
                <a:latin typeface="Arial"/>
              </a:rPr>
              <a:t> pin 3</a:t>
            </a:r>
          </a:p>
          <a:p>
            <a:pPr algn="l">
              <a:spcAft>
                <a:spcPts val="150"/>
              </a:spcAft>
              <a:buNone/>
            </a:pPr>
            <a:r>
              <a:rPr sz="800" b="1" i="0">
                <a:solidFill>
                  <a:srgbClr val="0F172A"/>
                </a:solidFill>
                <a:latin typeface="Arial"/>
              </a:rPr>
              <a:t>Button, lights</a:t>
            </a:r>
            <a:r>
              <a:rPr sz="800" b="0" i="0">
                <a:solidFill>
                  <a:srgbClr val="334155"/>
                </a:solidFill>
                <a:latin typeface="Arial"/>
              </a:rPr>
              <a:t> pins 9, 20</a:t>
            </a:r>
          </a:p>
          <a:p>
            <a:pPr algn="l">
              <a:spcAft>
                <a:spcPts val="150"/>
              </a:spcAft>
              <a:buNone/>
            </a:pPr>
            <a:r>
              <a:rPr sz="800" b="1" i="0">
                <a:solidFill>
                  <a:srgbClr val="0F172A"/>
                </a:solidFill>
                <a:latin typeface="Arial"/>
              </a:rPr>
              <a:t>Leak sensor</a:t>
            </a:r>
            <a:r>
              <a:rPr sz="800" b="0" i="0">
                <a:solidFill>
                  <a:srgbClr val="334155"/>
                </a:solidFill>
                <a:latin typeface="Arial"/>
              </a:rPr>
              <a:t> pin 2</a:t>
            </a:r>
          </a:p>
          <a:p>
            <a:pPr algn="l">
              <a:spcAft>
                <a:spcPts val="150"/>
              </a:spcAft>
              <a:buNone/>
            </a:pPr>
            <a:r>
              <a:rPr sz="800" b="1" i="0">
                <a:solidFill>
                  <a:srgbClr val="0F172A"/>
                </a:solidFill>
                <a:latin typeface="Arial"/>
              </a:rPr>
              <a:t>USB</a:t>
            </a:r>
            <a:r>
              <a:rPr sz="800" b="0" i="0">
                <a:solidFill>
                  <a:srgbClr val="334155"/>
                </a:solidFill>
                <a:latin typeface="Arial"/>
              </a:rPr>
              <a:t> pins 18, 19</a:t>
            </a:r>
          </a:p>
        </p:txBody>
      </p:sp>
      <p:sp>
        <p:nvSpPr>
          <p:cNvPr id="21" name="Rounded Rectangle 20"/>
          <p:cNvSpPr/>
          <p:nvPr/>
        </p:nvSpPr>
        <p:spPr>
          <a:xfrm>
            <a:off x="5349240" y="960120"/>
            <a:ext cx="2286000" cy="566928"/>
          </a:xfrm>
          <a:prstGeom prst="roundRect">
            <a:avLst>
              <a:gd name="adj" fmla="val 9677"/>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ADS1115 converter</a:t>
            </a:r>
          </a:p>
          <a:p>
            <a:pPr algn="ctr">
              <a:spcAft>
                <a:spcPts val="0"/>
              </a:spcAft>
            </a:pPr>
            <a:r>
              <a:rPr sz="750" b="0" i="0">
                <a:solidFill>
                  <a:srgbClr val="334155"/>
                </a:solidFill>
                <a:latin typeface="Arial"/>
              </a:rPr>
              <a:t>reads pH, TDS, cloudiness and battery level</a:t>
            </a:r>
          </a:p>
        </p:txBody>
      </p:sp>
      <p:cxnSp>
        <p:nvCxnSpPr>
          <p:cNvPr id="22" name="Connector 21"/>
          <p:cNvCxnSpPr/>
          <p:nvPr/>
        </p:nvCxnSpPr>
        <p:spPr>
          <a:xfrm flipH="1">
            <a:off x="5029200" y="1243584"/>
            <a:ext cx="320040" cy="0"/>
          </a:xfrm>
          <a:prstGeom prst="line">
            <a:avLst/>
          </a:prstGeom>
          <a:ln w="1587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349240" y="1627632"/>
            <a:ext cx="2286000" cy="475488"/>
          </a:xfrm>
          <a:prstGeom prst="roundRect">
            <a:avLst>
              <a:gd name="adj" fmla="val 11538"/>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DS18B20</a:t>
            </a:r>
          </a:p>
          <a:p>
            <a:pPr algn="ctr">
              <a:spcAft>
                <a:spcPts val="0"/>
              </a:spcAft>
            </a:pPr>
            <a:r>
              <a:rPr sz="750" b="0" i="0">
                <a:solidFill>
                  <a:srgbClr val="334155"/>
                </a:solidFill>
                <a:latin typeface="Arial"/>
              </a:rPr>
              <a:t>temperature, inside the test cell</a:t>
            </a:r>
          </a:p>
        </p:txBody>
      </p:sp>
      <p:cxnSp>
        <p:nvCxnSpPr>
          <p:cNvPr id="24" name="Connector 23"/>
          <p:cNvCxnSpPr/>
          <p:nvPr/>
        </p:nvCxnSpPr>
        <p:spPr>
          <a:xfrm flipH="1">
            <a:off x="5029200" y="1865376"/>
            <a:ext cx="320040" cy="0"/>
          </a:xfrm>
          <a:prstGeom prst="line">
            <a:avLst/>
          </a:prstGeom>
          <a:ln w="1587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349240" y="2203704"/>
            <a:ext cx="2286000" cy="566928"/>
          </a:xfrm>
          <a:prstGeom prst="roundRect">
            <a:avLst>
              <a:gd name="adj" fmla="val 9677"/>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INA219</a:t>
            </a:r>
          </a:p>
          <a:p>
            <a:pPr algn="ctr">
              <a:spcAft>
                <a:spcPts val="0"/>
              </a:spcAft>
            </a:pPr>
            <a:r>
              <a:rPr sz="750" b="0" i="0">
                <a:solidFill>
                  <a:srgbClr val="334155"/>
                </a:solidFill>
                <a:latin typeface="Arial"/>
              </a:rPr>
              <a:t>watches pump current to spot blockages or running dry</a:t>
            </a:r>
          </a:p>
        </p:txBody>
      </p:sp>
      <p:cxnSp>
        <p:nvCxnSpPr>
          <p:cNvPr id="26" name="Connector 25"/>
          <p:cNvCxnSpPr/>
          <p:nvPr/>
        </p:nvCxnSpPr>
        <p:spPr>
          <a:xfrm flipH="1">
            <a:off x="5029200" y="2487168"/>
            <a:ext cx="320040" cy="0"/>
          </a:xfrm>
          <a:prstGeom prst="line">
            <a:avLst/>
          </a:prstGeom>
          <a:ln w="1587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349240" y="2871216"/>
            <a:ext cx="2286000" cy="475488"/>
          </a:xfrm>
          <a:prstGeom prst="roundRect">
            <a:avLst>
              <a:gd name="adj" fmla="val 11538"/>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Small OLED screen</a:t>
            </a:r>
          </a:p>
          <a:p>
            <a:pPr algn="ctr">
              <a:spcAft>
                <a:spcPts val="0"/>
              </a:spcAft>
            </a:pPr>
            <a:r>
              <a:rPr sz="750" b="0" i="0">
                <a:solidFill>
                  <a:srgbClr val="334155"/>
                </a:solidFill>
                <a:latin typeface="Arial"/>
              </a:rPr>
              <a:t>shows the result on the capsule</a:t>
            </a:r>
          </a:p>
        </p:txBody>
      </p:sp>
      <p:cxnSp>
        <p:nvCxnSpPr>
          <p:cNvPr id="28" name="Connector 27"/>
          <p:cNvCxnSpPr/>
          <p:nvPr/>
        </p:nvCxnSpPr>
        <p:spPr>
          <a:xfrm flipH="1">
            <a:off x="5029200" y="3108960"/>
            <a:ext cx="320040" cy="0"/>
          </a:xfrm>
          <a:prstGeom prst="line">
            <a:avLst/>
          </a:prstGeom>
          <a:ln w="1587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349240" y="3447288"/>
            <a:ext cx="2286000" cy="566928"/>
          </a:xfrm>
          <a:prstGeom prst="roundRect">
            <a:avLst>
              <a:gd name="adj" fmla="val 9677"/>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Simple inputs</a:t>
            </a:r>
          </a:p>
          <a:p>
            <a:pPr algn="ctr">
              <a:spcAft>
                <a:spcPts val="0"/>
              </a:spcAft>
            </a:pPr>
            <a:r>
              <a:rPr sz="750" b="0" i="0">
                <a:solidFill>
                  <a:srgbClr val="334155"/>
                </a:solidFill>
                <a:latin typeface="Arial"/>
              </a:rPr>
              <a:t>button, leak sensor, cap-locked switch</a:t>
            </a:r>
          </a:p>
        </p:txBody>
      </p:sp>
      <p:cxnSp>
        <p:nvCxnSpPr>
          <p:cNvPr id="30" name="Connector 29"/>
          <p:cNvCxnSpPr/>
          <p:nvPr/>
        </p:nvCxnSpPr>
        <p:spPr>
          <a:xfrm flipH="1">
            <a:off x="5029200" y="3730752"/>
            <a:ext cx="320040" cy="0"/>
          </a:xfrm>
          <a:prstGeom prst="line">
            <a:avLst/>
          </a:prstGeom>
          <a:ln w="15875">
            <a:solidFill>
              <a:srgbClr val="1E39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33095" y="4526280"/>
            <a:ext cx="3657600" cy="658368"/>
          </a:xfrm>
          <a:prstGeom prst="roundRect">
            <a:avLst>
              <a:gd name="adj" fmla="val 8333"/>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Five electronic switches (MOSFETs)</a:t>
            </a:r>
          </a:p>
          <a:p>
            <a:pPr algn="ctr">
              <a:spcAft>
                <a:spcPts val="0"/>
              </a:spcAft>
            </a:pPr>
            <a:r>
              <a:rPr sz="750" b="0" i="0">
                <a:solidFill>
                  <a:srgbClr val="334155"/>
                </a:solidFill>
                <a:latin typeface="Arial"/>
              </a:rPr>
              <a:t>let the 3.3 V chip turn the pump, valves and lights on and off, with diodes to protect against voltage spikes</a:t>
            </a:r>
          </a:p>
        </p:txBody>
      </p:sp>
      <p:cxnSp>
        <p:nvCxnSpPr>
          <p:cNvPr id="32" name="Connector 31"/>
          <p:cNvCxnSpPr/>
          <p:nvPr/>
        </p:nvCxnSpPr>
        <p:spPr>
          <a:xfrm>
            <a:off x="4000500" y="4297680"/>
            <a:ext cx="0" cy="228600"/>
          </a:xfrm>
          <a:prstGeom prst="line">
            <a:avLst/>
          </a:prstGeom>
          <a:ln w="1587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187952" y="4855464"/>
            <a:ext cx="338328" cy="0"/>
          </a:xfrm>
          <a:prstGeom prst="line">
            <a:avLst/>
          </a:prstGeom>
          <a:ln w="15875">
            <a:solidFill>
              <a:srgbClr val="C241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526280" y="4526280"/>
            <a:ext cx="3108960" cy="658368"/>
          </a:xfrm>
          <a:prstGeom prst="roundRect">
            <a:avLst>
              <a:gd name="adj" fmla="val 8333"/>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F172A"/>
                </a:solidFill>
                <a:latin typeface="Arial"/>
              </a:rPr>
              <a:t>What they power (5 V)</a:t>
            </a:r>
          </a:p>
          <a:p>
            <a:pPr algn="ctr">
              <a:spcAft>
                <a:spcPts val="0"/>
              </a:spcAft>
            </a:pPr>
            <a:r>
              <a:rPr sz="750" b="0" i="0">
                <a:solidFill>
                  <a:srgbClr val="334155"/>
                </a:solidFill>
                <a:latin typeface="Arial"/>
              </a:rPr>
              <a:t>pump, two valves, UV-C light (only when the cap is locked), infrared light</a:t>
            </a:r>
          </a:p>
        </p:txBody>
      </p:sp>
      <p:sp>
        <p:nvSpPr>
          <p:cNvPr id="35" name="TextBox 34"/>
          <p:cNvSpPr txBox="1"/>
          <p:nvPr/>
        </p:nvSpPr>
        <p:spPr>
          <a:xfrm>
            <a:off x="533095" y="5257800"/>
            <a:ext cx="7132320" cy="365760"/>
          </a:xfrm>
          <a:prstGeom prst="rect">
            <a:avLst/>
          </a:prstGeom>
          <a:noFill/>
        </p:spPr>
        <p:txBody>
          <a:bodyPr wrap="square" lIns="0" rIns="0" tIns="0" bIns="0" anchor="t"/>
          <a:lstStyle/>
          <a:p>
            <a:pPr algn="l">
              <a:spcAft>
                <a:spcPts val="300"/>
              </a:spcAft>
              <a:buNone/>
            </a:pPr>
            <a:r>
              <a:rPr sz="800" b="0" i="1">
                <a:solidFill>
                  <a:srgbClr val="64748B"/>
                </a:solidFill>
                <a:latin typeface="Arial"/>
              </a:rPr>
              <a:t>A simplified block view. Our full KiCad schematic has 75 parts and passes KiCad’s electrical check with no errors or warnings. It is in the repository (see slide 13).</a:t>
            </a:r>
          </a:p>
        </p:txBody>
      </p:sp>
      <p:graphicFrame>
        <p:nvGraphicFramePr>
          <p:cNvPr id="36" name="Table 35"/>
          <p:cNvGraphicFramePr>
            <a:graphicFrameLocks noGrp="1"/>
          </p:cNvGraphicFramePr>
          <p:nvPr/>
        </p:nvGraphicFramePr>
        <p:xfrm>
          <a:off x="7818120" y="960120"/>
          <a:ext cx="3840480" cy="3017520"/>
        </p:xfrm>
        <a:graphic>
          <a:graphicData uri="http://schemas.openxmlformats.org/drawingml/2006/table">
            <a:tbl>
              <a:tblPr firstRow="0" bandRow="0">
                <a:tableStyleId>{2D5ABB26-0587-4C30-8999-92F81FD0307C}</a:tableStyleId>
              </a:tblPr>
              <a:tblGrid>
                <a:gridCol w="822960"/>
                <a:gridCol w="1371600"/>
                <a:gridCol w="1645920"/>
              </a:tblGrid>
              <a:tr h="274320">
                <a:tc>
                  <a:txBody>
                    <a:bodyPr wrap="square"/>
                    <a:lstStyle/>
                    <a:p>
                      <a:pPr algn="l"/>
                      <a:r>
                        <a:rPr sz="750" b="1" i="0">
                          <a:solidFill>
                            <a:srgbClr val="0F172A"/>
                          </a:solidFill>
                          <a:latin typeface="Arial"/>
                        </a:rPr>
                        <a:t>Pin</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Used for</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Note</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r>
              <a:tr h="274320">
                <a:tc>
                  <a:txBody>
                    <a:bodyPr wrap="square"/>
                    <a:lstStyle/>
                    <a:p>
                      <a:pPr algn="l"/>
                      <a:r>
                        <a:rPr sz="750" b="1" i="0">
                          <a:solidFill>
                            <a:srgbClr val="1E293B"/>
                          </a:solidFill>
                          <a:latin typeface="Arial"/>
                        </a:rPr>
                        <a:t>6, 7</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Sensor bus (I²C)</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Converter, current sensor, screen</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74320">
                <a:tc>
                  <a:txBody>
                    <a:bodyPr wrap="square"/>
                    <a:lstStyle/>
                    <a:p>
                      <a:pPr algn="l"/>
                      <a:r>
                        <a:rPr sz="750" b="1" i="0">
                          <a:solidFill>
                            <a:srgbClr val="1E293B"/>
                          </a:solidFill>
                          <a:latin typeface="Arial"/>
                        </a:rPr>
                        <a:t>21</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Temperature probe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Sits in the test cell</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74320">
                <a:tc>
                  <a:txBody>
                    <a:bodyPr wrap="square"/>
                    <a:lstStyle/>
                    <a:p>
                      <a:pPr algn="l"/>
                      <a:r>
                        <a:rPr sz="750" b="1" i="0">
                          <a:solidFill>
                            <a:srgbClr val="1E293B"/>
                          </a:solidFill>
                          <a:latin typeface="Arial"/>
                        </a:rPr>
                        <a:t>10</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Pump</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Starts gently</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74320">
                <a:tc>
                  <a:txBody>
                    <a:bodyPr wrap="square"/>
                    <a:lstStyle/>
                    <a:p>
                      <a:pPr algn="l"/>
                      <a:r>
                        <a:rPr sz="750" b="1" i="0">
                          <a:solidFill>
                            <a:srgbClr val="1E293B"/>
                          </a:solidFill>
                          <a:latin typeface="Arial"/>
                        </a:rPr>
                        <a:t>4, 5</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Valves 1 and 2</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With no power, water goes to waste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74320">
                <a:tc>
                  <a:txBody>
                    <a:bodyPr wrap="square"/>
                    <a:lstStyle/>
                    <a:p>
                      <a:pPr algn="l"/>
                      <a:r>
                        <a:rPr sz="750" b="1" i="0">
                          <a:solidFill>
                            <a:srgbClr val="1E293B"/>
                          </a:solidFill>
                          <a:latin typeface="Arial"/>
                        </a:rPr>
                        <a:t>1</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UV light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Only with water flowing and cap locked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74320">
                <a:tc>
                  <a:txBody>
                    <a:bodyPr wrap="square"/>
                    <a:lstStyle/>
                    <a:p>
                      <a:pPr algn="l"/>
                      <a:r>
                        <a:rPr sz="750" b="1" i="0">
                          <a:solidFill>
                            <a:srgbClr val="1E293B"/>
                          </a:solidFill>
                          <a:latin typeface="Arial"/>
                        </a:rPr>
                        <a:t>0</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Infrared light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Pulsed, to ignore room light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74320">
                <a:tc>
                  <a:txBody>
                    <a:bodyPr wrap="square"/>
                    <a:lstStyle/>
                    <a:p>
                      <a:pPr algn="l"/>
                      <a:r>
                        <a:rPr sz="750" b="1" i="0">
                          <a:solidFill>
                            <a:srgbClr val="1E293B"/>
                          </a:solidFill>
                          <a:latin typeface="Arial"/>
                        </a:rPr>
                        <a:t>3</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TDS board power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Off while pH is read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74320">
                <a:tc>
                  <a:txBody>
                    <a:bodyPr wrap="square"/>
                    <a:lstStyle/>
                    <a:p>
                      <a:pPr algn="l"/>
                      <a:r>
                        <a:rPr sz="750" b="1" i="0">
                          <a:solidFill>
                            <a:srgbClr val="1E293B"/>
                          </a:solidFill>
                          <a:latin typeface="Arial"/>
                        </a:rPr>
                        <a:t>9, 20</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Button, light ring</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Pin 9 also sets boot mode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74320">
                <a:tc>
                  <a:txBody>
                    <a:bodyPr wrap="square"/>
                    <a:lstStyle/>
                    <a:p>
                      <a:pPr algn="l"/>
                      <a:r>
                        <a:rPr sz="750" b="1" i="0">
                          <a:solidFill>
                            <a:srgbClr val="1E293B"/>
                          </a:solidFill>
                          <a:latin typeface="Arial"/>
                        </a:rPr>
                        <a:t>2</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Leak sensor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Normally high</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74320">
                <a:tc>
                  <a:txBody>
                    <a:bodyPr wrap="square"/>
                    <a:lstStyle/>
                    <a:p>
                      <a:pPr algn="l"/>
                      <a:r>
                        <a:rPr sz="750" b="1" i="0">
                          <a:solidFill>
                            <a:srgbClr val="1E293B"/>
                          </a:solidFill>
                          <a:latin typeface="Arial"/>
                        </a:rPr>
                        <a:t>18, 19</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USB data</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Through the USB-C port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bl>
          </a:graphicData>
        </a:graphic>
      </p:graphicFrame>
      <p:sp>
        <p:nvSpPr>
          <p:cNvPr id="37" name="TextBox 36"/>
          <p:cNvSpPr txBox="1"/>
          <p:nvPr/>
        </p:nvSpPr>
        <p:spPr>
          <a:xfrm>
            <a:off x="7818120" y="4160520"/>
            <a:ext cx="3840480" cy="1417320"/>
          </a:xfrm>
          <a:prstGeom prst="rect">
            <a:avLst/>
          </a:prstGeom>
          <a:noFill/>
        </p:spPr>
        <p:txBody>
          <a:bodyPr wrap="square" lIns="0" rIns="0" tIns="0" bIns="0" anchor="t"/>
          <a:lstStyle/>
          <a:p>
            <a:pPr algn="l">
              <a:spcAft>
                <a:spcPts val="400"/>
              </a:spcAft>
              <a:buNone/>
            </a:pPr>
            <a:r>
              <a:rPr sz="800" b="1" i="0">
                <a:solidFill>
                  <a:srgbClr val="0F172A"/>
                </a:solidFill>
                <a:latin typeface="Arial"/>
              </a:rPr>
              <a:t>Keeping water away:</a:t>
            </a:r>
            <a:r>
              <a:rPr sz="800" b="0" i="0">
                <a:solidFill>
                  <a:srgbClr val="334155"/>
                </a:solidFill>
                <a:latin typeface="Arial"/>
              </a:rPr>
              <a:t> sensor wires pass through sealed holes in the inner wall. The pH sensor runs on an isolated supply so it doesn’t pick up noise.</a:t>
            </a:r>
          </a:p>
          <a:p>
            <a:pPr algn="l">
              <a:spcAft>
                <a:spcPts val="300"/>
              </a:spcAft>
              <a:buNone/>
            </a:pPr>
            <a:r>
              <a:rPr sz="800" b="1" i="0">
                <a:solidFill>
                  <a:srgbClr val="0F172A"/>
                </a:solidFill>
                <a:latin typeface="Arial"/>
              </a:rPr>
              <a:t>Failing safe:</a:t>
            </a:r>
            <a:r>
              <a:rPr sz="800" b="0" i="0">
                <a:solidFill>
                  <a:srgbClr val="334155"/>
                </a:solidFill>
                <a:latin typeface="Arial"/>
              </a:rPr>
              <a:t> if the valves lose power, water goes to the waste outlet. A fault can never pour untested water.</a:t>
            </a:r>
          </a:p>
        </p:txBody>
      </p:sp>
      <p:pic>
        <p:nvPicPr>
          <p:cNvPr id="38" name="Note bar" descr="image.png"/>
          <p:cNvPicPr>
            <a:picLocks noChangeAspect="1"/>
          </p:cNvPicPr>
          <p:nvPr/>
        </p:nvPicPr>
        <p:blipFill>
          <a:blip r:embed="rId5"/>
          <a:stretch>
            <a:fillRect/>
          </a:stretch>
        </p:blipFill>
        <p:spPr>
          <a:xfrm>
            <a:off x="533095" y="5715000"/>
            <a:ext cx="11125504" cy="363016"/>
          </a:xfrm>
          <a:prstGeom prst="rect">
            <a:avLst/>
          </a:prstGeom>
        </p:spPr>
      </p:pic>
      <p:sp>
        <p:nvSpPr>
          <p:cNvPr id="39"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If something goes wrong:</a:t>
            </a:r>
            <a:r>
              <a:rPr sz="850" b="0" i="0">
                <a:solidFill>
                  <a:srgbClr val="334155"/>
                </a:solidFill>
                <a:latin typeface="Arial"/>
              </a:rPr>
              <a:t> a leak, running dry, a blockage, a bad sensor, overheating or a flat battery switches off the pump and UV, sends water to waste, and shows an error.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Bill of Materials: First Prototype</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graphicFrame>
        <p:nvGraphicFramePr>
          <p:cNvPr id="7" name="Table 6"/>
          <p:cNvGraphicFramePr>
            <a:graphicFrameLocks noGrp="1"/>
          </p:cNvGraphicFramePr>
          <p:nvPr/>
        </p:nvGraphicFramePr>
        <p:xfrm>
          <a:off x="533095" y="960120"/>
          <a:ext cx="11125501" cy="4352544"/>
        </p:xfrm>
        <a:graphic>
          <a:graphicData uri="http://schemas.openxmlformats.org/drawingml/2006/table">
            <a:tbl>
              <a:tblPr firstRow="0" bandRow="0">
                <a:tableStyleId>{2D5ABB26-0587-4C30-8999-92F81FD0307C}</a:tableStyleId>
              </a:tblPr>
              <a:tblGrid>
                <a:gridCol w="1341020"/>
                <a:gridCol w="3427052"/>
                <a:gridCol w="695344"/>
                <a:gridCol w="1142350"/>
                <a:gridCol w="943681"/>
                <a:gridCol w="2036364"/>
                <a:gridCol w="1539690"/>
              </a:tblGrid>
              <a:tr h="256032">
                <a:tc>
                  <a:txBody>
                    <a:bodyPr wrap="square"/>
                    <a:lstStyle/>
                    <a:p>
                      <a:pPr algn="l"/>
                      <a:r>
                        <a:rPr sz="750" b="1" i="0">
                          <a:solidFill>
                            <a:srgbClr val="0F172A"/>
                          </a:solidFill>
                          <a:latin typeface="Arial"/>
                        </a:rPr>
                        <a:t>Part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What exactly</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ctr"/>
                      <a:r>
                        <a:rPr sz="750" b="1" i="0">
                          <a:solidFill>
                            <a:srgbClr val="0F172A"/>
                          </a:solidFill>
                          <a:latin typeface="Arial"/>
                        </a:rPr>
                        <a:t>Qty</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r"/>
                      <a:r>
                        <a:rPr sz="750" b="1" i="0">
                          <a:solidFill>
                            <a:srgbClr val="0F172A"/>
                          </a:solidFill>
                          <a:latin typeface="Arial"/>
                        </a:rPr>
                        <a:t>Unit cost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r"/>
                      <a:r>
                        <a:rPr sz="750" b="1" i="0">
                          <a:solidFill>
                            <a:srgbClr val="0F172A"/>
                          </a:solidFill>
                          <a:latin typeface="Arial"/>
                        </a:rPr>
                        <a:t>Total</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Where from</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Status</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r>
              <a:tr h="256032">
                <a:tc>
                  <a:txBody>
                    <a:bodyPr wrap="square"/>
                    <a:lstStyle/>
                    <a:p>
                      <a:pPr algn="l"/>
                      <a:r>
                        <a:rPr sz="750" b="1" i="0">
                          <a:solidFill>
                            <a:srgbClr val="1E293B"/>
                          </a:solidFill>
                          <a:latin typeface="Arial"/>
                        </a:rPr>
                        <a:t>Controller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ESP32-C3 module (WROOM-02 now, MINI-1 later)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ctr"/>
                      <a:r>
                        <a:rPr sz="750" b="0" i="0">
                          <a:solidFill>
                            <a:srgbClr val="334155"/>
                          </a:solidFill>
                          <a:latin typeface="Arial"/>
                        </a:rPr>
                        <a:t>1</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Local electronics shop</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Chosen, not bought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56032">
                <a:tc>
                  <a:txBody>
                    <a:bodyPr wrap="square"/>
                    <a:lstStyle/>
                    <a:p>
                      <a:pPr algn="l"/>
                      <a:r>
                        <a:rPr sz="750" b="1" i="0">
                          <a:solidFill>
                            <a:srgbClr val="1E293B"/>
                          </a:solidFill>
                          <a:latin typeface="Arial"/>
                        </a:rPr>
                        <a:t>pH kit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DFRobot SEN0161-V2 (board, test probe, buffers)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ctr"/>
                      <a:r>
                        <a:rPr sz="750" b="0" i="0">
                          <a:solidFill>
                            <a:srgbClr val="334155"/>
                          </a:solidFill>
                          <a:latin typeface="Arial"/>
                        </a:rPr>
                        <a:t>1</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US$39.50</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US$39.50</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DFRobot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Listed price, 24 Oct 2026</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56032">
                <a:tc>
                  <a:txBody>
                    <a:bodyPr wrap="square"/>
                    <a:lstStyle/>
                    <a:p>
                      <a:pPr algn="l"/>
                      <a:r>
                        <a:rPr sz="750" b="1" i="0">
                          <a:solidFill>
                            <a:srgbClr val="1E293B"/>
                          </a:solidFill>
                          <a:latin typeface="Arial"/>
                        </a:rPr>
                        <a:t>Small pH probe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Under 8 mm wide, to fit our test cell</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ctr"/>
                      <a:r>
                        <a:rPr sz="750" b="0" i="0">
                          <a:solidFill>
                            <a:srgbClr val="334155"/>
                          </a:solidFill>
                          <a:latin typeface="Arial"/>
                        </a:rPr>
                        <a:t>1</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Still looking</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Most important to find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56032">
                <a:tc>
                  <a:txBody>
                    <a:bodyPr wrap="square"/>
                    <a:lstStyle/>
                    <a:p>
                      <a:pPr algn="l"/>
                      <a:r>
                        <a:rPr sz="750" b="1" i="0">
                          <a:solidFill>
                            <a:srgbClr val="1E293B"/>
                          </a:solidFill>
                          <a:latin typeface="Arial"/>
                        </a:rPr>
                        <a:t>TDS sensor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DFRobot SEN0244, pins fitted into our cell</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ctr"/>
                      <a:r>
                        <a:rPr sz="750" b="0" i="0">
                          <a:solidFill>
                            <a:srgbClr val="334155"/>
                          </a:solidFill>
                          <a:latin typeface="Arial"/>
                        </a:rPr>
                        <a:t>1</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US$11.80</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US$11.80</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DFRobot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Listed price, 24 Oct 2026</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56032">
                <a:tc>
                  <a:txBody>
                    <a:bodyPr wrap="square"/>
                    <a:lstStyle/>
                    <a:p>
                      <a:pPr algn="l"/>
                      <a:r>
                        <a:rPr sz="750" b="1" i="0">
                          <a:solidFill>
                            <a:srgbClr val="1E293B"/>
                          </a:solidFill>
                          <a:latin typeface="Arial"/>
                        </a:rPr>
                        <a:t>Temperature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DFRobot KIT0021 waterproof DS18B20</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ctr"/>
                      <a:r>
                        <a:rPr sz="750" b="0" i="0">
                          <a:solidFill>
                            <a:srgbClr val="334155"/>
                          </a:solidFill>
                          <a:latin typeface="Arial"/>
                        </a:rPr>
                        <a:t>1</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US$7.50</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US$7.50</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DFRobot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Listed price, 24 Oct 2026</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56032">
                <a:tc>
                  <a:txBody>
                    <a:bodyPr wrap="square"/>
                    <a:lstStyle/>
                    <a:p>
                      <a:pPr algn="l"/>
                      <a:r>
                        <a:rPr sz="750" b="1" i="0">
                          <a:solidFill>
                            <a:srgbClr val="1E293B"/>
                          </a:solidFill>
                          <a:latin typeface="Arial"/>
                        </a:rPr>
                        <a:t>pH isolator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DFRobot DFR0504</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ctr"/>
                      <a:r>
                        <a:rPr sz="750" b="0" i="0">
                          <a:solidFill>
                            <a:srgbClr val="334155"/>
                          </a:solidFill>
                          <a:latin typeface="Arial"/>
                        </a:rPr>
                        <a:t>1</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US$19.90</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US$19.90</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DFRobot (check stock)</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Listed price, 24 Oct 2026</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56032">
                <a:tc>
                  <a:txBody>
                    <a:bodyPr wrap="square"/>
                    <a:lstStyle/>
                    <a:p>
                      <a:pPr algn="l"/>
                      <a:r>
                        <a:rPr sz="750" b="1" i="0">
                          <a:solidFill>
                            <a:srgbClr val="1E293B"/>
                          </a:solidFill>
                          <a:latin typeface="Arial"/>
                        </a:rPr>
                        <a:t>Cloudiness sensor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Our own IR LED and light sensor; DFRobot SEN0189 to compare against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ctr"/>
                      <a:r>
                        <a:rPr sz="750" b="0" i="0">
                          <a:solidFill>
                            <a:srgbClr val="334155"/>
                          </a:solidFill>
                          <a:latin typeface="Arial"/>
                        </a:rPr>
                        <a:t>1 + 1</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US$9.90 (ref.)</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US$9.90</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DFRobot and local</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Reference priced</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56032">
                <a:tc>
                  <a:txBody>
                    <a:bodyPr wrap="square"/>
                    <a:lstStyle/>
                    <a:p>
                      <a:pPr algn="l"/>
                      <a:r>
                        <a:rPr sz="750" b="1" i="0">
                          <a:solidFill>
                            <a:srgbClr val="1E293B"/>
                          </a:solidFill>
                          <a:latin typeface="Arial"/>
                        </a:rPr>
                        <a:t>Measurement chips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ADS1115, INA219, MCP6001, battery level resistors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ctr"/>
                      <a:r>
                        <a:rPr sz="750" b="0" i="0">
                          <a:solidFill>
                            <a:srgbClr val="334155"/>
                          </a:solidFill>
                          <a:latin typeface="Arial"/>
                        </a:rPr>
                        <a:t>1 set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Local electronics shop</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Chosen, not bought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56032">
                <a:tc>
                  <a:txBody>
                    <a:bodyPr wrap="square"/>
                    <a:lstStyle/>
                    <a:p>
                      <a:pPr algn="l"/>
                      <a:r>
                        <a:rPr sz="750" b="1" i="0">
                          <a:solidFill>
                            <a:srgbClr val="1E293B"/>
                          </a:solidFill>
                          <a:latin typeface="Arial"/>
                        </a:rPr>
                        <a:t>Pump</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Small 5–6 V self-priming diaphragm pump, food-safe inside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ctr"/>
                      <a:r>
                        <a:rPr sz="750" b="0" i="0">
                          <a:solidFill>
                            <a:srgbClr val="334155"/>
                          </a:solidFill>
                          <a:latin typeface="Arial"/>
                        </a:rPr>
                        <a:t>1</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Still looking</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Chosen, not bought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56032">
                <a:tc>
                  <a:txBody>
                    <a:bodyPr wrap="square"/>
                    <a:lstStyle/>
                    <a:p>
                      <a:pPr algn="l"/>
                      <a:r>
                        <a:rPr sz="750" b="1" i="0">
                          <a:solidFill>
                            <a:srgbClr val="1E293B"/>
                          </a:solidFill>
                          <a:latin typeface="Arial"/>
                        </a:rPr>
                        <a:t>Valves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Small 3-way valves, 5–6 V</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ctr"/>
                      <a:r>
                        <a:rPr sz="750" b="0" i="0">
                          <a:solidFill>
                            <a:srgbClr val="334155"/>
                          </a:solidFill>
                          <a:latin typeface="Arial"/>
                        </a:rPr>
                        <a:t>2</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Still looking</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Chosen, not bought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56032">
                <a:tc>
                  <a:txBody>
                    <a:bodyPr wrap="square"/>
                    <a:lstStyle/>
                    <a:p>
                      <a:pPr algn="l"/>
                      <a:r>
                        <a:rPr sz="750" b="1" i="0">
                          <a:solidFill>
                            <a:srgbClr val="1E293B"/>
                          </a:solidFill>
                          <a:latin typeface="Arial"/>
                        </a:rPr>
                        <a:t>Filter cartridge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Twist-off carbon and hollow-fibre membrane, plus a 40 µm mesh</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ctr"/>
                      <a:r>
                        <a:rPr sz="750" b="0" i="0">
                          <a:solidFill>
                            <a:srgbClr val="334155"/>
                          </a:solidFill>
                          <a:latin typeface="Arial"/>
                        </a:rPr>
                        <a:t>1 + spare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Filter supplier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Chosen, not bought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56032">
                <a:tc>
                  <a:txBody>
                    <a:bodyPr wrap="square"/>
                    <a:lstStyle/>
                    <a:p>
                      <a:pPr algn="l"/>
                      <a:r>
                        <a:rPr sz="750" b="1" i="0">
                          <a:solidFill>
                            <a:srgbClr val="1E293B"/>
                          </a:solidFill>
                          <a:latin typeface="Arial"/>
                        </a:rPr>
                        <a:t>UV-C light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UV-C LED, driver and quartz window</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ctr"/>
                      <a:r>
                        <a:rPr sz="750" b="0" i="0">
                          <a:solidFill>
                            <a:srgbClr val="334155"/>
                          </a:solidFill>
                          <a:latin typeface="Arial"/>
                        </a:rPr>
                        <a:t>0–1</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Still looking</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We decide in Month 1</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56032">
                <a:tc>
                  <a:txBody>
                    <a:bodyPr wrap="square"/>
                    <a:lstStyle/>
                    <a:p>
                      <a:pPr algn="l"/>
                      <a:r>
                        <a:rPr sz="750" b="1" i="0">
                          <a:solidFill>
                            <a:srgbClr val="1E293B"/>
                          </a:solidFill>
                          <a:latin typeface="Arial"/>
                        </a:rPr>
                        <a:t>Power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18650 battery, MCP73831 charger, 3.3 V and 5 V supplies, fuse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ctr"/>
                      <a:r>
                        <a:rPr sz="750" b="0" i="0">
                          <a:solidFill>
                            <a:srgbClr val="334155"/>
                          </a:solidFill>
                          <a:latin typeface="Arial"/>
                        </a:rPr>
                        <a:t>1 set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Local electronics shop</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Chosen, not bought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56032">
                <a:tc>
                  <a:txBody>
                    <a:bodyPr wrap="square"/>
                    <a:lstStyle/>
                    <a:p>
                      <a:pPr algn="l"/>
                      <a:r>
                        <a:rPr sz="750" b="1" i="0">
                          <a:solidFill>
                            <a:srgbClr val="1E293B"/>
                          </a:solidFill>
                          <a:latin typeface="Arial"/>
                        </a:rPr>
                        <a:t>Switches and display</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MOSFETs and diodes; small OLED, light ring, button</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ctr"/>
                      <a:r>
                        <a:rPr sz="750" b="0" i="0">
                          <a:solidFill>
                            <a:srgbClr val="334155"/>
                          </a:solidFill>
                          <a:latin typeface="Arial"/>
                        </a:rPr>
                        <a:t>1 set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Local electronics shop</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Chosen, not bought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256032">
                <a:tc>
                  <a:txBody>
                    <a:bodyPr wrap="square"/>
                    <a:lstStyle/>
                    <a:p>
                      <a:pPr algn="l"/>
                      <a:r>
                        <a:rPr sz="750" b="1" i="0">
                          <a:solidFill>
                            <a:srgbClr val="1E293B"/>
                          </a:solidFill>
                          <a:latin typeface="Arial"/>
                        </a:rPr>
                        <a:t>Body and plumbing</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PETG print, acrylic cell, silicone tube, O-rings, grip</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ctr"/>
                      <a:r>
                        <a:rPr sz="750" b="0" i="0">
                          <a:solidFill>
                            <a:srgbClr val="334155"/>
                          </a:solidFill>
                          <a:latin typeface="Arial"/>
                        </a:rPr>
                        <a:t>Lot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Need a quote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r"/>
                      <a:r>
                        <a:rPr sz="750" b="0" i="0">
                          <a:solidFill>
                            <a:srgbClr val="334155"/>
                          </a:solidFill>
                          <a:latin typeface="Arial"/>
                        </a:rPr>
                        <a: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We print it ourselves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Chosen, not bought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256032">
                <a:tc>
                  <a:txBody>
                    <a:bodyPr wrap="square"/>
                    <a:lstStyle/>
                    <a:p>
                      <a:pPr algn="l"/>
                      <a:r>
                        <a:rPr sz="750" b="1" i="0">
                          <a:solidFill>
                            <a:srgbClr val="1E293B"/>
                          </a:solidFill>
                          <a:latin typeface="Arial"/>
                        </a:rPr>
                        <a:t>Priced so far</a:t>
                      </a:r>
                    </a:p>
                  </a:txBody>
                  <a:tcPr marL="54864" marR="54864" marT="32004" marB="32004" anchor="ctr">
                    <a:lnL w="6350">
                      <a:noFill/>
                    </a:lnL>
                    <a:lnR w="6350">
                      <a:noFill/>
                    </a:lnR>
                    <a:lnT w="6350">
                      <a:solidFill>
                        <a:srgbClr val="E2E8F0"/>
                      </a:solidFill>
                    </a:lnT>
                    <a:lnB w="9525">
                      <a:solidFill>
                        <a:srgbClr val="E2E8F0"/>
                      </a:solidFill>
                    </a:lnB>
                    <a:solidFill>
                      <a:srgbClr val="E7ECF4"/>
                    </a:solidFill>
                  </a:tcPr>
                </a:tc>
                <a:tc>
                  <a:txBody>
                    <a:bodyPr wrap="square"/>
                    <a:lstStyle/>
                    <a:p>
                      <a:pPr algn="l"/>
                      <a:r>
                        <a:rPr sz="750" b="0" i="0">
                          <a:solidFill>
                            <a:srgbClr val="334155"/>
                          </a:solidFill>
                          <a:latin typeface="Arial"/>
                        </a:rPr>
                        <a:t>Only the 5 parts with a public price</a:t>
                      </a:r>
                    </a:p>
                  </a:txBody>
                  <a:tcPr marL="54864" marR="54864" marT="32004" marB="32004" anchor="ctr">
                    <a:lnL w="6350">
                      <a:noFill/>
                    </a:lnL>
                    <a:lnR w="6350">
                      <a:noFill/>
                    </a:lnR>
                    <a:lnT w="6350">
                      <a:solidFill>
                        <a:srgbClr val="E2E8F0"/>
                      </a:solidFill>
                    </a:lnT>
                    <a:lnB w="9525">
                      <a:solidFill>
                        <a:srgbClr val="E2E8F0"/>
                      </a:solidFill>
                    </a:lnB>
                    <a:solidFill>
                      <a:srgbClr val="E7ECF4"/>
                    </a:solidFill>
                  </a:tcPr>
                </a:tc>
                <a:tc>
                  <a:txBody>
                    <a:bodyPr wrap="square"/>
                    <a:lstStyle/>
                    <a:p>
                      <a:pPr algn="ctr"/>
                    </a:p>
                  </a:txBody>
                  <a:tcPr marL="54864" marR="54864" marT="32004" marB="32004" anchor="ctr">
                    <a:lnL w="6350">
                      <a:noFill/>
                    </a:lnL>
                    <a:lnR w="6350">
                      <a:noFill/>
                    </a:lnR>
                    <a:lnT w="6350">
                      <a:solidFill>
                        <a:srgbClr val="E2E8F0"/>
                      </a:solidFill>
                    </a:lnT>
                    <a:lnB w="9525">
                      <a:solidFill>
                        <a:srgbClr val="E2E8F0"/>
                      </a:solidFill>
                    </a:lnB>
                    <a:solidFill>
                      <a:srgbClr val="E7ECF4"/>
                    </a:solidFill>
                  </a:tcPr>
                </a:tc>
                <a:tc>
                  <a:txBody>
                    <a:bodyPr wrap="square"/>
                    <a:lstStyle/>
                    <a:p>
                      <a:pPr algn="r"/>
                    </a:p>
                  </a:txBody>
                  <a:tcPr marL="54864" marR="54864" marT="32004" marB="32004" anchor="ctr">
                    <a:lnL w="6350">
                      <a:noFill/>
                    </a:lnL>
                    <a:lnR w="6350">
                      <a:noFill/>
                    </a:lnR>
                    <a:lnT w="6350">
                      <a:solidFill>
                        <a:srgbClr val="E2E8F0"/>
                      </a:solidFill>
                    </a:lnT>
                    <a:lnB w="9525">
                      <a:solidFill>
                        <a:srgbClr val="E2E8F0"/>
                      </a:solidFill>
                    </a:lnB>
                    <a:solidFill>
                      <a:srgbClr val="E7ECF4"/>
                    </a:solidFill>
                  </a:tcPr>
                </a:tc>
                <a:tc>
                  <a:txBody>
                    <a:bodyPr wrap="square"/>
                    <a:lstStyle/>
                    <a:p>
                      <a:pPr algn="r"/>
                      <a:r>
                        <a:rPr sz="750" b="1" i="0">
                          <a:solidFill>
                            <a:srgbClr val="0F172A"/>
                          </a:solidFill>
                          <a:latin typeface="Arial"/>
                        </a:rPr>
                        <a:t>US$88.60</a:t>
                      </a:r>
                    </a:p>
                  </a:txBody>
                  <a:tcPr marL="54864" marR="54864" marT="32004" marB="32004" anchor="ctr">
                    <a:lnL w="6350">
                      <a:noFill/>
                    </a:lnL>
                    <a:lnR w="6350">
                      <a:noFill/>
                    </a:lnR>
                    <a:lnT w="6350">
                      <a:solidFill>
                        <a:srgbClr val="E2E8F0"/>
                      </a:solidFill>
                    </a:lnT>
                    <a:lnB w="9525">
                      <a:solidFill>
                        <a:srgbClr val="E2E8F0"/>
                      </a:solidFill>
                    </a:lnB>
                    <a:solidFill>
                      <a:srgbClr val="E7ECF4"/>
                    </a:solidFill>
                  </a:tcPr>
                </a:tc>
                <a:tc>
                  <a:txBody>
                    <a:bodyPr wrap="square"/>
                    <a:lstStyle/>
                    <a:p>
                      <a:pPr algn="l"/>
                      <a:r>
                        <a:rPr sz="750" b="0" i="0">
                          <a:solidFill>
                            <a:srgbClr val="334155"/>
                          </a:solidFill>
                          <a:latin typeface="Arial"/>
                        </a:rPr>
                        <a:t>Before shipping and taxes</a:t>
                      </a:r>
                    </a:p>
                  </a:txBody>
                  <a:tcPr marL="54864" marR="54864" marT="32004" marB="32004" anchor="ctr">
                    <a:lnL w="6350">
                      <a:noFill/>
                    </a:lnL>
                    <a:lnR w="6350">
                      <a:noFill/>
                    </a:lnR>
                    <a:lnT w="6350">
                      <a:solidFill>
                        <a:srgbClr val="E2E8F0"/>
                      </a:solidFill>
                    </a:lnT>
                    <a:lnB w="9525">
                      <a:solidFill>
                        <a:srgbClr val="E2E8F0"/>
                      </a:solidFill>
                    </a:lnB>
                    <a:solidFill>
                      <a:srgbClr val="E7ECF4"/>
                    </a:solidFill>
                  </a:tcPr>
                </a:tc>
                <a:tc>
                  <a:txBody>
                    <a:bodyPr wrap="square"/>
                    <a:lstStyle/>
                    <a:p>
                      <a:pPr algn="l"/>
                      <a:r>
                        <a:rPr sz="750" b="0" i="0">
                          <a:solidFill>
                            <a:srgbClr val="334155"/>
                          </a:solidFill>
                          <a:latin typeface="Arial"/>
                        </a:rPr>
                        <a:t>Not the full cost</a:t>
                      </a:r>
                    </a:p>
                  </a:txBody>
                  <a:tcPr marL="54864" marR="54864" marT="32004" marB="32004" anchor="ctr">
                    <a:lnL w="6350">
                      <a:noFill/>
                    </a:lnL>
                    <a:lnR w="6350">
                      <a:noFill/>
                    </a:lnR>
                    <a:lnT w="6350">
                      <a:solidFill>
                        <a:srgbClr val="E2E8F0"/>
                      </a:solidFill>
                    </a:lnT>
                    <a:lnB w="9525">
                      <a:solidFill>
                        <a:srgbClr val="E2E8F0"/>
                      </a:solidFill>
                    </a:lnB>
                    <a:solidFill>
                      <a:srgbClr val="E7ECF4"/>
                    </a:solidFill>
                  </a:tcPr>
                </a:tc>
              </a:tr>
            </a:tbl>
          </a:graphicData>
        </a:graphic>
      </p:graphicFrame>
      <p:pic>
        <p:nvPicPr>
          <p:cNvPr id="8" name="Note bar" descr="image.png"/>
          <p:cNvPicPr>
            <a:picLocks noChangeAspect="1"/>
          </p:cNvPicPr>
          <p:nvPr/>
        </p:nvPicPr>
        <p:blipFill>
          <a:blip r:embed="rId5"/>
          <a:stretch>
            <a:fillRect/>
          </a:stretch>
        </p:blipFill>
        <p:spPr>
          <a:xfrm>
            <a:off x="533095" y="5715000"/>
            <a:ext cx="11125504" cy="363016"/>
          </a:xfrm>
          <a:prstGeom prst="rect">
            <a:avLst/>
          </a:prstGeom>
        </p:spPr>
      </p:pic>
      <p:sp>
        <p:nvSpPr>
          <p:cNvPr id="9"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Where we stand:</a:t>
            </a:r>
            <a:r>
              <a:rPr sz="850" b="0" i="0">
                <a:solidFill>
                  <a:srgbClr val="334155"/>
                </a:solidFill>
                <a:latin typeface="Arial"/>
              </a:rPr>
              <a:t> we can’t give a full budget until we get quotes for the remaining parts. Every choice here still needs the whole team’s sign-off.</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Maker Journey: From Stage 1 Idea to Stage 2 Design</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cxnSp>
        <p:nvCxnSpPr>
          <p:cNvPr id="7" name="Connector 6"/>
          <p:cNvCxnSpPr/>
          <p:nvPr/>
        </p:nvCxnSpPr>
        <p:spPr>
          <a:xfrm>
            <a:off x="868680" y="1481328"/>
            <a:ext cx="10469880" cy="0"/>
          </a:xfrm>
          <a:prstGeom prst="line">
            <a:avLst/>
          </a:prstGeom>
          <a:ln w="31750">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13231" y="1325880"/>
            <a:ext cx="310896" cy="310896"/>
          </a:xfrm>
          <a:prstGeom prst="ellipse">
            <a:avLst/>
          </a:prstGeom>
          <a:solidFill>
            <a:srgbClr val="059668"/>
          </a:solidFill>
          <a:ln w="19050">
            <a:solidFill>
              <a:srgbClr val="05966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1</a:t>
            </a:r>
          </a:p>
        </p:txBody>
      </p:sp>
      <p:sp>
        <p:nvSpPr>
          <p:cNvPr id="9" name="TextBox 8"/>
          <p:cNvSpPr txBox="1"/>
          <p:nvPr/>
        </p:nvSpPr>
        <p:spPr>
          <a:xfrm>
            <a:off x="32004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Came up with the loop idea</a:t>
            </a:r>
          </a:p>
        </p:txBody>
      </p:sp>
      <p:sp>
        <p:nvSpPr>
          <p:cNvPr id="10" name="Oval 9"/>
          <p:cNvSpPr/>
          <p:nvPr/>
        </p:nvSpPr>
        <p:spPr>
          <a:xfrm>
            <a:off x="1876552" y="1325880"/>
            <a:ext cx="310896" cy="310896"/>
          </a:xfrm>
          <a:prstGeom prst="ellipse">
            <a:avLst/>
          </a:prstGeom>
          <a:solidFill>
            <a:srgbClr val="0284C7"/>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2</a:t>
            </a:r>
          </a:p>
        </p:txBody>
      </p:sp>
      <p:sp>
        <p:nvSpPr>
          <p:cNvPr id="11" name="TextBox 10"/>
          <p:cNvSpPr txBox="1"/>
          <p:nvPr/>
        </p:nvSpPr>
        <p:spPr>
          <a:xfrm>
            <a:off x="148336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Chose a pocket-size water path</a:t>
            </a:r>
          </a:p>
        </p:txBody>
      </p:sp>
      <p:sp>
        <p:nvSpPr>
          <p:cNvPr id="12" name="Oval 11"/>
          <p:cNvSpPr/>
          <p:nvPr/>
        </p:nvSpPr>
        <p:spPr>
          <a:xfrm>
            <a:off x="3039872" y="1325880"/>
            <a:ext cx="310896" cy="310896"/>
          </a:xfrm>
          <a:prstGeom prst="ellipse">
            <a:avLst/>
          </a:prstGeom>
          <a:solidFill>
            <a:srgbClr val="0284C7"/>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3</a:t>
            </a:r>
          </a:p>
        </p:txBody>
      </p:sp>
      <p:sp>
        <p:nvSpPr>
          <p:cNvPr id="13" name="TextBox 12"/>
          <p:cNvSpPr txBox="1"/>
          <p:nvPr/>
        </p:nvSpPr>
        <p:spPr>
          <a:xfrm>
            <a:off x="264668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Planned the ESP32-C3 setup</a:t>
            </a:r>
          </a:p>
        </p:txBody>
      </p:sp>
      <p:sp>
        <p:nvSpPr>
          <p:cNvPr id="14" name="Oval 13"/>
          <p:cNvSpPr/>
          <p:nvPr/>
        </p:nvSpPr>
        <p:spPr>
          <a:xfrm>
            <a:off x="4203192" y="1325880"/>
            <a:ext cx="310896" cy="310896"/>
          </a:xfrm>
          <a:prstGeom prst="ellipse">
            <a:avLst/>
          </a:prstGeom>
          <a:solidFill>
            <a:srgbClr val="0284C7"/>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4</a:t>
            </a:r>
          </a:p>
        </p:txBody>
      </p:sp>
      <p:sp>
        <p:nvSpPr>
          <p:cNvPr id="15" name="TextBox 14"/>
          <p:cNvSpPr txBox="1"/>
          <p:nvPr/>
        </p:nvSpPr>
        <p:spPr>
          <a:xfrm>
            <a:off x="381000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Picked sensors and filter</a:t>
            </a:r>
          </a:p>
        </p:txBody>
      </p:sp>
      <p:sp>
        <p:nvSpPr>
          <p:cNvPr id="16" name="Oval 15"/>
          <p:cNvSpPr/>
          <p:nvPr/>
        </p:nvSpPr>
        <p:spPr>
          <a:xfrm>
            <a:off x="5366512" y="1325880"/>
            <a:ext cx="310896" cy="310896"/>
          </a:xfrm>
          <a:prstGeom prst="ellipse">
            <a:avLst/>
          </a:prstGeom>
          <a:solidFill>
            <a:srgbClr val="059668"/>
          </a:solidFill>
          <a:ln w="19050">
            <a:solidFill>
              <a:srgbClr val="05966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5</a:t>
            </a:r>
          </a:p>
        </p:txBody>
      </p:sp>
      <p:sp>
        <p:nvSpPr>
          <p:cNvPr id="17" name="TextBox 16"/>
          <p:cNvSpPr txBox="1"/>
          <p:nvPr/>
        </p:nvSpPr>
        <p:spPr>
          <a:xfrm>
            <a:off x="497332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Made the CAD model and schematic</a:t>
            </a:r>
          </a:p>
        </p:txBody>
      </p:sp>
      <p:sp>
        <p:nvSpPr>
          <p:cNvPr id="18" name="Oval 17"/>
          <p:cNvSpPr/>
          <p:nvPr/>
        </p:nvSpPr>
        <p:spPr>
          <a:xfrm>
            <a:off x="6529832" y="1325880"/>
            <a:ext cx="310896" cy="310896"/>
          </a:xfrm>
          <a:prstGeom prst="ellipse">
            <a:avLst/>
          </a:prstGeom>
          <a:solidFill>
            <a:srgbClr val="059668"/>
          </a:solidFill>
          <a:ln w="19050">
            <a:solidFill>
              <a:srgbClr val="05966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6</a:t>
            </a:r>
          </a:p>
        </p:txBody>
      </p:sp>
      <p:sp>
        <p:nvSpPr>
          <p:cNvPr id="19" name="TextBox 18"/>
          <p:cNvSpPr txBox="1"/>
          <p:nvPr/>
        </p:nvSpPr>
        <p:spPr>
          <a:xfrm>
            <a:off x="613664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Wired the sensors on a bench</a:t>
            </a:r>
          </a:p>
        </p:txBody>
      </p:sp>
      <p:sp>
        <p:nvSpPr>
          <p:cNvPr id="20" name="Oval 19"/>
          <p:cNvSpPr/>
          <p:nvPr/>
        </p:nvSpPr>
        <p:spPr>
          <a:xfrm>
            <a:off x="7693152" y="1325880"/>
            <a:ext cx="310896" cy="310896"/>
          </a:xfrm>
          <a:prstGeom prst="ellipse">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64748B"/>
                </a:solidFill>
                <a:latin typeface="Arial"/>
              </a:rPr>
              <a:t>7</a:t>
            </a:r>
          </a:p>
        </p:txBody>
      </p:sp>
      <p:sp>
        <p:nvSpPr>
          <p:cNvPr id="21" name="TextBox 20"/>
          <p:cNvSpPr txBox="1"/>
          <p:nvPr/>
        </p:nvSpPr>
        <p:spPr>
          <a:xfrm>
            <a:off x="729996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Code the pump and valves</a:t>
            </a:r>
          </a:p>
        </p:txBody>
      </p:sp>
      <p:sp>
        <p:nvSpPr>
          <p:cNvPr id="22" name="Oval 21"/>
          <p:cNvSpPr/>
          <p:nvPr/>
        </p:nvSpPr>
        <p:spPr>
          <a:xfrm>
            <a:off x="8856472" y="1325880"/>
            <a:ext cx="310896" cy="310896"/>
          </a:xfrm>
          <a:prstGeom prst="ellipse">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64748B"/>
                </a:solidFill>
                <a:latin typeface="Arial"/>
              </a:rPr>
              <a:t>8</a:t>
            </a:r>
          </a:p>
        </p:txBody>
      </p:sp>
      <p:sp>
        <p:nvSpPr>
          <p:cNvPr id="23" name="TextBox 22"/>
          <p:cNvSpPr txBox="1"/>
          <p:nvPr/>
        </p:nvSpPr>
        <p:spPr>
          <a:xfrm>
            <a:off x="846328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Code the test-and-compare logic</a:t>
            </a:r>
          </a:p>
        </p:txBody>
      </p:sp>
      <p:sp>
        <p:nvSpPr>
          <p:cNvPr id="24" name="Oval 23"/>
          <p:cNvSpPr/>
          <p:nvPr/>
        </p:nvSpPr>
        <p:spPr>
          <a:xfrm>
            <a:off x="10019792" y="1325880"/>
            <a:ext cx="310896" cy="310896"/>
          </a:xfrm>
          <a:prstGeom prst="ellipse">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64748B"/>
                </a:solidFill>
                <a:latin typeface="Arial"/>
              </a:rPr>
              <a:t>9</a:t>
            </a:r>
          </a:p>
        </p:txBody>
      </p:sp>
      <p:sp>
        <p:nvSpPr>
          <p:cNvPr id="25" name="TextBox 24"/>
          <p:cNvSpPr txBox="1"/>
          <p:nvPr/>
        </p:nvSpPr>
        <p:spPr>
          <a:xfrm>
            <a:off x="962660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Build the first capsule</a:t>
            </a:r>
          </a:p>
        </p:txBody>
      </p:sp>
      <p:sp>
        <p:nvSpPr>
          <p:cNvPr id="26" name="Oval 25"/>
          <p:cNvSpPr/>
          <p:nvPr/>
        </p:nvSpPr>
        <p:spPr>
          <a:xfrm>
            <a:off x="11183112" y="1325880"/>
            <a:ext cx="310896" cy="310896"/>
          </a:xfrm>
          <a:prstGeom prst="ellipse">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64748B"/>
                </a:solidFill>
                <a:latin typeface="Arial"/>
              </a:rPr>
              <a:t>10</a:t>
            </a:r>
          </a:p>
        </p:txBody>
      </p:sp>
      <p:sp>
        <p:nvSpPr>
          <p:cNvPr id="27" name="TextBox 26"/>
          <p:cNvSpPr txBox="1"/>
          <p:nvPr/>
        </p:nvSpPr>
        <p:spPr>
          <a:xfrm>
            <a:off x="10789920" y="1737360"/>
            <a:ext cx="1097280" cy="548640"/>
          </a:xfrm>
          <a:prstGeom prst="rect">
            <a:avLst/>
          </a:prstGeom>
          <a:noFill/>
        </p:spPr>
        <p:txBody>
          <a:bodyPr wrap="square" lIns="0" rIns="0" tIns="0" bIns="0" anchor="t"/>
          <a:lstStyle/>
          <a:p>
            <a:pPr algn="ctr">
              <a:spcAft>
                <a:spcPts val="300"/>
              </a:spcAft>
              <a:buNone/>
            </a:pPr>
            <a:r>
              <a:rPr sz="750" b="0" i="0">
                <a:solidFill>
                  <a:srgbClr val="0F172A"/>
                </a:solidFill>
                <a:latin typeface="Arial"/>
              </a:rPr>
              <a:t>Test the full capsule</a:t>
            </a:r>
          </a:p>
        </p:txBody>
      </p:sp>
      <p:sp>
        <p:nvSpPr>
          <p:cNvPr id="28" name="Rounded Rectangle 27"/>
          <p:cNvSpPr/>
          <p:nvPr/>
        </p:nvSpPr>
        <p:spPr>
          <a:xfrm>
            <a:off x="533095" y="2395728"/>
            <a:ext cx="731520" cy="18288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50" b="1" i="0">
                <a:solidFill>
                  <a:srgbClr val="047857"/>
                </a:solidFill>
                <a:latin typeface="Arial"/>
              </a:rPr>
              <a:t>Done</a:t>
            </a:r>
          </a:p>
        </p:txBody>
      </p:sp>
      <p:sp>
        <p:nvSpPr>
          <p:cNvPr id="29" name="Rounded Rectangle 28"/>
          <p:cNvSpPr/>
          <p:nvPr/>
        </p:nvSpPr>
        <p:spPr>
          <a:xfrm>
            <a:off x="1447495" y="2395728"/>
            <a:ext cx="2560320" cy="18288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50" b="1" i="0">
                <a:solidFill>
                  <a:srgbClr val="1D4ED8"/>
                </a:solidFill>
                <a:latin typeface="Arial"/>
              </a:rPr>
              <a:t>Designed on paper, waiting for team sign-off</a:t>
            </a:r>
          </a:p>
        </p:txBody>
      </p:sp>
      <p:sp>
        <p:nvSpPr>
          <p:cNvPr id="30" name="Rounded Rectangle 29"/>
          <p:cNvSpPr/>
          <p:nvPr/>
        </p:nvSpPr>
        <p:spPr>
          <a:xfrm>
            <a:off x="4190695" y="2395728"/>
            <a:ext cx="1920240" cy="182880"/>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50" b="1" i="0">
                <a:solidFill>
                  <a:srgbClr val="334155"/>
                </a:solidFill>
                <a:latin typeface="Arial"/>
              </a:rPr>
              <a:t>Still to do, Months 1 to 4</a:t>
            </a:r>
          </a:p>
        </p:txBody>
      </p:sp>
      <p:sp>
        <p:nvSpPr>
          <p:cNvPr id="31" name="Rounded Rectangle 30"/>
          <p:cNvSpPr/>
          <p:nvPr/>
        </p:nvSpPr>
        <p:spPr>
          <a:xfrm>
            <a:off x="533095" y="2788920"/>
            <a:ext cx="6675120" cy="2770632"/>
          </a:xfrm>
          <a:prstGeom prst="roundRect">
            <a:avLst>
              <a:gd name="adj" fmla="val 2640"/>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image.png"/>
          <p:cNvPicPr>
            <a:picLocks noChangeAspect="1"/>
          </p:cNvPicPr>
          <p:nvPr/>
        </p:nvPicPr>
        <p:blipFill>
          <a:blip r:embed="rId5"/>
          <a:stretch>
            <a:fillRect/>
          </a:stretch>
        </p:blipFill>
        <p:spPr>
          <a:xfrm>
            <a:off x="688543" y="2944368"/>
            <a:ext cx="153296" cy="173736"/>
          </a:xfrm>
          <a:prstGeom prst="rect">
            <a:avLst/>
          </a:prstGeom>
        </p:spPr>
      </p:pic>
      <p:sp>
        <p:nvSpPr>
          <p:cNvPr id="33" name="TextBox 32"/>
          <p:cNvSpPr txBox="1"/>
          <p:nvPr/>
        </p:nvSpPr>
        <p:spPr>
          <a:xfrm>
            <a:off x="944575" y="2907791"/>
            <a:ext cx="6126479"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How the idea grew from Stage 1</a:t>
            </a:r>
          </a:p>
        </p:txBody>
      </p:sp>
      <p:sp>
        <p:nvSpPr>
          <p:cNvPr id="34" name="TextBox 33"/>
          <p:cNvSpPr txBox="1"/>
          <p:nvPr/>
        </p:nvSpPr>
        <p:spPr>
          <a:xfrm>
            <a:off x="694944" y="3154680"/>
            <a:ext cx="6400800" cy="2377440"/>
          </a:xfrm>
          <a:prstGeom prst="rect">
            <a:avLst/>
          </a:prstGeom>
          <a:noFill/>
        </p:spPr>
        <p:txBody>
          <a:bodyPr wrap="square" lIns="0" rIns="0" tIns="0" bIns="0" anchor="t"/>
          <a:lstStyle/>
          <a:p>
            <a:pPr algn="l" marL="128016" indent="-128016">
              <a:spcAft>
                <a:spcPts val="800"/>
              </a:spcAft>
              <a:buClr>
                <a:srgbClr val="059668"/>
              </a:buClr>
              <a:buSzPct val="100000"/>
              <a:buFont typeface="Arial"/>
              <a:buChar char="▪"/>
            </a:pPr>
            <a:r>
              <a:rPr sz="1000" b="1" i="0">
                <a:solidFill>
                  <a:srgbClr val="0F172A"/>
                </a:solidFill>
                <a:latin typeface="Arial"/>
              </a:rPr>
              <a:t>Size:</a:t>
            </a:r>
            <a:r>
              <a:rPr sz="1000" b="0" i="0">
                <a:solidFill>
                  <a:srgbClr val="334155"/>
                </a:solidFill>
                <a:latin typeface="Arial"/>
              </a:rPr>
              <a:t> “a compact prototype” became a pocket capsule, with the electronics sealed away from the water and a twist-off filter.</a:t>
            </a:r>
          </a:p>
          <a:p>
            <a:pPr algn="l" marL="128016" indent="-128016">
              <a:spcAft>
                <a:spcPts val="800"/>
              </a:spcAft>
              <a:buClr>
                <a:srgbClr val="059668"/>
              </a:buClr>
              <a:buSzPct val="100000"/>
              <a:buFont typeface="Arial"/>
              <a:buChar char="▪"/>
            </a:pPr>
            <a:r>
              <a:rPr sz="1000" b="1" i="0">
                <a:solidFill>
                  <a:srgbClr val="0F172A"/>
                </a:solidFill>
                <a:latin typeface="Arial"/>
              </a:rPr>
              <a:t>Checking:</a:t>
            </a:r>
            <a:r>
              <a:rPr sz="1000" b="0" i="0">
                <a:solidFill>
                  <a:srgbClr val="334155"/>
                </a:solidFill>
                <a:latin typeface="Arial"/>
              </a:rPr>
              <a:t> instead of two separate test chambers, one cell tests the water twice, so both readings come from the same sensors.</a:t>
            </a:r>
          </a:p>
          <a:p>
            <a:pPr algn="l" marL="128016" indent="-128016">
              <a:spcAft>
                <a:spcPts val="800"/>
              </a:spcAft>
              <a:buClr>
                <a:srgbClr val="059668"/>
              </a:buClr>
              <a:buSzPct val="100000"/>
              <a:buFont typeface="Arial"/>
              <a:buChar char="▪"/>
            </a:pPr>
            <a:r>
              <a:rPr sz="1000" b="1" i="0">
                <a:solidFill>
                  <a:srgbClr val="0F172A"/>
                </a:solidFill>
                <a:latin typeface="Arial"/>
              </a:rPr>
              <a:t>Adapting:</a:t>
            </a:r>
            <a:r>
              <a:rPr sz="1000" b="0" i="0">
                <a:solidFill>
                  <a:srgbClr val="334155"/>
                </a:solidFill>
                <a:latin typeface="Arial"/>
              </a:rPr>
              <a:t> the first test sets the flow speed and UV dose, and decides whether to suggest a second run or a new filter.</a:t>
            </a:r>
          </a:p>
          <a:p>
            <a:pPr algn="l" marL="128016" indent="-128016">
              <a:spcAft>
                <a:spcPts val="800"/>
              </a:spcAft>
              <a:buClr>
                <a:srgbClr val="059668"/>
              </a:buClr>
              <a:buSzPct val="100000"/>
              <a:buFont typeface="Arial"/>
              <a:buChar char="▪"/>
            </a:pPr>
            <a:r>
              <a:rPr sz="1000" b="1" i="0">
                <a:solidFill>
                  <a:srgbClr val="0F172A"/>
                </a:solidFill>
                <a:latin typeface="Arial"/>
              </a:rPr>
              <a:t>Pour only if it passes:</a:t>
            </a:r>
            <a:r>
              <a:rPr sz="1000" b="0" i="0">
                <a:solidFill>
                  <a:srgbClr val="334155"/>
                </a:solidFill>
                <a:latin typeface="Arial"/>
              </a:rPr>
              <a:t> water leaves the spout only after the second test; anything else goes to the waste outlet.</a:t>
            </a:r>
          </a:p>
          <a:p>
            <a:pPr algn="l" marL="128016" indent="-128016">
              <a:spcAft>
                <a:spcPts val="800"/>
              </a:spcAft>
              <a:buClr>
                <a:srgbClr val="059668"/>
              </a:buClr>
              <a:buSzPct val="100000"/>
              <a:buFont typeface="Arial"/>
              <a:buChar char="▪"/>
            </a:pPr>
            <a:r>
              <a:rPr sz="1000" b="1" i="0">
                <a:solidFill>
                  <a:srgbClr val="0F172A"/>
                </a:solidFill>
                <a:latin typeface="Arial"/>
              </a:rPr>
              <a:t>Safety and honesty:</a:t>
            </a:r>
            <a:r>
              <a:rPr sz="1000" b="0" i="0">
                <a:solidFill>
                  <a:srgbClr val="334155"/>
                </a:solidFill>
                <a:latin typeface="Arial"/>
              </a:rPr>
              <a:t> leak, dry-run, blockage and battery protection, plus a clear warning when the filter can’t fix TDS or pH.</a:t>
            </a:r>
          </a:p>
        </p:txBody>
      </p:sp>
      <p:sp>
        <p:nvSpPr>
          <p:cNvPr id="35" name="Rounded Rectangle 34"/>
          <p:cNvSpPr/>
          <p:nvPr/>
        </p:nvSpPr>
        <p:spPr>
          <a:xfrm>
            <a:off x="7360920" y="2788920"/>
            <a:ext cx="4297680" cy="2770632"/>
          </a:xfrm>
          <a:prstGeom prst="roundRect">
            <a:avLst>
              <a:gd name="adj" fmla="val 2640"/>
            </a:avLst>
          </a:prstGeom>
          <a:solidFill>
            <a:srgbClr val="FFFBEB"/>
          </a:solidFill>
          <a:ln w="9525">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image.png"/>
          <p:cNvPicPr>
            <a:picLocks noChangeAspect="1"/>
          </p:cNvPicPr>
          <p:nvPr/>
        </p:nvPicPr>
        <p:blipFill>
          <a:blip r:embed="rId6"/>
          <a:stretch>
            <a:fillRect/>
          </a:stretch>
        </p:blipFill>
        <p:spPr>
          <a:xfrm>
            <a:off x="7516368" y="2944368"/>
            <a:ext cx="173736" cy="173736"/>
          </a:xfrm>
          <a:prstGeom prst="rect">
            <a:avLst/>
          </a:prstGeom>
        </p:spPr>
      </p:pic>
      <p:sp>
        <p:nvSpPr>
          <p:cNvPr id="37" name="TextBox 36"/>
          <p:cNvSpPr txBox="1"/>
          <p:nvPr/>
        </p:nvSpPr>
        <p:spPr>
          <a:xfrm>
            <a:off x="7772400" y="2907791"/>
            <a:ext cx="3749040"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Where we honestly are</a:t>
            </a:r>
          </a:p>
        </p:txBody>
      </p:sp>
      <p:sp>
        <p:nvSpPr>
          <p:cNvPr id="38" name="TextBox 37"/>
          <p:cNvSpPr txBox="1"/>
          <p:nvPr/>
        </p:nvSpPr>
        <p:spPr>
          <a:xfrm>
            <a:off x="7525512" y="3154680"/>
            <a:ext cx="4023360" cy="2377440"/>
          </a:xfrm>
          <a:prstGeom prst="rect">
            <a:avLst/>
          </a:prstGeom>
          <a:noFill/>
        </p:spPr>
        <p:txBody>
          <a:bodyPr wrap="square" lIns="0" rIns="0" tIns="0" bIns="0" anchor="t"/>
          <a:lstStyle/>
          <a:p>
            <a:pPr algn="l" marL="128016" indent="-128016">
              <a:spcAft>
                <a:spcPts val="600"/>
              </a:spcAft>
              <a:buClr>
                <a:srgbClr val="B45309"/>
              </a:buClr>
              <a:buSzPct val="100000"/>
              <a:buFont typeface="Arial"/>
              <a:buChar char="▪"/>
            </a:pPr>
            <a:r>
              <a:rPr sz="900" b="0" i="0">
                <a:solidFill>
                  <a:srgbClr val="334155"/>
                </a:solidFill>
                <a:latin typeface="Arial"/>
              </a:rPr>
              <a:t>Stage 1 was a proposal and a plan.</a:t>
            </a:r>
          </a:p>
          <a:p>
            <a:pPr algn="l" marL="128016" indent="-128016">
              <a:spcAft>
                <a:spcPts val="600"/>
              </a:spcAft>
              <a:buClr>
                <a:srgbClr val="B45309"/>
              </a:buClr>
              <a:buSzPct val="100000"/>
              <a:buFont typeface="Arial"/>
              <a:buChar char="▪"/>
            </a:pPr>
            <a:r>
              <a:rPr sz="900" b="0" i="0">
                <a:solidFill>
                  <a:srgbClr val="334155"/>
                </a:solidFill>
                <a:latin typeface="Arial"/>
              </a:rPr>
              <a:t>On 25 Oct 2026 we made the FreeCAD model and the KiCad schematic (which passes its electrical check). We used AI tools to help, and our team will go through both.</a:t>
            </a:r>
          </a:p>
          <a:p>
            <a:pPr algn="l" marL="128016" indent="-128016">
              <a:spcAft>
                <a:spcPts val="600"/>
              </a:spcAft>
              <a:buClr>
                <a:srgbClr val="B45309"/>
              </a:buClr>
              <a:buSzPct val="100000"/>
              <a:buFont typeface="Arial"/>
              <a:buChar char="▪"/>
            </a:pPr>
            <a:r>
              <a:rPr sz="900" b="0" i="0">
                <a:solidFill>
                  <a:srgbClr val="334155"/>
                </a:solidFill>
                <a:latin typeface="Arial"/>
              </a:rPr>
              <a:t>We have wired the pH, TDS and turbidity sensors to an ESP32 board on a breadboard and tried them in water (photos on slide 13). We haven’t logged any measured results yet.</a:t>
            </a:r>
          </a:p>
          <a:p>
            <a:pPr algn="l" marL="128016" indent="-128016">
              <a:spcAft>
                <a:spcPts val="600"/>
              </a:spcAft>
              <a:buClr>
                <a:srgbClr val="B45309"/>
              </a:buClr>
              <a:buSzPct val="100000"/>
              <a:buFont typeface="Arial"/>
              <a:buChar char="▪"/>
            </a:pPr>
            <a:r>
              <a:rPr sz="900" b="0" i="0">
                <a:solidFill>
                  <a:srgbClr val="334155"/>
                </a:solidFill>
                <a:latin typeface="Arial"/>
              </a:rPr>
              <a:t>Steps 7 to 10 (code, building the capsule and full testing) are still ahead of us.</a:t>
            </a:r>
          </a:p>
        </p:txBody>
      </p:sp>
      <p:pic>
        <p:nvPicPr>
          <p:cNvPr id="39" name="Note bar" descr="image.png"/>
          <p:cNvPicPr>
            <a:picLocks noChangeAspect="1"/>
          </p:cNvPicPr>
          <p:nvPr/>
        </p:nvPicPr>
        <p:blipFill>
          <a:blip r:embed="rId7"/>
          <a:stretch>
            <a:fillRect/>
          </a:stretch>
        </p:blipFill>
        <p:spPr>
          <a:xfrm>
            <a:off x="533095" y="5715000"/>
            <a:ext cx="11125504" cy="363016"/>
          </a:xfrm>
          <a:prstGeom prst="rect">
            <a:avLst/>
          </a:prstGeom>
        </p:spPr>
      </p:pic>
      <p:sp>
        <p:nvSpPr>
          <p:cNvPr id="40"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Where we stand:</a:t>
            </a:r>
            <a:r>
              <a:rPr sz="850" b="0" i="0">
                <a:solidFill>
                  <a:srgbClr val="334155"/>
                </a:solidFill>
                <a:latin typeface="Arial"/>
              </a:rPr>
              <a:t> the design files exist and our sensors are running on a bench setup (steps 5 and 6). The capsule itself isn’t built yet, and we aren’t claiming test results.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Maker Journey: Proof of Our Work</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sp>
        <p:nvSpPr>
          <p:cNvPr id="7" name="Rounded Rectangle 6"/>
          <p:cNvSpPr/>
          <p:nvPr/>
        </p:nvSpPr>
        <p:spPr>
          <a:xfrm>
            <a:off x="533095" y="960120"/>
            <a:ext cx="3291840" cy="4599432"/>
          </a:xfrm>
          <a:prstGeom prst="roundRect">
            <a:avLst>
              <a:gd name="adj" fmla="val 222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mage.png"/>
          <p:cNvPicPr>
            <a:picLocks noChangeAspect="1"/>
          </p:cNvPicPr>
          <p:nvPr/>
        </p:nvPicPr>
        <p:blipFill>
          <a:blip r:embed="rId5"/>
          <a:stretch>
            <a:fillRect/>
          </a:stretch>
        </p:blipFill>
        <p:spPr>
          <a:xfrm>
            <a:off x="688543" y="1115568"/>
            <a:ext cx="132857" cy="173736"/>
          </a:xfrm>
          <a:prstGeom prst="rect">
            <a:avLst/>
          </a:prstGeom>
        </p:spPr>
      </p:pic>
      <p:sp>
        <p:nvSpPr>
          <p:cNvPr id="9" name="TextBox 8"/>
          <p:cNvSpPr txBox="1"/>
          <p:nvPr/>
        </p:nvSpPr>
        <p:spPr>
          <a:xfrm>
            <a:off x="944575" y="1078992"/>
            <a:ext cx="2743200"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Our first bench session</a:t>
            </a:r>
          </a:p>
        </p:txBody>
      </p:sp>
      <p:sp>
        <p:nvSpPr>
          <p:cNvPr id="10" name="TextBox 9"/>
          <p:cNvSpPr txBox="1"/>
          <p:nvPr/>
        </p:nvSpPr>
        <p:spPr>
          <a:xfrm>
            <a:off x="697687" y="1298448"/>
            <a:ext cx="2971800" cy="274320"/>
          </a:xfrm>
          <a:prstGeom prst="rect">
            <a:avLst/>
          </a:prstGeom>
          <a:noFill/>
        </p:spPr>
        <p:txBody>
          <a:bodyPr wrap="square" lIns="0" rIns="0" tIns="0" bIns="0" anchor="t"/>
          <a:lstStyle/>
          <a:p>
            <a:pPr algn="l">
              <a:spcAft>
                <a:spcPts val="300"/>
              </a:spcAft>
              <a:buNone/>
            </a:pPr>
            <a:r>
              <a:rPr sz="850" b="0" i="1">
                <a:solidFill>
                  <a:srgbClr val="64748B"/>
                </a:solidFill>
                <a:latin typeface="Arial"/>
              </a:rPr>
              <a:t>Real photos from our own bench work</a:t>
            </a:r>
          </a:p>
        </p:txBody>
      </p:sp>
      <p:pic>
        <p:nvPicPr>
          <p:cNvPr id="11" name="Photo: bench wiring" descr="Team bench setup: ESP32 board wired to pH, TDS and turbidity sensor boards on a breadboard"/>
          <p:cNvPicPr>
            <a:picLocks noChangeAspect="1"/>
          </p:cNvPicPr>
          <p:nvPr/>
        </p:nvPicPr>
        <p:blipFill>
          <a:blip r:embed="rId6"/>
          <a:stretch>
            <a:fillRect/>
          </a:stretch>
        </p:blipFill>
        <p:spPr>
          <a:xfrm>
            <a:off x="697687" y="1572768"/>
            <a:ext cx="2971800" cy="1669316"/>
          </a:xfrm>
          <a:prstGeom prst="rect">
            <a:avLst/>
          </a:prstGeom>
        </p:spPr>
      </p:pic>
      <p:sp>
        <p:nvSpPr>
          <p:cNvPr id="12" name="TextBox 11"/>
          <p:cNvSpPr txBox="1"/>
          <p:nvPr/>
        </p:nvSpPr>
        <p:spPr>
          <a:xfrm>
            <a:off x="697687" y="3264408"/>
            <a:ext cx="2971800" cy="329184"/>
          </a:xfrm>
          <a:prstGeom prst="rect">
            <a:avLst/>
          </a:prstGeom>
          <a:noFill/>
        </p:spPr>
        <p:txBody>
          <a:bodyPr wrap="square" lIns="0" rIns="0" tIns="0" bIns="0" anchor="t"/>
          <a:lstStyle/>
          <a:p>
            <a:pPr algn="ctr">
              <a:spcAft>
                <a:spcPts val="300"/>
              </a:spcAft>
              <a:buNone/>
            </a:pPr>
            <a:r>
              <a:rPr sz="750" b="0" i="1">
                <a:solidFill>
                  <a:srgbClr val="64748B"/>
                </a:solidFill>
                <a:latin typeface="Arial"/>
              </a:rPr>
              <a:t>Our ESP32 board wired to the pH, TDS and turbidity sensors on a breadboard</a:t>
            </a:r>
          </a:p>
        </p:txBody>
      </p:sp>
      <p:pic>
        <p:nvPicPr>
          <p:cNvPr id="13" name="Photo: sensors in water" descr="Team member placing the pH probe and turbidity sensor in a water sample"/>
          <p:cNvPicPr>
            <a:picLocks noChangeAspect="1"/>
          </p:cNvPicPr>
          <p:nvPr/>
        </p:nvPicPr>
        <p:blipFill>
          <a:blip r:embed="rId7"/>
          <a:stretch>
            <a:fillRect/>
          </a:stretch>
        </p:blipFill>
        <p:spPr>
          <a:xfrm>
            <a:off x="697687" y="3611880"/>
            <a:ext cx="2971800" cy="1666297"/>
          </a:xfrm>
          <a:prstGeom prst="rect">
            <a:avLst/>
          </a:prstGeom>
        </p:spPr>
      </p:pic>
      <p:sp>
        <p:nvSpPr>
          <p:cNvPr id="14" name="TextBox 13"/>
          <p:cNvSpPr txBox="1"/>
          <p:nvPr/>
        </p:nvSpPr>
        <p:spPr>
          <a:xfrm>
            <a:off x="697687" y="5303520"/>
            <a:ext cx="2971800" cy="228600"/>
          </a:xfrm>
          <a:prstGeom prst="rect">
            <a:avLst/>
          </a:prstGeom>
          <a:noFill/>
        </p:spPr>
        <p:txBody>
          <a:bodyPr wrap="square" lIns="0" rIns="0" tIns="0" bIns="0" anchor="t"/>
          <a:lstStyle/>
          <a:p>
            <a:pPr algn="ctr">
              <a:spcAft>
                <a:spcPts val="300"/>
              </a:spcAft>
              <a:buNone/>
            </a:pPr>
            <a:r>
              <a:rPr sz="750" b="0" i="1">
                <a:solidFill>
                  <a:srgbClr val="64748B"/>
                </a:solidFill>
                <a:latin typeface="Arial"/>
              </a:rPr>
              <a:t>Trying the pH probe and turbidity sensor in a water sample</a:t>
            </a:r>
          </a:p>
        </p:txBody>
      </p:sp>
      <p:sp>
        <p:nvSpPr>
          <p:cNvPr id="15" name="Rounded Rectangle 14"/>
          <p:cNvSpPr/>
          <p:nvPr/>
        </p:nvSpPr>
        <p:spPr>
          <a:xfrm>
            <a:off x="3959352" y="960120"/>
            <a:ext cx="4343400" cy="4599432"/>
          </a:xfrm>
          <a:prstGeom prst="roundRect">
            <a:avLst>
              <a:gd name="adj" fmla="val 1684"/>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image.png"/>
          <p:cNvPicPr>
            <a:picLocks noChangeAspect="1"/>
          </p:cNvPicPr>
          <p:nvPr/>
        </p:nvPicPr>
        <p:blipFill>
          <a:blip r:embed="rId8"/>
          <a:stretch>
            <a:fillRect/>
          </a:stretch>
        </p:blipFill>
        <p:spPr>
          <a:xfrm>
            <a:off x="4114800" y="1115568"/>
            <a:ext cx="153296" cy="173736"/>
          </a:xfrm>
          <a:prstGeom prst="rect">
            <a:avLst/>
          </a:prstGeom>
        </p:spPr>
      </p:pic>
      <p:sp>
        <p:nvSpPr>
          <p:cNvPr id="17" name="TextBox 16"/>
          <p:cNvSpPr txBox="1"/>
          <p:nvPr/>
        </p:nvSpPr>
        <p:spPr>
          <a:xfrm>
            <a:off x="4370832" y="1078992"/>
            <a:ext cx="3794759"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Our design work so far</a:t>
            </a:r>
          </a:p>
        </p:txBody>
      </p:sp>
      <p:pic>
        <p:nvPicPr>
          <p:cNvPr id="18" name="FreeCAD screenshot" descr="freecad_model_tree.png"/>
          <p:cNvPicPr>
            <a:picLocks noChangeAspect="1"/>
          </p:cNvPicPr>
          <p:nvPr/>
        </p:nvPicPr>
        <p:blipFill>
          <a:blip r:embed="rId9"/>
          <a:stretch>
            <a:fillRect/>
          </a:stretch>
        </p:blipFill>
        <p:spPr>
          <a:xfrm>
            <a:off x="4114800" y="1325880"/>
            <a:ext cx="4032504" cy="2211170"/>
          </a:xfrm>
          <a:prstGeom prst="rect">
            <a:avLst/>
          </a:prstGeom>
        </p:spPr>
      </p:pic>
      <p:sp>
        <p:nvSpPr>
          <p:cNvPr id="19" name="TextBox 18"/>
          <p:cNvSpPr txBox="1"/>
          <p:nvPr/>
        </p:nvSpPr>
        <p:spPr>
          <a:xfrm>
            <a:off x="4114800" y="3502152"/>
            <a:ext cx="4032504" cy="329184"/>
          </a:xfrm>
          <a:prstGeom prst="rect">
            <a:avLst/>
          </a:prstGeom>
          <a:noFill/>
        </p:spPr>
        <p:txBody>
          <a:bodyPr wrap="square" lIns="0" rIns="0" tIns="0" bIns="0" anchor="t"/>
          <a:lstStyle/>
          <a:p>
            <a:pPr algn="ctr">
              <a:spcAft>
                <a:spcPts val="300"/>
              </a:spcAft>
              <a:buNone/>
            </a:pPr>
            <a:r>
              <a:rPr sz="750" b="0" i="1">
                <a:solidFill>
                  <a:srgbClr val="64748B"/>
                </a:solidFill>
                <a:latin typeface="Arial"/>
              </a:rPr>
              <a:t>Our capsule in FreeCAD 1.1: 9 parts, with every key size driven by one parameter table</a:t>
            </a:r>
          </a:p>
        </p:txBody>
      </p:sp>
      <p:pic>
        <p:nvPicPr>
          <p:cNvPr id="20" name="KiCad screenshot" descr="kicad_schematic_with_ERC.png"/>
          <p:cNvPicPr>
            <a:picLocks noChangeAspect="1"/>
          </p:cNvPicPr>
          <p:nvPr/>
        </p:nvPicPr>
        <p:blipFill>
          <a:blip r:embed="rId10"/>
          <a:stretch>
            <a:fillRect/>
          </a:stretch>
        </p:blipFill>
        <p:spPr>
          <a:xfrm>
            <a:off x="4114800" y="3840480"/>
            <a:ext cx="3200400" cy="1714146"/>
          </a:xfrm>
          <a:prstGeom prst="rect">
            <a:avLst/>
          </a:prstGeom>
        </p:spPr>
      </p:pic>
      <p:sp>
        <p:nvSpPr>
          <p:cNvPr id="21" name="TextBox 20"/>
          <p:cNvSpPr txBox="1"/>
          <p:nvPr/>
        </p:nvSpPr>
        <p:spPr>
          <a:xfrm>
            <a:off x="7388352" y="3886200"/>
            <a:ext cx="822960" cy="1600200"/>
          </a:xfrm>
          <a:prstGeom prst="rect">
            <a:avLst/>
          </a:prstGeom>
          <a:noFill/>
        </p:spPr>
        <p:txBody>
          <a:bodyPr wrap="square" lIns="0" rIns="0" tIns="0" bIns="0" anchor="t"/>
          <a:lstStyle/>
          <a:p>
            <a:pPr algn="l">
              <a:spcAft>
                <a:spcPts val="300"/>
              </a:spcAft>
              <a:buNone/>
            </a:pPr>
            <a:r>
              <a:rPr sz="750" b="0" i="1">
                <a:solidFill>
                  <a:srgbClr val="64748B"/>
                </a:solidFill>
                <a:latin typeface="Arial"/>
              </a:rPr>
              <a:t>Our schematic in KiCad 9, with its electrical check: no errors, no warnings</a:t>
            </a:r>
          </a:p>
        </p:txBody>
      </p:sp>
      <p:sp>
        <p:nvSpPr>
          <p:cNvPr id="22" name="Rounded Rectangle 21"/>
          <p:cNvSpPr/>
          <p:nvPr/>
        </p:nvSpPr>
        <p:spPr>
          <a:xfrm>
            <a:off x="8439912" y="960120"/>
            <a:ext cx="3218688" cy="4599432"/>
          </a:xfrm>
          <a:prstGeom prst="roundRect">
            <a:avLst>
              <a:gd name="adj" fmla="val 227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mage.png"/>
          <p:cNvPicPr>
            <a:picLocks noChangeAspect="1"/>
          </p:cNvPicPr>
          <p:nvPr/>
        </p:nvPicPr>
        <p:blipFill>
          <a:blip r:embed="rId11"/>
          <a:stretch>
            <a:fillRect/>
          </a:stretch>
        </p:blipFill>
        <p:spPr>
          <a:xfrm>
            <a:off x="8595360" y="1115568"/>
            <a:ext cx="214615" cy="173736"/>
          </a:xfrm>
          <a:prstGeom prst="rect">
            <a:avLst/>
          </a:prstGeom>
        </p:spPr>
      </p:pic>
      <p:sp>
        <p:nvSpPr>
          <p:cNvPr id="24" name="TextBox 23"/>
          <p:cNvSpPr txBox="1"/>
          <p:nvPr/>
        </p:nvSpPr>
        <p:spPr>
          <a:xfrm>
            <a:off x="8851392" y="1078992"/>
            <a:ext cx="2670048"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Our project files</a:t>
            </a:r>
          </a:p>
        </p:txBody>
      </p:sp>
      <p:sp>
        <p:nvSpPr>
          <p:cNvPr id="25" name="Rounded Rectangle 24"/>
          <p:cNvSpPr/>
          <p:nvPr/>
        </p:nvSpPr>
        <p:spPr>
          <a:xfrm>
            <a:off x="8604504" y="1353312"/>
            <a:ext cx="2889504" cy="566928"/>
          </a:xfrm>
          <a:prstGeom prst="roundRect">
            <a:avLst>
              <a:gd name="adj" fmla="val 9677"/>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50" b="1" i="0">
                <a:solidFill>
                  <a:srgbClr val="0368A1"/>
                </a:solidFill>
                <a:latin typeface="Arial"/>
              </a:rPr>
              <a:t>github.com/Abishekkishore-byte/hydra-nexus</a:t>
            </a:r>
          </a:p>
          <a:p>
            <a:pPr algn="ctr">
              <a:spcAft>
                <a:spcPts val="0"/>
              </a:spcAft>
            </a:pPr>
            <a:r>
              <a:rPr sz="750" b="0" i="0">
                <a:solidFill>
                  <a:srgbClr val="64748B"/>
                </a:solidFill>
                <a:latin typeface="Arial"/>
              </a:rPr>
              <a:t>public on GitHub</a:t>
            </a:r>
          </a:p>
        </p:txBody>
      </p:sp>
      <p:sp>
        <p:nvSpPr>
          <p:cNvPr id="26" name="TextBox 25"/>
          <p:cNvSpPr txBox="1"/>
          <p:nvPr/>
        </p:nvSpPr>
        <p:spPr>
          <a:xfrm>
            <a:off x="8604504" y="2057400"/>
            <a:ext cx="2889504" cy="3474720"/>
          </a:xfrm>
          <a:prstGeom prst="rect">
            <a:avLst/>
          </a:prstGeom>
          <a:noFill/>
        </p:spPr>
        <p:txBody>
          <a:bodyPr wrap="square" lIns="0" rIns="0" tIns="0" bIns="0" anchor="t"/>
          <a:lstStyle/>
          <a:p>
            <a:pPr algn="l">
              <a:spcAft>
                <a:spcPts val="300"/>
              </a:spcAft>
              <a:buNone/>
            </a:pPr>
            <a:r>
              <a:rPr sz="850" b="1" i="0">
                <a:solidFill>
                  <a:srgbClr val="0F172A"/>
                </a:solidFill>
                <a:latin typeface="Arial"/>
              </a:rPr>
              <a:t>What you’ll find there</a:t>
            </a:r>
          </a:p>
          <a:p>
            <a:pPr algn="l" marL="128016" indent="-128016">
              <a:spcAft>
                <a:spcPts val="300"/>
              </a:spcAft>
              <a:buClr>
                <a:srgbClr val="059668"/>
              </a:buClr>
              <a:buSzPct val="100000"/>
              <a:buFont typeface="Arial"/>
              <a:buChar char="▪"/>
            </a:pPr>
            <a:r>
              <a:rPr sz="850" b="1" i="0">
                <a:solidFill>
                  <a:srgbClr val="0F172A"/>
                </a:solidFill>
                <a:latin typeface="Arial"/>
              </a:rPr>
              <a:t>cad:</a:t>
            </a:r>
            <a:r>
              <a:rPr sz="850" b="0" i="0">
                <a:solidFill>
                  <a:srgbClr val="334155"/>
                </a:solidFill>
                <a:latin typeface="Arial"/>
              </a:rPr>
              <a:t> the FreeCAD and STEP files, the script that builds the model, and screenshots</a:t>
            </a:r>
          </a:p>
          <a:p>
            <a:pPr algn="l" marL="128016" indent="-128016">
              <a:spcAft>
                <a:spcPts val="300"/>
              </a:spcAft>
              <a:buClr>
                <a:srgbClr val="059668"/>
              </a:buClr>
              <a:buSzPct val="100000"/>
              <a:buFont typeface="Arial"/>
              <a:buChar char="▪"/>
            </a:pPr>
            <a:r>
              <a:rPr sz="850" b="1" i="0">
                <a:solidFill>
                  <a:srgbClr val="0F172A"/>
                </a:solidFill>
                <a:latin typeface="Arial"/>
              </a:rPr>
              <a:t>electronics:</a:t>
            </a:r>
            <a:r>
              <a:rPr sz="850" b="0" i="0">
                <a:solidFill>
                  <a:srgbClr val="334155"/>
                </a:solidFill>
                <a:latin typeface="Arial"/>
              </a:rPr>
              <a:t> the KiCad schematic, its check report and a PDF</a:t>
            </a:r>
          </a:p>
          <a:p>
            <a:pPr algn="l" marL="128016" indent="-128016">
              <a:spcAft>
                <a:spcPts val="300"/>
              </a:spcAft>
              <a:buClr>
                <a:srgbClr val="059668"/>
              </a:buClr>
              <a:buSzPct val="100000"/>
              <a:buFont typeface="Arial"/>
              <a:buChar char="▪"/>
            </a:pPr>
            <a:r>
              <a:rPr sz="850" b="1" i="0">
                <a:solidFill>
                  <a:srgbClr val="0F172A"/>
                </a:solidFill>
                <a:latin typeface="Arial"/>
              </a:rPr>
              <a:t>docs:</a:t>
            </a:r>
            <a:r>
              <a:rPr sz="850" b="0" i="0">
                <a:solidFill>
                  <a:srgbClr val="334155"/>
                </a:solidFill>
                <a:latin typeface="Arial"/>
              </a:rPr>
              <a:t> this deck and the parts list</a:t>
            </a:r>
          </a:p>
          <a:p>
            <a:pPr algn="l" marL="128016" indent="-128016">
              <a:spcAft>
                <a:spcPts val="300"/>
              </a:spcAft>
              <a:buClr>
                <a:srgbClr val="059668"/>
              </a:buClr>
              <a:buSzPct val="100000"/>
              <a:buFont typeface="Arial"/>
              <a:buChar char="▪"/>
            </a:pPr>
            <a:r>
              <a:rPr sz="850" b="1" i="0">
                <a:solidFill>
                  <a:srgbClr val="0F172A"/>
                </a:solidFill>
                <a:latin typeface="Arial"/>
              </a:rPr>
              <a:t>visuals:</a:t>
            </a:r>
            <a:r>
              <a:rPr sz="850" b="0" i="0">
                <a:solidFill>
                  <a:srgbClr val="334155"/>
                </a:solidFill>
                <a:latin typeface="Arial"/>
              </a:rPr>
              <a:t> the concept renders and how we made them</a:t>
            </a:r>
          </a:p>
          <a:p>
            <a:pPr algn="l">
              <a:spcAft>
                <a:spcPts val="300"/>
              </a:spcAft>
              <a:buNone/>
            </a:pPr>
            <a:r>
              <a:rPr sz="850" b="0" i="0">
                <a:solidFill>
                  <a:srgbClr val="334155"/>
                </a:solidFill>
                <a:latin typeface="Arial"/>
              </a:rPr>
              <a:t>Every change is dated in the Git history, so progress is easy to check.</a:t>
            </a:r>
          </a:p>
          <a:p>
            <a:pPr algn="l">
              <a:spcAft>
                <a:spcPts val="300"/>
              </a:spcAft>
              <a:buNone/>
            </a:pPr>
            <a:r>
              <a:rPr sz="850" b="0" i="1">
                <a:solidFill>
                  <a:srgbClr val="64748B"/>
                </a:solidFill>
                <a:latin typeface="Arial"/>
              </a:rPr>
              <a:t>Code, the app and test logs go in as we make them, in Months 2 to 4.</a:t>
            </a:r>
          </a:p>
        </p:txBody>
      </p:sp>
      <p:pic>
        <p:nvPicPr>
          <p:cNvPr id="27" name="Note bar" descr="image.png"/>
          <p:cNvPicPr>
            <a:picLocks noChangeAspect="1"/>
          </p:cNvPicPr>
          <p:nvPr/>
        </p:nvPicPr>
        <p:blipFill>
          <a:blip r:embed="rId12"/>
          <a:stretch>
            <a:fillRect/>
          </a:stretch>
        </p:blipFill>
        <p:spPr>
          <a:xfrm>
            <a:off x="533095" y="5715000"/>
            <a:ext cx="11125504" cy="363016"/>
          </a:xfrm>
          <a:prstGeom prst="rect">
            <a:avLst/>
          </a:prstGeom>
        </p:spPr>
      </p:pic>
      <p:sp>
        <p:nvSpPr>
          <p:cNvPr id="28"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Honest note:</a:t>
            </a:r>
            <a:r>
              <a:rPr sz="850" b="0" i="0">
                <a:solidFill>
                  <a:srgbClr val="334155"/>
                </a:solidFill>
                <a:latin typeface="Arial"/>
              </a:rPr>
              <a:t> the photos are from our own bench session; build photos with our ID badges will follow in Month 2. The CAD and schematic were made with help from AI tools, and we are reviewing them.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Safety: What Could Go Wrong, and What We Do About It</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graphicFrame>
        <p:nvGraphicFramePr>
          <p:cNvPr id="7" name="Table 6"/>
          <p:cNvGraphicFramePr>
            <a:graphicFrameLocks noGrp="1"/>
          </p:cNvGraphicFramePr>
          <p:nvPr/>
        </p:nvGraphicFramePr>
        <p:xfrm>
          <a:off x="533095" y="960120"/>
          <a:ext cx="11125502" cy="3657600"/>
        </p:xfrm>
        <a:graphic>
          <a:graphicData uri="http://schemas.openxmlformats.org/drawingml/2006/table">
            <a:tbl>
              <a:tblPr firstRow="0" bandRow="0">
                <a:tableStyleId>{2D5ABB26-0587-4C30-8999-92F81FD0307C}</a:tableStyleId>
              </a:tblPr>
              <a:tblGrid>
                <a:gridCol w="1794436"/>
                <a:gridCol w="1794436"/>
                <a:gridCol w="2358401"/>
                <a:gridCol w="3947759"/>
                <a:gridCol w="1230470"/>
              </a:tblGrid>
              <a:tr h="365760">
                <a:tc>
                  <a:txBody>
                    <a:bodyPr wrap="square"/>
                    <a:lstStyle/>
                    <a:p>
                      <a:pPr algn="l"/>
                      <a:r>
                        <a:rPr sz="750" b="1" i="0">
                          <a:solidFill>
                            <a:srgbClr val="0F172A"/>
                          </a:solidFill>
                          <a:latin typeface="Arial"/>
                        </a:rPr>
                        <a:t>What could go wrong</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What it could cause</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How we spot it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What we do about it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Tested yet?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r>
              <a:tr h="365760">
                <a:tc>
                  <a:txBody>
                    <a:bodyPr wrap="square"/>
                    <a:lstStyle/>
                    <a:p>
                      <a:pPr algn="l"/>
                      <a:r>
                        <a:rPr sz="750" b="1" i="0">
                          <a:solidFill>
                            <a:srgbClr val="1E293B"/>
                          </a:solidFill>
                          <a:latin typeface="Arial"/>
                        </a:rPr>
                        <a:t>Water gets into the electronics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 short circuit or battery damage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 leak sensor inside the dry side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Sealed wall, sealed wires and USB-C; if it gets wet, everything switches off and warns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Dunk test to do</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65760">
                <a:tc>
                  <a:txBody>
                    <a:bodyPr wrap="square"/>
                    <a:lstStyle/>
                    <a:p>
                      <a:pPr algn="l"/>
                      <a:r>
                        <a:rPr sz="750" b="1" i="0">
                          <a:solidFill>
                            <a:srgbClr val="1E293B"/>
                          </a:solidFill>
                          <a:latin typeface="Arial"/>
                        </a:rPr>
                        <a:t>A sensor gives a bad reading</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Wrong treatment, or a false “all good”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Check the range, jumps and spread over 30 readings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Throw the reading out, try twice more, then warn. No result is shown</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Not yet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65760">
                <a:tc>
                  <a:txBody>
                    <a:bodyPr wrap="square"/>
                    <a:lstStyle/>
                    <a:p>
                      <a:pPr algn="l"/>
                      <a:r>
                        <a:rPr sz="750" b="1" i="0">
                          <a:solidFill>
                            <a:srgbClr val="1E293B"/>
                          </a:solidFill>
                          <a:latin typeface="Arial"/>
                        </a:rPr>
                        <a:t>The pump runs dry</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Pump wear and no sample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Pump current drops; the test cell stays empty</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Pump stops within 3 seconds and asks you to put the hose back in water</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Not yet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65760">
                <a:tc>
                  <a:txBody>
                    <a:bodyPr wrap="square"/>
                    <a:lstStyle/>
                    <a:p>
                      <a:pPr algn="l"/>
                      <a:r>
                        <a:rPr sz="750" b="1" i="0">
                          <a:solidFill>
                            <a:srgbClr val="1E293B"/>
                          </a:solidFill>
                          <a:latin typeface="Arial"/>
                        </a:rPr>
                        <a:t>The filter clogs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Slow flow, pressure, possible leaks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Pump current rises; we count litres filtered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Stops at a current limit and asks for a new cartridge; housing tested at 1.5 times pump pressure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Not yet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65760">
                <a:tc>
                  <a:txBody>
                    <a:bodyPr wrap="square"/>
                    <a:lstStyle/>
                    <a:p>
                      <a:pPr algn="l"/>
                      <a:r>
                        <a:rPr sz="750" b="1" i="0">
                          <a:solidFill>
                            <a:srgbClr val="1E293B"/>
                          </a:solidFill>
                          <a:latin typeface="Arial"/>
                        </a:rPr>
                        <a:t>Battery or electrical fault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Heat, in the worst case fire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Battery protection, voltage check, low-voltage reset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Protected battery and fuse; a temperature-aware charger in the next version; sealed USB-C</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Not yet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65760">
                <a:tc>
                  <a:txBody>
                    <a:bodyPr wrap="square"/>
                    <a:lstStyle/>
                    <a:p>
                      <a:pPr algn="l"/>
                      <a:r>
                        <a:rPr sz="750" b="1" i="0">
                          <a:solidFill>
                            <a:srgbClr val="1E293B"/>
                          </a:solidFill>
                          <a:latin typeface="Arial"/>
                        </a:rPr>
                        <a:t>Someone is exposed to UV-C</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Eye or skin injury</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Cap-locked switch and a flow check</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Sealed quartz chamber; UV turns on only with water flowing and the cap locked; auto timeout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Not yet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65760">
                <a:tc>
                  <a:txBody>
                    <a:bodyPr wrap="square"/>
                    <a:lstStyle/>
                    <a:p>
                      <a:pPr algn="l"/>
                      <a:r>
                        <a:rPr sz="750" b="1" i="0">
                          <a:solidFill>
                            <a:srgbClr val="1E293B"/>
                          </a:solidFill>
                          <a:latin typeface="Arial"/>
                        </a:rPr>
                        <a:t>The water doesn’t improve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Someone trusts treatment that didn’t work</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The second test isn’t better than the first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Don’t pour, warn, and suggest another run, a new cartridge or a lab test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Not yet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65760">
                <a:tc>
                  <a:txBody>
                    <a:bodyPr wrap="square"/>
                    <a:lstStyle/>
                    <a:p>
                      <a:pPr algn="l"/>
                      <a:r>
                        <a:rPr sz="750" b="1" i="0">
                          <a:solidFill>
                            <a:srgbClr val="1E293B"/>
                          </a:solidFill>
                          <a:latin typeface="Arial"/>
                        </a:rPr>
                        <a:t>Someone misreads the screen</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A false sense of safety</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Try the screen with real users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Plain words; never says “safe to drink”; shows only what we measured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Not yet</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65760">
                <a:tc>
                  <a:txBody>
                    <a:bodyPr wrap="square"/>
                    <a:lstStyle/>
                    <a:p>
                      <a:pPr algn="l"/>
                      <a:r>
                        <a:rPr sz="750" b="1" i="0">
                          <a:solidFill>
                            <a:srgbClr val="1E293B"/>
                          </a:solidFill>
                          <a:latin typeface="Arial"/>
                        </a:rPr>
                        <a:t>Something our sensors can’t detect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Hidden germs or chemicals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Our sensors can’t see it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 permanent note on the screen, and we suggest a lab test for new or unknown sources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Built into the design</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bl>
          </a:graphicData>
        </a:graphic>
      </p:graphicFrame>
      <p:sp>
        <p:nvSpPr>
          <p:cNvPr id="8" name="Rounded Rectangle 7"/>
          <p:cNvSpPr/>
          <p:nvPr/>
        </p:nvSpPr>
        <p:spPr>
          <a:xfrm>
            <a:off x="533095" y="4754880"/>
            <a:ext cx="11125504" cy="841248"/>
          </a:xfrm>
          <a:prstGeom prst="roundRect">
            <a:avLst>
              <a:gd name="adj" fmla="val 8695"/>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mage.png"/>
          <p:cNvPicPr>
            <a:picLocks noChangeAspect="1"/>
          </p:cNvPicPr>
          <p:nvPr/>
        </p:nvPicPr>
        <p:blipFill>
          <a:blip r:embed="rId5"/>
          <a:stretch>
            <a:fillRect/>
          </a:stretch>
        </p:blipFill>
        <p:spPr>
          <a:xfrm>
            <a:off x="688543" y="4910328"/>
            <a:ext cx="179165" cy="173736"/>
          </a:xfrm>
          <a:prstGeom prst="rect">
            <a:avLst/>
          </a:prstGeom>
        </p:spPr>
      </p:pic>
      <p:sp>
        <p:nvSpPr>
          <p:cNvPr id="10" name="TextBox 9"/>
          <p:cNvSpPr txBox="1"/>
          <p:nvPr/>
        </p:nvSpPr>
        <p:spPr>
          <a:xfrm>
            <a:off x="944575" y="4873752"/>
            <a:ext cx="10576864" cy="274320"/>
          </a:xfrm>
          <a:prstGeom prst="rect">
            <a:avLst/>
          </a:prstGeom>
          <a:noFill/>
        </p:spPr>
        <p:txBody>
          <a:bodyPr wrap="square" lIns="0" rIns="0" tIns="0" bIns="0" anchor="t"/>
          <a:lstStyle/>
          <a:p>
            <a:pPr algn="l">
              <a:spcAft>
                <a:spcPts val="300"/>
              </a:spcAft>
              <a:buNone/>
            </a:pPr>
            <a:r>
              <a:rPr sz="950" b="1" i="0">
                <a:solidFill>
                  <a:srgbClr val="0F172A"/>
                </a:solidFill>
                <a:latin typeface="Arial"/>
              </a:rPr>
              <a:t>Standards we designed around (none tested or certified yet)</a:t>
            </a:r>
          </a:p>
        </p:txBody>
      </p:sp>
      <p:sp>
        <p:nvSpPr>
          <p:cNvPr id="11" name="TextBox 10"/>
          <p:cNvSpPr txBox="1"/>
          <p:nvPr/>
        </p:nvSpPr>
        <p:spPr>
          <a:xfrm>
            <a:off x="713232" y="5056632"/>
            <a:ext cx="10789920" cy="502920"/>
          </a:xfrm>
          <a:prstGeom prst="rect">
            <a:avLst/>
          </a:prstGeom>
          <a:noFill/>
        </p:spPr>
        <p:txBody>
          <a:bodyPr wrap="square" lIns="0" rIns="0" tIns="0" bIns="0" anchor="t"/>
          <a:lstStyle/>
          <a:p>
            <a:pPr algn="l">
              <a:spcAft>
                <a:spcPts val="300"/>
              </a:spcAft>
              <a:buNone/>
            </a:pPr>
            <a:r>
              <a:rPr sz="850" b="0" i="0">
                <a:solidFill>
                  <a:srgbClr val="334155"/>
                </a:solidFill>
                <a:latin typeface="Arial"/>
              </a:rPr>
              <a:t>IEC 60529 for water-tightness (we aim for IPX7). IEC 62133-2 for lithium batteries (we will buy a cell certified to it). ISO 7027-1 for measuring cloudiness. IS 10500:2012 and the WHO guidelines as reference points for water quality.</a:t>
            </a:r>
          </a:p>
        </p:txBody>
      </p:sp>
      <p:pic>
        <p:nvPicPr>
          <p:cNvPr id="12" name="Note bar" descr="image.png"/>
          <p:cNvPicPr>
            <a:picLocks noChangeAspect="1"/>
          </p:cNvPicPr>
          <p:nvPr/>
        </p:nvPicPr>
        <p:blipFill>
          <a:blip r:embed="rId6"/>
          <a:stretch>
            <a:fillRect/>
          </a:stretch>
        </p:blipFill>
        <p:spPr>
          <a:xfrm>
            <a:off x="533095" y="5715000"/>
            <a:ext cx="11125504" cy="363016"/>
          </a:xfrm>
          <a:prstGeom prst="rect">
            <a:avLst/>
          </a:prstGeom>
        </p:spPr>
      </p:pic>
      <p:sp>
        <p:nvSpPr>
          <p:cNvPr id="13"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Our rule:</a:t>
            </a:r>
            <a:r>
              <a:rPr sz="850" b="0" i="0">
                <a:solidFill>
                  <a:srgbClr val="334155"/>
                </a:solidFill>
                <a:latin typeface="Arial"/>
              </a:rPr>
              <a:t> Hydra Nexus never says water is completely safe. It shows how the readings it can measure changed, and suggests a lab test when needed.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Roadmap: Our Four-Month Plan</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sp>
        <p:nvSpPr>
          <p:cNvPr id="7" name="Pentagon 6"/>
          <p:cNvSpPr/>
          <p:nvPr/>
        </p:nvSpPr>
        <p:spPr>
          <a:xfrm>
            <a:off x="533095" y="960120"/>
            <a:ext cx="2788234" cy="384048"/>
          </a:xfrm>
          <a:prstGeom prst="homePlat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FFFFFF"/>
                </a:solidFill>
                <a:latin typeface="Arial"/>
              </a:rPr>
              <a:t>MONTH 1</a:t>
            </a:r>
          </a:p>
        </p:txBody>
      </p:sp>
      <p:sp>
        <p:nvSpPr>
          <p:cNvPr id="8" name="Rounded Rectangle 7"/>
          <p:cNvSpPr/>
          <p:nvPr/>
        </p:nvSpPr>
        <p:spPr>
          <a:xfrm>
            <a:off x="533095" y="1444752"/>
            <a:ext cx="2678506" cy="3611880"/>
          </a:xfrm>
          <a:prstGeom prst="roundRect">
            <a:avLst>
              <a:gd name="adj" fmla="val 273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1111" y="1517904"/>
            <a:ext cx="2422474" cy="3474720"/>
          </a:xfrm>
          <a:prstGeom prst="rect">
            <a:avLst/>
          </a:prstGeom>
          <a:noFill/>
        </p:spPr>
        <p:txBody>
          <a:bodyPr wrap="square" lIns="0" rIns="0" tIns="0" bIns="0" anchor="t"/>
          <a:lstStyle/>
          <a:p>
            <a:pPr algn="l">
              <a:spcAft>
                <a:spcPts val="600"/>
              </a:spcAft>
              <a:buNone/>
            </a:pPr>
            <a:r>
              <a:rPr sz="1050" b="1" i="0">
                <a:solidFill>
                  <a:srgbClr val="0F172A"/>
                </a:solidFill>
                <a:latin typeface="Arial"/>
              </a:rPr>
              <a:t>Finish the design and pick parts</a:t>
            </a:r>
          </a:p>
          <a:p>
            <a:pPr algn="l" marL="128016" indent="-128016">
              <a:spcAft>
                <a:spcPts val="300"/>
              </a:spcAft>
              <a:buClr>
                <a:srgbClr val="059668"/>
              </a:buClr>
              <a:buSzPct val="100000"/>
              <a:buFont typeface="Arial"/>
              <a:buChar char="▪"/>
            </a:pPr>
            <a:r>
              <a:rPr sz="900" b="0" i="0">
                <a:solidFill>
                  <a:srgbClr val="334155"/>
                </a:solidFill>
                <a:latin typeface="Arial"/>
              </a:rPr>
              <a:t>Lock in the layout, water path and control logic</a:t>
            </a:r>
          </a:p>
          <a:p>
            <a:pPr algn="l" marL="128016" indent="-128016">
              <a:spcAft>
                <a:spcPts val="300"/>
              </a:spcAft>
              <a:buClr>
                <a:srgbClr val="059668"/>
              </a:buClr>
              <a:buSzPct val="100000"/>
              <a:buFont typeface="Arial"/>
              <a:buChar char="▪"/>
            </a:pPr>
            <a:r>
              <a:rPr sz="900" b="0" i="0">
                <a:solidFill>
                  <a:srgbClr val="334155"/>
                </a:solidFill>
                <a:latin typeface="Arial"/>
              </a:rPr>
              <a:t>Finish the CAD for the body, cartridge, test cell and electronics side</a:t>
            </a:r>
          </a:p>
          <a:p>
            <a:pPr algn="l" marL="128016" indent="-128016">
              <a:spcAft>
                <a:spcPts val="300"/>
              </a:spcAft>
              <a:buClr>
                <a:srgbClr val="059668"/>
              </a:buClr>
              <a:buSzPct val="100000"/>
              <a:buFont typeface="Arial"/>
              <a:buChar char="▪"/>
            </a:pPr>
            <a:r>
              <a:rPr sz="900" b="0" i="0">
                <a:solidFill>
                  <a:srgbClr val="334155"/>
                </a:solidFill>
                <a:latin typeface="Arial"/>
              </a:rPr>
              <a:t>Polish the schematic; find the small pH probe, pump and valves; get quotes</a:t>
            </a:r>
          </a:p>
          <a:p>
            <a:pPr algn="l">
              <a:spcAft>
                <a:spcPts val="500"/>
              </a:spcAft>
              <a:buNone/>
            </a:pPr>
            <a:r>
              <a:rPr sz="900" b="1" i="0">
                <a:solidFill>
                  <a:srgbClr val="0F172A"/>
                </a:solidFill>
                <a:latin typeface="Arial"/>
              </a:rPr>
              <a:t>We deliver:</a:t>
            </a:r>
            <a:r>
              <a:rPr sz="900" b="0" i="0">
                <a:solidFill>
                  <a:srgbClr val="334155"/>
                </a:solidFill>
                <a:latin typeface="Arial"/>
              </a:rPr>
              <a:t> final CAD files, checked schematic, approved parts list</a:t>
            </a:r>
          </a:p>
          <a:p>
            <a:pPr algn="l">
              <a:spcAft>
                <a:spcPts val="500"/>
              </a:spcAft>
              <a:buNone/>
            </a:pPr>
            <a:r>
              <a:rPr sz="900" b="1" i="0">
                <a:solidFill>
                  <a:srgbClr val="0F172A"/>
                </a:solidFill>
                <a:latin typeface="Arial"/>
              </a:rPr>
              <a:t>We need:</a:t>
            </a:r>
            <a:r>
              <a:rPr sz="900" b="0" i="0">
                <a:solidFill>
                  <a:srgbClr val="334155"/>
                </a:solidFill>
                <a:latin typeface="Arial"/>
              </a:rPr>
              <a:t> the whole team agreeing on the parts; supplier quotes</a:t>
            </a:r>
          </a:p>
          <a:p>
            <a:pPr algn="l">
              <a:spcAft>
                <a:spcPts val="300"/>
              </a:spcAft>
              <a:buNone/>
            </a:pPr>
            <a:r>
              <a:rPr sz="900" b="1" i="0">
                <a:solidFill>
                  <a:srgbClr val="0F172A"/>
                </a:solidFill>
                <a:latin typeface="Arial"/>
              </a:rPr>
              <a:t>Done when:</a:t>
            </a:r>
            <a:r>
              <a:rPr sz="900" b="0" i="0">
                <a:solidFill>
                  <a:srgbClr val="334155"/>
                </a:solidFill>
                <a:latin typeface="Arial"/>
              </a:rPr>
              <a:t> a design review where every risk has a fix, and the battery maths still gives 30+ runs</a:t>
            </a:r>
          </a:p>
        </p:txBody>
      </p:sp>
      <p:sp>
        <p:nvSpPr>
          <p:cNvPr id="10" name="Pentagon 9"/>
          <p:cNvSpPr/>
          <p:nvPr/>
        </p:nvSpPr>
        <p:spPr>
          <a:xfrm>
            <a:off x="3348761" y="960120"/>
            <a:ext cx="2788234" cy="384048"/>
          </a:xfrm>
          <a:prstGeom prst="homePlate">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FFFFFF"/>
                </a:solidFill>
                <a:latin typeface="Arial"/>
              </a:rPr>
              <a:t>MONTH 2</a:t>
            </a:r>
          </a:p>
        </p:txBody>
      </p:sp>
      <p:sp>
        <p:nvSpPr>
          <p:cNvPr id="11" name="Rounded Rectangle 10"/>
          <p:cNvSpPr/>
          <p:nvPr/>
        </p:nvSpPr>
        <p:spPr>
          <a:xfrm>
            <a:off x="3348761" y="1444752"/>
            <a:ext cx="2678506" cy="3611880"/>
          </a:xfrm>
          <a:prstGeom prst="roundRect">
            <a:avLst>
              <a:gd name="adj" fmla="val 273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476777" y="1517904"/>
            <a:ext cx="2422474" cy="3474720"/>
          </a:xfrm>
          <a:prstGeom prst="rect">
            <a:avLst/>
          </a:prstGeom>
          <a:noFill/>
        </p:spPr>
        <p:txBody>
          <a:bodyPr wrap="square" lIns="0" rIns="0" tIns="0" bIns="0" anchor="t"/>
          <a:lstStyle/>
          <a:p>
            <a:pPr algn="l">
              <a:spcAft>
                <a:spcPts val="600"/>
              </a:spcAft>
              <a:buNone/>
            </a:pPr>
            <a:r>
              <a:rPr sz="1050" b="1" i="0">
                <a:solidFill>
                  <a:srgbClr val="0F172A"/>
                </a:solidFill>
                <a:latin typeface="Arial"/>
              </a:rPr>
              <a:t>Build it</a:t>
            </a:r>
          </a:p>
          <a:p>
            <a:pPr algn="l" marL="128016" indent="-128016">
              <a:spcAft>
                <a:spcPts val="300"/>
              </a:spcAft>
              <a:buClr>
                <a:srgbClr val="059668"/>
              </a:buClr>
              <a:buSzPct val="100000"/>
              <a:buFont typeface="Arial"/>
              <a:buChar char="▪"/>
            </a:pPr>
            <a:r>
              <a:rPr sz="900" b="0" i="0">
                <a:solidFill>
                  <a:srgbClr val="334155"/>
                </a:solidFill>
                <a:latin typeface="Arial"/>
              </a:rPr>
              <a:t>3D-print the first body; build the test cell and water parts</a:t>
            </a:r>
          </a:p>
          <a:p>
            <a:pPr algn="l" marL="128016" indent="-128016">
              <a:spcAft>
                <a:spcPts val="300"/>
              </a:spcAft>
              <a:buClr>
                <a:srgbClr val="059668"/>
              </a:buClr>
              <a:buSzPct val="100000"/>
              <a:buFont typeface="Arial"/>
              <a:buChar char="▪"/>
            </a:pPr>
            <a:r>
              <a:rPr sz="900" b="0" i="0">
                <a:solidFill>
                  <a:srgbClr val="334155"/>
                </a:solidFill>
                <a:latin typeface="Arial"/>
              </a:rPr>
              <a:t>Put together the electronics side: battery, charger, board, switches</a:t>
            </a:r>
          </a:p>
          <a:p>
            <a:pPr algn="l" marL="128016" indent="-128016">
              <a:spcAft>
                <a:spcPts val="300"/>
              </a:spcAft>
              <a:buClr>
                <a:srgbClr val="059668"/>
              </a:buClr>
              <a:buSzPct val="100000"/>
              <a:buFont typeface="Arial"/>
              <a:buChar char="▪"/>
            </a:pPr>
            <a:r>
              <a:rPr sz="900" b="0" i="0">
                <a:solidFill>
                  <a:srgbClr val="334155"/>
                </a:solidFill>
                <a:latin typeface="Arial"/>
              </a:rPr>
              <a:t>Fit the sensors, pump, valves and protection</a:t>
            </a:r>
          </a:p>
          <a:p>
            <a:pPr algn="l">
              <a:spcAft>
                <a:spcPts val="500"/>
              </a:spcAft>
              <a:buNone/>
            </a:pPr>
            <a:r>
              <a:rPr sz="900" b="1" i="0">
                <a:solidFill>
                  <a:srgbClr val="0F172A"/>
                </a:solidFill>
                <a:latin typeface="Arial"/>
              </a:rPr>
              <a:t>We deliver:</a:t>
            </a:r>
            <a:r>
              <a:rPr sz="900" b="0" i="0">
                <a:solidFill>
                  <a:srgbClr val="334155"/>
                </a:solidFill>
                <a:latin typeface="Arial"/>
              </a:rPr>
              <a:t> a working first capsule, wiring notes and real build photos</a:t>
            </a:r>
          </a:p>
          <a:p>
            <a:pPr algn="l">
              <a:spcAft>
                <a:spcPts val="500"/>
              </a:spcAft>
              <a:buNone/>
            </a:pPr>
            <a:r>
              <a:rPr sz="900" b="1" i="0">
                <a:solidFill>
                  <a:srgbClr val="0F172A"/>
                </a:solidFill>
                <a:latin typeface="Arial"/>
              </a:rPr>
              <a:t>We need:</a:t>
            </a:r>
            <a:r>
              <a:rPr sz="900" b="0" i="0">
                <a:solidFill>
                  <a:srgbClr val="334155"/>
                </a:solidFill>
                <a:latin typeface="Arial"/>
              </a:rPr>
              <a:t> parts arriving from our Month 1 orders</a:t>
            </a:r>
          </a:p>
          <a:p>
            <a:pPr algn="l">
              <a:spcAft>
                <a:spcPts val="300"/>
              </a:spcAft>
              <a:buNone/>
            </a:pPr>
            <a:r>
              <a:rPr sz="900" b="1" i="0">
                <a:solidFill>
                  <a:srgbClr val="0F172A"/>
                </a:solidFill>
                <a:latin typeface="Arial"/>
              </a:rPr>
              <a:t>Done when:</a:t>
            </a:r>
            <a:r>
              <a:rPr sz="900" b="0" i="0">
                <a:solidFill>
                  <a:srgbClr val="334155"/>
                </a:solidFill>
                <a:latin typeface="Arial"/>
              </a:rPr>
              <a:t> it holds 1.5 times pump pressure, the electronics stay dry, and the battery protection works before the first charge</a:t>
            </a:r>
          </a:p>
        </p:txBody>
      </p:sp>
      <p:sp>
        <p:nvSpPr>
          <p:cNvPr id="13" name="Pentagon 12"/>
          <p:cNvSpPr/>
          <p:nvPr/>
        </p:nvSpPr>
        <p:spPr>
          <a:xfrm>
            <a:off x="6164427" y="960120"/>
            <a:ext cx="2788234" cy="384048"/>
          </a:xfrm>
          <a:prstGeom prst="homePlate">
            <a:avLst/>
          </a:prstGeom>
          <a:solidFill>
            <a:srgbClr val="059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FFFFFF"/>
                </a:solidFill>
                <a:latin typeface="Arial"/>
              </a:rPr>
              <a:t>MONTH 3</a:t>
            </a:r>
          </a:p>
        </p:txBody>
      </p:sp>
      <p:sp>
        <p:nvSpPr>
          <p:cNvPr id="14" name="Rounded Rectangle 13"/>
          <p:cNvSpPr/>
          <p:nvPr/>
        </p:nvSpPr>
        <p:spPr>
          <a:xfrm>
            <a:off x="6164427" y="1444752"/>
            <a:ext cx="2678506" cy="3611880"/>
          </a:xfrm>
          <a:prstGeom prst="roundRect">
            <a:avLst>
              <a:gd name="adj" fmla="val 273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92443" y="1517904"/>
            <a:ext cx="2422474" cy="3474720"/>
          </a:xfrm>
          <a:prstGeom prst="rect">
            <a:avLst/>
          </a:prstGeom>
          <a:noFill/>
        </p:spPr>
        <p:txBody>
          <a:bodyPr wrap="square" lIns="0" rIns="0" tIns="0" bIns="0" anchor="t"/>
          <a:lstStyle/>
          <a:p>
            <a:pPr algn="l">
              <a:spcAft>
                <a:spcPts val="600"/>
              </a:spcAft>
              <a:buNone/>
            </a:pPr>
            <a:r>
              <a:rPr sz="1050" b="1" i="0">
                <a:solidFill>
                  <a:srgbClr val="0F172A"/>
                </a:solidFill>
                <a:latin typeface="Arial"/>
              </a:rPr>
              <a:t>Write the code and test on the bench</a:t>
            </a:r>
          </a:p>
          <a:p>
            <a:pPr algn="l" marL="128016" indent="-128016">
              <a:spcAft>
                <a:spcPts val="300"/>
              </a:spcAft>
              <a:buClr>
                <a:srgbClr val="059668"/>
              </a:buClr>
              <a:buSzPct val="100000"/>
              <a:buFont typeface="Arial"/>
              <a:buChar char="▪"/>
            </a:pPr>
            <a:r>
              <a:rPr sz="900" b="0" i="0">
                <a:solidFill>
                  <a:srgbClr val="334155"/>
                </a:solidFill>
                <a:latin typeface="Arial"/>
              </a:rPr>
              <a:t>Code the test, adapt and pour-only-if-it-passes logic</a:t>
            </a:r>
          </a:p>
          <a:p>
            <a:pPr algn="l" marL="128016" indent="-128016">
              <a:spcAft>
                <a:spcPts val="300"/>
              </a:spcAft>
              <a:buClr>
                <a:srgbClr val="059668"/>
              </a:buClr>
              <a:buSzPct val="100000"/>
              <a:buFont typeface="Arial"/>
              <a:buChar char="▪"/>
            </a:pPr>
            <a:r>
              <a:rPr sz="900" b="0" i="0">
                <a:solidFill>
                  <a:srgbClr val="334155"/>
                </a:solidFill>
                <a:latin typeface="Arial"/>
              </a:rPr>
              <a:t>Get the screen, light ring and phone app working</a:t>
            </a:r>
          </a:p>
          <a:p>
            <a:pPr algn="l" marL="128016" indent="-128016">
              <a:spcAft>
                <a:spcPts val="300"/>
              </a:spcAft>
              <a:buClr>
                <a:srgbClr val="059668"/>
              </a:buClr>
              <a:buSzPct val="100000"/>
              <a:buFont typeface="Arial"/>
              <a:buChar char="▪"/>
            </a:pPr>
            <a:r>
              <a:rPr sz="900" b="0" i="0">
                <a:solidFill>
                  <a:srgbClr val="334155"/>
                </a:solidFill>
                <a:latin typeface="Arial"/>
              </a:rPr>
              <a:t>Calibrate the sensors; run leftover-water and function tests</a:t>
            </a:r>
          </a:p>
          <a:p>
            <a:pPr algn="l">
              <a:spcAft>
                <a:spcPts val="500"/>
              </a:spcAft>
              <a:buNone/>
            </a:pPr>
            <a:r>
              <a:rPr sz="900" b="1" i="0">
                <a:solidFill>
                  <a:srgbClr val="0F172A"/>
                </a:solidFill>
                <a:latin typeface="Arial"/>
              </a:rPr>
              <a:t>We deliver:</a:t>
            </a:r>
            <a:r>
              <a:rPr sz="900" b="0" i="0">
                <a:solidFill>
                  <a:srgbClr val="334155"/>
                </a:solidFill>
                <a:latin typeface="Arial"/>
              </a:rPr>
              <a:t> first version of the code and app, calibration notes, test log</a:t>
            </a:r>
          </a:p>
          <a:p>
            <a:pPr algn="l">
              <a:spcAft>
                <a:spcPts val="500"/>
              </a:spcAft>
              <a:buNone/>
            </a:pPr>
            <a:r>
              <a:rPr sz="900" b="1" i="0">
                <a:solidFill>
                  <a:srgbClr val="0F172A"/>
                </a:solidFill>
                <a:latin typeface="Arial"/>
              </a:rPr>
              <a:t>We need:</a:t>
            </a:r>
            <a:r>
              <a:rPr sz="900" b="0" i="0">
                <a:solidFill>
                  <a:srgbClr val="334155"/>
                </a:solidFill>
                <a:latin typeface="Arial"/>
              </a:rPr>
              <a:t> the built capsule and calibration liquids</a:t>
            </a:r>
          </a:p>
          <a:p>
            <a:pPr algn="l">
              <a:spcAft>
                <a:spcPts val="300"/>
              </a:spcAft>
              <a:buNone/>
            </a:pPr>
            <a:r>
              <a:rPr sz="900" b="1" i="0">
                <a:solidFill>
                  <a:srgbClr val="0F172A"/>
                </a:solidFill>
                <a:latin typeface="Arial"/>
              </a:rPr>
              <a:t>Done when:</a:t>
            </a:r>
            <a:r>
              <a:rPr sz="900" b="0" i="0">
                <a:solidFill>
                  <a:srgbClr val="334155"/>
                </a:solidFill>
                <a:latin typeface="Arial"/>
              </a:rPr>
              <a:t> repeat readings and leftover water within our targets, and every fault we create is caught</a:t>
            </a:r>
          </a:p>
        </p:txBody>
      </p:sp>
      <p:sp>
        <p:nvSpPr>
          <p:cNvPr id="16" name="Rectangle 15"/>
          <p:cNvSpPr/>
          <p:nvPr/>
        </p:nvSpPr>
        <p:spPr>
          <a:xfrm>
            <a:off x="8980093" y="960120"/>
            <a:ext cx="2678506" cy="38404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900" b="1" i="0">
                <a:solidFill>
                  <a:srgbClr val="FFFFFF"/>
                </a:solidFill>
                <a:latin typeface="Arial"/>
              </a:rPr>
              <a:t>MONTH 4</a:t>
            </a:r>
          </a:p>
        </p:txBody>
      </p:sp>
      <p:sp>
        <p:nvSpPr>
          <p:cNvPr id="17" name="Rounded Rectangle 16"/>
          <p:cNvSpPr/>
          <p:nvPr/>
        </p:nvSpPr>
        <p:spPr>
          <a:xfrm>
            <a:off x="8980093" y="1444752"/>
            <a:ext cx="2678506" cy="3611880"/>
          </a:xfrm>
          <a:prstGeom prst="roundRect">
            <a:avLst>
              <a:gd name="adj" fmla="val 273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08109" y="1517904"/>
            <a:ext cx="2422474" cy="3474720"/>
          </a:xfrm>
          <a:prstGeom prst="rect">
            <a:avLst/>
          </a:prstGeom>
          <a:noFill/>
        </p:spPr>
        <p:txBody>
          <a:bodyPr wrap="square" lIns="0" rIns="0" tIns="0" bIns="0" anchor="t"/>
          <a:lstStyle/>
          <a:p>
            <a:pPr algn="l">
              <a:spcAft>
                <a:spcPts val="600"/>
              </a:spcAft>
              <a:buNone/>
            </a:pPr>
            <a:r>
              <a:rPr sz="1050" b="1" i="0">
                <a:solidFill>
                  <a:srgbClr val="0F172A"/>
                </a:solidFill>
                <a:latin typeface="Arial"/>
              </a:rPr>
              <a:t>Test properly and get ready for Stage 3</a:t>
            </a:r>
          </a:p>
          <a:p>
            <a:pPr algn="l" marL="128016" indent="-128016">
              <a:spcAft>
                <a:spcPts val="300"/>
              </a:spcAft>
              <a:buClr>
                <a:srgbClr val="059668"/>
              </a:buClr>
              <a:buSzPct val="100000"/>
              <a:buFont typeface="Arial"/>
              <a:buChar char="▪"/>
            </a:pPr>
            <a:r>
              <a:rPr sz="900" b="0" i="0">
                <a:solidFill>
                  <a:srgbClr val="334155"/>
                </a:solidFill>
                <a:latin typeface="Arial"/>
              </a:rPr>
              <a:t>Try lots of different water samples</a:t>
            </a:r>
          </a:p>
          <a:p>
            <a:pPr algn="l" marL="128016" indent="-128016">
              <a:spcAft>
                <a:spcPts val="300"/>
              </a:spcAft>
              <a:buClr>
                <a:srgbClr val="059668"/>
              </a:buClr>
              <a:buSzPct val="100000"/>
              <a:buFont typeface="Arial"/>
              <a:buChar char="▪"/>
            </a:pPr>
            <a:r>
              <a:rPr sz="900" b="0" i="0">
                <a:solidFill>
                  <a:srgbClr val="334155"/>
                </a:solidFill>
                <a:latin typeface="Arial"/>
              </a:rPr>
              <a:t>Record before and after readings; test battery life, dunking and drops</a:t>
            </a:r>
          </a:p>
          <a:p>
            <a:pPr algn="l" marL="128016" indent="-128016">
              <a:spcAft>
                <a:spcPts val="300"/>
              </a:spcAft>
              <a:buClr>
                <a:srgbClr val="059668"/>
              </a:buClr>
              <a:buSzPct val="100000"/>
              <a:buFont typeface="Arial"/>
              <a:buChar char="▪"/>
            </a:pPr>
            <a:r>
              <a:rPr sz="900" b="0" i="0">
                <a:solidFill>
                  <a:srgbClr val="334155"/>
                </a:solidFill>
                <a:latin typeface="Arial"/>
              </a:rPr>
              <a:t>Fine-tune the logic; write up and prepare the demo</a:t>
            </a:r>
          </a:p>
          <a:p>
            <a:pPr algn="l">
              <a:spcAft>
                <a:spcPts val="500"/>
              </a:spcAft>
              <a:buNone/>
            </a:pPr>
            <a:r>
              <a:rPr sz="900" b="1" i="0">
                <a:solidFill>
                  <a:srgbClr val="0F172A"/>
                </a:solidFill>
                <a:latin typeface="Arial"/>
              </a:rPr>
              <a:t>We deliver:</a:t>
            </a:r>
            <a:r>
              <a:rPr sz="900" b="0" i="0">
                <a:solidFill>
                  <a:srgbClr val="334155"/>
                </a:solidFill>
                <a:latin typeface="Arial"/>
              </a:rPr>
              <a:t> a test report with real data, and a demo plan</a:t>
            </a:r>
          </a:p>
          <a:p>
            <a:pPr algn="l">
              <a:spcAft>
                <a:spcPts val="500"/>
              </a:spcAft>
              <a:buNone/>
            </a:pPr>
            <a:r>
              <a:rPr sz="900" b="1" i="0">
                <a:solidFill>
                  <a:srgbClr val="0F172A"/>
                </a:solidFill>
                <a:latin typeface="Arial"/>
              </a:rPr>
              <a:t>We need:</a:t>
            </a:r>
            <a:r>
              <a:rPr sz="900" b="0" i="0">
                <a:solidFill>
                  <a:srgbClr val="334155"/>
                </a:solidFill>
                <a:latin typeface="Arial"/>
              </a:rPr>
              <a:t> passing the Month 3 checks</a:t>
            </a:r>
          </a:p>
          <a:p>
            <a:pPr algn="l">
              <a:spcAft>
                <a:spcPts val="300"/>
              </a:spcAft>
              <a:buNone/>
            </a:pPr>
            <a:r>
              <a:rPr sz="900" b="1" i="0">
                <a:solidFill>
                  <a:srgbClr val="0F172A"/>
                </a:solidFill>
                <a:latin typeface="Arial"/>
              </a:rPr>
              <a:t>Done when:</a:t>
            </a:r>
            <a:r>
              <a:rPr sz="900" b="0" i="0">
                <a:solidFill>
                  <a:srgbClr val="334155"/>
                </a:solidFill>
                <a:latin typeface="Arial"/>
              </a:rPr>
              <a:t> at least 3 logged runs per water type, with open issues listed and assigned</a:t>
            </a:r>
          </a:p>
        </p:txBody>
      </p:sp>
      <p:sp>
        <p:nvSpPr>
          <p:cNvPr id="19" name="Rounded Rectangle 18"/>
          <p:cNvSpPr/>
          <p:nvPr/>
        </p:nvSpPr>
        <p:spPr>
          <a:xfrm>
            <a:off x="533095" y="5166360"/>
            <a:ext cx="11125504" cy="411480"/>
          </a:xfrm>
          <a:prstGeom prst="roundRect">
            <a:avLst>
              <a:gd name="adj" fmla="val 13333"/>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spcAft>
                <a:spcPts val="0"/>
              </a:spcAft>
            </a:pPr>
            <a:r>
              <a:rPr sz="900" b="1" i="0">
                <a:solidFill>
                  <a:srgbClr val="0F172A"/>
                </a:solidFill>
                <a:latin typeface="Arial"/>
              </a:rPr>
              <a:t>By Stage 3:</a:t>
            </a:r>
            <a:r>
              <a:rPr sz="900" b="0" i="0">
                <a:solidFill>
                  <a:srgbClr val="334155"/>
                </a:solidFill>
                <a:latin typeface="Arial"/>
              </a:rPr>
              <a:t> a working pocket capsule we can demo live, running the full identify, decide, purify, verify, compare loop on real water.</a:t>
            </a:r>
          </a:p>
        </p:txBody>
      </p:sp>
      <p:pic>
        <p:nvPicPr>
          <p:cNvPr id="20" name="Note bar" descr="image.png"/>
          <p:cNvPicPr>
            <a:picLocks noChangeAspect="1"/>
          </p:cNvPicPr>
          <p:nvPr/>
        </p:nvPicPr>
        <p:blipFill>
          <a:blip r:embed="rId5"/>
          <a:stretch>
            <a:fillRect/>
          </a:stretch>
        </p:blipFill>
        <p:spPr>
          <a:xfrm>
            <a:off x="533095" y="5715000"/>
            <a:ext cx="11125504" cy="363016"/>
          </a:xfrm>
          <a:prstGeom prst="rect">
            <a:avLst/>
          </a:prstGeom>
        </p:spPr>
      </p:pic>
      <p:sp>
        <p:nvSpPr>
          <p:cNvPr id="21"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About the dates:</a:t>
            </a:r>
            <a:r>
              <a:rPr sz="850" b="0" i="0">
                <a:solidFill>
                  <a:srgbClr val="334155"/>
                </a:solidFill>
                <a:latin typeface="Arial"/>
              </a:rPr>
              <a:t> months count from when Stage 2 starts; we will set the exact dates. This is our plan, and none of it is done yet.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Technical Challenges: The Hard Parts</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sp>
        <p:nvSpPr>
          <p:cNvPr id="7" name="Rounded Rectangle 6"/>
          <p:cNvSpPr/>
          <p:nvPr/>
        </p:nvSpPr>
        <p:spPr>
          <a:xfrm>
            <a:off x="533095" y="960120"/>
            <a:ext cx="2122688" cy="2212848"/>
          </a:xfrm>
          <a:prstGeom prst="roundRect">
            <a:avLst>
              <a:gd name="adj" fmla="val 344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51967" y="1078992"/>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1</a:t>
            </a:r>
          </a:p>
        </p:txBody>
      </p:sp>
      <p:sp>
        <p:nvSpPr>
          <p:cNvPr id="9" name="Rounded Rectangle 8"/>
          <p:cNvSpPr/>
          <p:nvPr/>
        </p:nvSpPr>
        <p:spPr>
          <a:xfrm>
            <a:off x="1942551" y="1115568"/>
            <a:ext cx="594360" cy="18288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91B1B"/>
                </a:solidFill>
                <a:latin typeface="Arial"/>
              </a:rPr>
              <a:t>HIGH</a:t>
            </a:r>
          </a:p>
        </p:txBody>
      </p:sp>
      <p:sp>
        <p:nvSpPr>
          <p:cNvPr id="10" name="TextBox 9"/>
          <p:cNvSpPr txBox="1"/>
          <p:nvPr/>
        </p:nvSpPr>
        <p:spPr>
          <a:xfrm>
            <a:off x="651967" y="1417320"/>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Keeping sensors accurate</a:t>
            </a:r>
          </a:p>
          <a:p>
            <a:pPr algn="l">
              <a:spcAft>
                <a:spcPts val="600"/>
              </a:spcAft>
              <a:buNone/>
            </a:pPr>
            <a:r>
              <a:rPr sz="900" b="1" i="0">
                <a:solidFill>
                  <a:srgbClr val="0F172A"/>
                </a:solidFill>
                <a:latin typeface="Arial"/>
              </a:rPr>
              <a:t>Why it matters:</a:t>
            </a:r>
            <a:r>
              <a:rPr sz="900" b="0" i="0">
                <a:solidFill>
                  <a:srgbClr val="334155"/>
                </a:solidFill>
                <a:latin typeface="Arial"/>
              </a:rPr>
              <a:t> Small pH probes drift and need to stay wet. A small error ruins the before-and-after comparison.</a:t>
            </a:r>
          </a:p>
          <a:p>
            <a:pPr algn="l">
              <a:spcAft>
                <a:spcPts val="300"/>
              </a:spcAft>
              <a:buNone/>
            </a:pPr>
            <a:r>
              <a:rPr sz="900" b="1" i="0">
                <a:solidFill>
                  <a:srgbClr val="0F172A"/>
                </a:solidFill>
                <a:latin typeface="Arial"/>
              </a:rPr>
              <a:t>How we’ll check:</a:t>
            </a:r>
            <a:r>
              <a:rPr sz="900" b="0" i="0">
                <a:solidFill>
                  <a:srgbClr val="334155"/>
                </a:solidFill>
                <a:latin typeface="Arial"/>
              </a:rPr>
              <a:t> Compare against a lab-grade probe over 4 hours; use a wet storage cap.</a:t>
            </a:r>
          </a:p>
        </p:txBody>
      </p:sp>
      <p:sp>
        <p:nvSpPr>
          <p:cNvPr id="11" name="Rounded Rectangle 10"/>
          <p:cNvSpPr/>
          <p:nvPr/>
        </p:nvSpPr>
        <p:spPr>
          <a:xfrm>
            <a:off x="2783799" y="960120"/>
            <a:ext cx="2122688" cy="2212848"/>
          </a:xfrm>
          <a:prstGeom prst="roundRect">
            <a:avLst>
              <a:gd name="adj" fmla="val 344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902671" y="1078992"/>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2</a:t>
            </a:r>
          </a:p>
        </p:txBody>
      </p:sp>
      <p:sp>
        <p:nvSpPr>
          <p:cNvPr id="13" name="Rounded Rectangle 12"/>
          <p:cNvSpPr/>
          <p:nvPr/>
        </p:nvSpPr>
        <p:spPr>
          <a:xfrm>
            <a:off x="4193255" y="1115568"/>
            <a:ext cx="594360" cy="18288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91B1B"/>
                </a:solidFill>
                <a:latin typeface="Arial"/>
              </a:rPr>
              <a:t>HIGH</a:t>
            </a:r>
          </a:p>
        </p:txBody>
      </p:sp>
      <p:sp>
        <p:nvSpPr>
          <p:cNvPr id="14" name="TextBox 13"/>
          <p:cNvSpPr txBox="1"/>
          <p:nvPr/>
        </p:nvSpPr>
        <p:spPr>
          <a:xfrm>
            <a:off x="2902671" y="1417320"/>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Making sense of mixed readings</a:t>
            </a:r>
          </a:p>
          <a:p>
            <a:pPr algn="l">
              <a:spcAft>
                <a:spcPts val="600"/>
              </a:spcAft>
              <a:buNone/>
            </a:pPr>
            <a:r>
              <a:rPr sz="900" b="1" i="0">
                <a:solidFill>
                  <a:srgbClr val="0F172A"/>
                </a:solidFill>
                <a:latin typeface="Arial"/>
              </a:rPr>
              <a:t>Why it matters:</a:t>
            </a:r>
            <a:r>
              <a:rPr sz="900" b="0" i="0">
                <a:solidFill>
                  <a:srgbClr val="334155"/>
                </a:solidFill>
                <a:latin typeface="Arial"/>
              </a:rPr>
              <a:t> Some combinations of pH, TDS and cloudiness are confusing and could lead to the wrong choice.</a:t>
            </a:r>
          </a:p>
          <a:p>
            <a:pPr algn="l">
              <a:spcAft>
                <a:spcPts val="300"/>
              </a:spcAft>
              <a:buNone/>
            </a:pPr>
            <a:r>
              <a:rPr sz="900" b="1" i="0">
                <a:solidFill>
                  <a:srgbClr val="0F172A"/>
                </a:solidFill>
                <a:latin typeface="Arial"/>
              </a:rPr>
              <a:t>How we’ll check:</a:t>
            </a:r>
            <a:r>
              <a:rPr sz="900" b="0" i="0">
                <a:solidFill>
                  <a:srgbClr val="334155"/>
                </a:solidFill>
                <a:latin typeface="Arial"/>
              </a:rPr>
              <a:t> Prepare test water for every rule we wrote, and try each one.</a:t>
            </a:r>
          </a:p>
        </p:txBody>
      </p:sp>
      <p:sp>
        <p:nvSpPr>
          <p:cNvPr id="15" name="Rounded Rectangle 14"/>
          <p:cNvSpPr/>
          <p:nvPr/>
        </p:nvSpPr>
        <p:spPr>
          <a:xfrm>
            <a:off x="5034503" y="960120"/>
            <a:ext cx="2122688" cy="2212848"/>
          </a:xfrm>
          <a:prstGeom prst="roundRect">
            <a:avLst>
              <a:gd name="adj" fmla="val 344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153375" y="1078992"/>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3</a:t>
            </a:r>
          </a:p>
        </p:txBody>
      </p:sp>
      <p:sp>
        <p:nvSpPr>
          <p:cNvPr id="17" name="Rounded Rectangle 16"/>
          <p:cNvSpPr/>
          <p:nvPr/>
        </p:nvSpPr>
        <p:spPr>
          <a:xfrm>
            <a:off x="6443959" y="1115568"/>
            <a:ext cx="594360" cy="18288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91B1B"/>
                </a:solidFill>
                <a:latin typeface="Arial"/>
              </a:rPr>
              <a:t>HIGH</a:t>
            </a:r>
          </a:p>
        </p:txBody>
      </p:sp>
      <p:sp>
        <p:nvSpPr>
          <p:cNvPr id="18" name="TextBox 17"/>
          <p:cNvSpPr txBox="1"/>
          <p:nvPr/>
        </p:nvSpPr>
        <p:spPr>
          <a:xfrm>
            <a:off x="5153375" y="1417320"/>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One filter can’t fix everything</a:t>
            </a:r>
          </a:p>
          <a:p>
            <a:pPr algn="l">
              <a:spcAft>
                <a:spcPts val="600"/>
              </a:spcAft>
              <a:buNone/>
            </a:pPr>
            <a:r>
              <a:rPr sz="900" b="1" i="0">
                <a:solidFill>
                  <a:srgbClr val="0F172A"/>
                </a:solidFill>
                <a:latin typeface="Arial"/>
              </a:rPr>
              <a:t>Why it matters:</a:t>
            </a:r>
            <a:r>
              <a:rPr sz="900" b="0" i="0">
                <a:solidFill>
                  <a:srgbClr val="334155"/>
                </a:solidFill>
                <a:latin typeface="Arial"/>
              </a:rPr>
              <a:t> A pocket cartridge can’t lower high TDS, for example.</a:t>
            </a:r>
          </a:p>
          <a:p>
            <a:pPr algn="l">
              <a:spcAft>
                <a:spcPts val="300"/>
              </a:spcAft>
              <a:buNone/>
            </a:pPr>
            <a:r>
              <a:rPr sz="900" b="1" i="0">
                <a:solidFill>
                  <a:srgbClr val="0F172A"/>
                </a:solidFill>
                <a:latin typeface="Arial"/>
              </a:rPr>
              <a:t>How we’ll check:</a:t>
            </a:r>
            <a:r>
              <a:rPr sz="900" b="0" i="0">
                <a:solidFill>
                  <a:srgbClr val="334155"/>
                </a:solidFill>
                <a:latin typeface="Arial"/>
              </a:rPr>
              <a:t> Check that the capsule warns every time it can’t help.</a:t>
            </a:r>
          </a:p>
        </p:txBody>
      </p:sp>
      <p:sp>
        <p:nvSpPr>
          <p:cNvPr id="19" name="Rounded Rectangle 18"/>
          <p:cNvSpPr/>
          <p:nvPr/>
        </p:nvSpPr>
        <p:spPr>
          <a:xfrm>
            <a:off x="7285207" y="960120"/>
            <a:ext cx="2122688" cy="2212848"/>
          </a:xfrm>
          <a:prstGeom prst="roundRect">
            <a:avLst>
              <a:gd name="adj" fmla="val 344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404079" y="1078992"/>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4</a:t>
            </a:r>
          </a:p>
        </p:txBody>
      </p:sp>
      <p:sp>
        <p:nvSpPr>
          <p:cNvPr id="21" name="Rounded Rectangle 20"/>
          <p:cNvSpPr/>
          <p:nvPr/>
        </p:nvSpPr>
        <p:spPr>
          <a:xfrm>
            <a:off x="8694663" y="1115568"/>
            <a:ext cx="594360" cy="18288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91B1B"/>
                </a:solidFill>
                <a:latin typeface="Arial"/>
              </a:rPr>
              <a:t>HIGH</a:t>
            </a:r>
          </a:p>
        </p:txBody>
      </p:sp>
      <p:sp>
        <p:nvSpPr>
          <p:cNvPr id="22" name="TextBox 21"/>
          <p:cNvSpPr txBox="1"/>
          <p:nvPr/>
        </p:nvSpPr>
        <p:spPr>
          <a:xfrm>
            <a:off x="7404079" y="1417320"/>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Sharing one test cell</a:t>
            </a:r>
          </a:p>
          <a:p>
            <a:pPr algn="l">
              <a:spcAft>
                <a:spcPts val="600"/>
              </a:spcAft>
              <a:buNone/>
            </a:pPr>
            <a:r>
              <a:rPr sz="900" b="1" i="0">
                <a:solidFill>
                  <a:srgbClr val="0F172A"/>
                </a:solidFill>
                <a:latin typeface="Arial"/>
              </a:rPr>
              <a:t>Why it matters:</a:t>
            </a:r>
            <a:r>
              <a:rPr sz="900" b="0" i="0">
                <a:solidFill>
                  <a:srgbClr val="334155"/>
                </a:solidFill>
                <a:latin typeface="Arial"/>
              </a:rPr>
              <a:t> Bubbles confuse the cloudiness sensor, and leftover raw water could skew the second test.</a:t>
            </a:r>
          </a:p>
          <a:p>
            <a:pPr algn="l">
              <a:spcAft>
                <a:spcPts val="300"/>
              </a:spcAft>
              <a:buNone/>
            </a:pPr>
            <a:r>
              <a:rPr sz="900" b="1" i="0">
                <a:solidFill>
                  <a:srgbClr val="0F172A"/>
                </a:solidFill>
                <a:latin typeface="Arial"/>
              </a:rPr>
              <a:t>How we’ll check:</a:t>
            </a:r>
            <a:r>
              <a:rPr sz="900" b="0" i="0">
                <a:solidFill>
                  <a:srgbClr val="334155"/>
                </a:solidFill>
                <a:latin typeface="Arial"/>
              </a:rPr>
              <a:t> Measure leftover water; compare readings while flowing and while still.</a:t>
            </a:r>
          </a:p>
        </p:txBody>
      </p:sp>
      <p:sp>
        <p:nvSpPr>
          <p:cNvPr id="23" name="Rounded Rectangle 22"/>
          <p:cNvSpPr/>
          <p:nvPr/>
        </p:nvSpPr>
        <p:spPr>
          <a:xfrm>
            <a:off x="9535911" y="960120"/>
            <a:ext cx="2122688" cy="2212848"/>
          </a:xfrm>
          <a:prstGeom prst="roundRect">
            <a:avLst>
              <a:gd name="adj" fmla="val 344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654783" y="1078992"/>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5</a:t>
            </a:r>
          </a:p>
        </p:txBody>
      </p:sp>
      <p:sp>
        <p:nvSpPr>
          <p:cNvPr id="25" name="Rounded Rectangle 24"/>
          <p:cNvSpPr/>
          <p:nvPr/>
        </p:nvSpPr>
        <p:spPr>
          <a:xfrm>
            <a:off x="10945368" y="1115568"/>
            <a:ext cx="594360" cy="18288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2400E"/>
                </a:solidFill>
                <a:latin typeface="Arial"/>
              </a:rPr>
              <a:t>MEDIUM</a:t>
            </a:r>
          </a:p>
        </p:txBody>
      </p:sp>
      <p:sp>
        <p:nvSpPr>
          <p:cNvPr id="26" name="TextBox 25"/>
          <p:cNvSpPr txBox="1"/>
          <p:nvPr/>
        </p:nvSpPr>
        <p:spPr>
          <a:xfrm>
            <a:off x="9654783" y="1417320"/>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Steady flow on a battery</a:t>
            </a:r>
          </a:p>
          <a:p>
            <a:pPr algn="l">
              <a:spcAft>
                <a:spcPts val="600"/>
              </a:spcAft>
              <a:buNone/>
            </a:pPr>
            <a:r>
              <a:rPr sz="900" b="1" i="0">
                <a:solidFill>
                  <a:srgbClr val="0F172A"/>
                </a:solidFill>
                <a:latin typeface="Arial"/>
              </a:rPr>
              <a:t>Why it matters:</a:t>
            </a:r>
            <a:r>
              <a:rPr sz="900" b="0" i="0">
                <a:solidFill>
                  <a:srgbClr val="334155"/>
                </a:solidFill>
                <a:latin typeface="Arial"/>
              </a:rPr>
              <a:t> As the filter fills up and the battery drains, the flow changes.</a:t>
            </a:r>
          </a:p>
          <a:p>
            <a:pPr algn="l">
              <a:spcAft>
                <a:spcPts val="300"/>
              </a:spcAft>
              <a:buNone/>
            </a:pPr>
            <a:r>
              <a:rPr sz="900" b="1" i="0">
                <a:solidFill>
                  <a:srgbClr val="0F172A"/>
                </a:solidFill>
                <a:latin typeface="Arial"/>
              </a:rPr>
              <a:t>How we’ll check:</a:t>
            </a:r>
            <a:r>
              <a:rPr sz="900" b="0" i="0">
                <a:solidFill>
                  <a:srgbClr val="334155"/>
                </a:solidFill>
                <a:latin typeface="Arial"/>
              </a:rPr>
              <a:t> Log flow against battery level and litres filtered.</a:t>
            </a:r>
          </a:p>
        </p:txBody>
      </p:sp>
      <p:sp>
        <p:nvSpPr>
          <p:cNvPr id="27" name="Rounded Rectangle 26"/>
          <p:cNvSpPr/>
          <p:nvPr/>
        </p:nvSpPr>
        <p:spPr>
          <a:xfrm>
            <a:off x="533095" y="3300984"/>
            <a:ext cx="2122688" cy="2212848"/>
          </a:xfrm>
          <a:prstGeom prst="roundRect">
            <a:avLst>
              <a:gd name="adj" fmla="val 344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51967" y="3419856"/>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6</a:t>
            </a:r>
          </a:p>
        </p:txBody>
      </p:sp>
      <p:sp>
        <p:nvSpPr>
          <p:cNvPr id="29" name="Rounded Rectangle 28"/>
          <p:cNvSpPr/>
          <p:nvPr/>
        </p:nvSpPr>
        <p:spPr>
          <a:xfrm>
            <a:off x="1942551" y="3456432"/>
            <a:ext cx="594360" cy="18288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2400E"/>
                </a:solidFill>
                <a:latin typeface="Arial"/>
              </a:rPr>
              <a:t>MEDIUM</a:t>
            </a:r>
          </a:p>
        </p:txBody>
      </p:sp>
      <p:sp>
        <p:nvSpPr>
          <p:cNvPr id="30" name="TextBox 29"/>
          <p:cNvSpPr txBox="1"/>
          <p:nvPr/>
        </p:nvSpPr>
        <p:spPr>
          <a:xfrm>
            <a:off x="651967" y="3758184"/>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Tiny pumps and valves</a:t>
            </a:r>
          </a:p>
          <a:p>
            <a:pPr algn="l">
              <a:spcAft>
                <a:spcPts val="600"/>
              </a:spcAft>
              <a:buNone/>
            </a:pPr>
            <a:r>
              <a:rPr sz="900" b="1" i="0">
                <a:solidFill>
                  <a:srgbClr val="0F172A"/>
                </a:solidFill>
                <a:latin typeface="Arial"/>
              </a:rPr>
              <a:t>Why it matters:</a:t>
            </a:r>
            <a:r>
              <a:rPr sz="900" b="0" i="0">
                <a:solidFill>
                  <a:srgbClr val="334155"/>
                </a:solidFill>
                <a:latin typeface="Arial"/>
              </a:rPr>
              <a:t> Small pumps need priming and air pockets can block tiny valves.</a:t>
            </a:r>
          </a:p>
          <a:p>
            <a:pPr algn="l">
              <a:spcAft>
                <a:spcPts val="300"/>
              </a:spcAft>
              <a:buNone/>
            </a:pPr>
            <a:r>
              <a:rPr sz="900" b="1" i="0">
                <a:solidFill>
                  <a:srgbClr val="0F172A"/>
                </a:solidFill>
                <a:latin typeface="Arial"/>
              </a:rPr>
              <a:t>How we’ll check:</a:t>
            </a:r>
            <a:r>
              <a:rPr sz="900" b="0" i="0">
                <a:solidFill>
                  <a:srgbClr val="334155"/>
                </a:solidFill>
                <a:latin typeface="Arial"/>
              </a:rPr>
              <a:t> Test the switching order and priming.</a:t>
            </a:r>
          </a:p>
        </p:txBody>
      </p:sp>
      <p:sp>
        <p:nvSpPr>
          <p:cNvPr id="31" name="Rounded Rectangle 30"/>
          <p:cNvSpPr/>
          <p:nvPr/>
        </p:nvSpPr>
        <p:spPr>
          <a:xfrm>
            <a:off x="2783799" y="3300984"/>
            <a:ext cx="2122688" cy="2212848"/>
          </a:xfrm>
          <a:prstGeom prst="roundRect">
            <a:avLst>
              <a:gd name="adj" fmla="val 344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2902671" y="3419856"/>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7</a:t>
            </a:r>
          </a:p>
        </p:txBody>
      </p:sp>
      <p:sp>
        <p:nvSpPr>
          <p:cNvPr id="33" name="Rounded Rectangle 32"/>
          <p:cNvSpPr/>
          <p:nvPr/>
        </p:nvSpPr>
        <p:spPr>
          <a:xfrm>
            <a:off x="4193255" y="3456432"/>
            <a:ext cx="594360" cy="18288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91B1B"/>
                </a:solidFill>
                <a:latin typeface="Arial"/>
              </a:rPr>
              <a:t>HIGH</a:t>
            </a:r>
          </a:p>
        </p:txBody>
      </p:sp>
      <p:sp>
        <p:nvSpPr>
          <p:cNvPr id="34" name="TextBox 33"/>
          <p:cNvSpPr txBox="1"/>
          <p:nvPr/>
        </p:nvSpPr>
        <p:spPr>
          <a:xfrm>
            <a:off x="2902671" y="3758184"/>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Filters clogging over time</a:t>
            </a:r>
          </a:p>
          <a:p>
            <a:pPr algn="l">
              <a:spcAft>
                <a:spcPts val="600"/>
              </a:spcAft>
              <a:buNone/>
            </a:pPr>
            <a:r>
              <a:rPr sz="900" b="1" i="0">
                <a:solidFill>
                  <a:srgbClr val="0F172A"/>
                </a:solidFill>
                <a:latin typeface="Arial"/>
              </a:rPr>
              <a:t>Why it matters:</a:t>
            </a:r>
            <a:r>
              <a:rPr sz="900" b="0" i="0">
                <a:solidFill>
                  <a:srgbClr val="334155"/>
                </a:solidFill>
                <a:latin typeface="Arial"/>
              </a:rPr>
              <a:t> Flow drops and cleaning gets worse as the cartridge fills up.</a:t>
            </a:r>
          </a:p>
          <a:p>
            <a:pPr algn="l">
              <a:spcAft>
                <a:spcPts val="300"/>
              </a:spcAft>
              <a:buNone/>
            </a:pPr>
            <a:r>
              <a:rPr sz="900" b="1" i="0">
                <a:solidFill>
                  <a:srgbClr val="0F172A"/>
                </a:solidFill>
                <a:latin typeface="Arial"/>
              </a:rPr>
              <a:t>How we’ll check:</a:t>
            </a:r>
            <a:r>
              <a:rPr sz="900" b="0" i="0">
                <a:solidFill>
                  <a:srgbClr val="334155"/>
                </a:solidFill>
                <a:latin typeface="Arial"/>
              </a:rPr>
              <a:t> Track pump current against litres filtered.</a:t>
            </a:r>
          </a:p>
        </p:txBody>
      </p:sp>
      <p:sp>
        <p:nvSpPr>
          <p:cNvPr id="35" name="Rounded Rectangle 34"/>
          <p:cNvSpPr/>
          <p:nvPr/>
        </p:nvSpPr>
        <p:spPr>
          <a:xfrm>
            <a:off x="5034503" y="3300984"/>
            <a:ext cx="2122688" cy="2212848"/>
          </a:xfrm>
          <a:prstGeom prst="roundRect">
            <a:avLst>
              <a:gd name="adj" fmla="val 344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5153375" y="3419856"/>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8</a:t>
            </a:r>
          </a:p>
        </p:txBody>
      </p:sp>
      <p:sp>
        <p:nvSpPr>
          <p:cNvPr id="37" name="Rounded Rectangle 36"/>
          <p:cNvSpPr/>
          <p:nvPr/>
        </p:nvSpPr>
        <p:spPr>
          <a:xfrm>
            <a:off x="6443959" y="3456432"/>
            <a:ext cx="594360" cy="18288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91B1B"/>
                </a:solidFill>
                <a:latin typeface="Arial"/>
              </a:rPr>
              <a:t>HIGH</a:t>
            </a:r>
          </a:p>
        </p:txBody>
      </p:sp>
      <p:sp>
        <p:nvSpPr>
          <p:cNvPr id="38" name="TextBox 37"/>
          <p:cNvSpPr txBox="1"/>
          <p:nvPr/>
        </p:nvSpPr>
        <p:spPr>
          <a:xfrm>
            <a:off x="5153375" y="3758184"/>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Fair before-and-after tests</a:t>
            </a:r>
          </a:p>
          <a:p>
            <a:pPr algn="l">
              <a:spcAft>
                <a:spcPts val="600"/>
              </a:spcAft>
              <a:buNone/>
            </a:pPr>
            <a:r>
              <a:rPr sz="900" b="1" i="0">
                <a:solidFill>
                  <a:srgbClr val="0F172A"/>
                </a:solidFill>
                <a:latin typeface="Arial"/>
              </a:rPr>
              <a:t>Why it matters:</a:t>
            </a:r>
            <a:r>
              <a:rPr sz="900" b="0" i="0">
                <a:solidFill>
                  <a:srgbClr val="334155"/>
                </a:solidFill>
                <a:latin typeface="Arial"/>
              </a:rPr>
              <a:t> Temperature or timing differences between the two tests can make the numbers misleading.</a:t>
            </a:r>
          </a:p>
          <a:p>
            <a:pPr algn="l">
              <a:spcAft>
                <a:spcPts val="300"/>
              </a:spcAft>
              <a:buNone/>
            </a:pPr>
            <a:r>
              <a:rPr sz="900" b="1" i="0">
                <a:solidFill>
                  <a:srgbClr val="0F172A"/>
                </a:solidFill>
                <a:latin typeface="Arial"/>
              </a:rPr>
              <a:t>How we’ll check:</a:t>
            </a:r>
            <a:r>
              <a:rPr sz="900" b="0" i="0">
                <a:solidFill>
                  <a:srgbClr val="334155"/>
                </a:solidFill>
                <a:latin typeface="Arial"/>
              </a:rPr>
              <a:t> Correct for temperature and repeat the tests.</a:t>
            </a:r>
          </a:p>
        </p:txBody>
      </p:sp>
      <p:sp>
        <p:nvSpPr>
          <p:cNvPr id="39" name="Rounded Rectangle 38"/>
          <p:cNvSpPr/>
          <p:nvPr/>
        </p:nvSpPr>
        <p:spPr>
          <a:xfrm>
            <a:off x="7285207" y="3300984"/>
            <a:ext cx="2122688" cy="2212848"/>
          </a:xfrm>
          <a:prstGeom prst="roundRect">
            <a:avLst>
              <a:gd name="adj" fmla="val 344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7404079" y="3419856"/>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9</a:t>
            </a:r>
          </a:p>
        </p:txBody>
      </p:sp>
      <p:sp>
        <p:nvSpPr>
          <p:cNvPr id="41" name="Rounded Rectangle 40"/>
          <p:cNvSpPr/>
          <p:nvPr/>
        </p:nvSpPr>
        <p:spPr>
          <a:xfrm>
            <a:off x="8694663" y="3456432"/>
            <a:ext cx="594360" cy="18288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91B1B"/>
                </a:solidFill>
                <a:latin typeface="Arial"/>
              </a:rPr>
              <a:t>HIGH</a:t>
            </a:r>
          </a:p>
        </p:txBody>
      </p:sp>
      <p:sp>
        <p:nvSpPr>
          <p:cNvPr id="42" name="TextBox 41"/>
          <p:cNvSpPr txBox="1"/>
          <p:nvPr/>
        </p:nvSpPr>
        <p:spPr>
          <a:xfrm>
            <a:off x="7404079" y="3758184"/>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Better numbers aren’t the same as safe water</a:t>
            </a:r>
          </a:p>
          <a:p>
            <a:pPr algn="l">
              <a:spcAft>
                <a:spcPts val="600"/>
              </a:spcAft>
              <a:buNone/>
            </a:pPr>
            <a:r>
              <a:rPr sz="900" b="1" i="0">
                <a:solidFill>
                  <a:srgbClr val="0F172A"/>
                </a:solidFill>
                <a:latin typeface="Arial"/>
              </a:rPr>
              <a:t>Why it matters:</a:t>
            </a:r>
            <a:r>
              <a:rPr sz="900" b="0" i="0">
                <a:solidFill>
                  <a:srgbClr val="334155"/>
                </a:solidFill>
                <a:latin typeface="Arial"/>
              </a:rPr>
              <a:t> People might feel safe about things we can’t measure.</a:t>
            </a:r>
          </a:p>
          <a:p>
            <a:pPr algn="l">
              <a:spcAft>
                <a:spcPts val="300"/>
              </a:spcAft>
              <a:buNone/>
            </a:pPr>
            <a:r>
              <a:rPr sz="900" b="1" i="0">
                <a:solidFill>
                  <a:srgbClr val="0F172A"/>
                </a:solidFill>
                <a:latin typeface="Arial"/>
              </a:rPr>
              <a:t>How we’ll check:</a:t>
            </a:r>
            <a:r>
              <a:rPr sz="900" b="0" i="0">
                <a:solidFill>
                  <a:srgbClr val="334155"/>
                </a:solidFill>
                <a:latin typeface="Arial"/>
              </a:rPr>
              <a:t> Review the wording carefully and always show the limits.</a:t>
            </a:r>
          </a:p>
        </p:txBody>
      </p:sp>
      <p:sp>
        <p:nvSpPr>
          <p:cNvPr id="43" name="Rounded Rectangle 42"/>
          <p:cNvSpPr/>
          <p:nvPr/>
        </p:nvSpPr>
        <p:spPr>
          <a:xfrm>
            <a:off x="9535911" y="3300984"/>
            <a:ext cx="2122688" cy="2212848"/>
          </a:xfrm>
          <a:prstGeom prst="roundRect">
            <a:avLst>
              <a:gd name="adj" fmla="val 344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9654783" y="3419856"/>
            <a:ext cx="256032" cy="256032"/>
          </a:xfrm>
          <a:prstGeom prst="ellipse">
            <a:avLst/>
          </a:prstGeom>
          <a:solidFill>
            <a:srgbClr val="0368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spcAft>
                <a:spcPts val="0"/>
              </a:spcAft>
            </a:pPr>
            <a:r>
              <a:rPr sz="800" b="1" i="0">
                <a:solidFill>
                  <a:srgbClr val="FFFFFF"/>
                </a:solidFill>
                <a:latin typeface="Arial"/>
              </a:rPr>
              <a:t>10</a:t>
            </a:r>
          </a:p>
        </p:txBody>
      </p:sp>
      <p:sp>
        <p:nvSpPr>
          <p:cNvPr id="45" name="Rounded Rectangle 44"/>
          <p:cNvSpPr/>
          <p:nvPr/>
        </p:nvSpPr>
        <p:spPr>
          <a:xfrm>
            <a:off x="10945368" y="3456432"/>
            <a:ext cx="594360" cy="18288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650" b="1" i="0">
                <a:solidFill>
                  <a:srgbClr val="92400E"/>
                </a:solidFill>
                <a:latin typeface="Arial"/>
              </a:rPr>
              <a:t>MEDIUM</a:t>
            </a:r>
          </a:p>
        </p:txBody>
      </p:sp>
      <p:sp>
        <p:nvSpPr>
          <p:cNvPr id="46" name="TextBox 45"/>
          <p:cNvSpPr txBox="1"/>
          <p:nvPr/>
        </p:nvSpPr>
        <p:spPr>
          <a:xfrm>
            <a:off x="9654783" y="3758184"/>
            <a:ext cx="1884944" cy="1691640"/>
          </a:xfrm>
          <a:prstGeom prst="rect">
            <a:avLst/>
          </a:prstGeom>
          <a:noFill/>
        </p:spPr>
        <p:txBody>
          <a:bodyPr wrap="square" lIns="0" rIns="0" tIns="0" bIns="0" anchor="t"/>
          <a:lstStyle/>
          <a:p>
            <a:pPr algn="l">
              <a:spcAft>
                <a:spcPts val="600"/>
              </a:spcAft>
              <a:buNone/>
            </a:pPr>
            <a:r>
              <a:rPr sz="1050" b="1" i="0">
                <a:solidFill>
                  <a:srgbClr val="0F172A"/>
                </a:solidFill>
                <a:latin typeface="Arial"/>
              </a:rPr>
              <a:t>Fitting it all in a pocket</a:t>
            </a:r>
          </a:p>
          <a:p>
            <a:pPr algn="l">
              <a:spcAft>
                <a:spcPts val="600"/>
              </a:spcAft>
              <a:buNone/>
            </a:pPr>
            <a:r>
              <a:rPr sz="900" b="1" i="0">
                <a:solidFill>
                  <a:srgbClr val="0F172A"/>
                </a:solidFill>
                <a:latin typeface="Arial"/>
              </a:rPr>
              <a:t>Why it matters:</a:t>
            </a:r>
            <a:r>
              <a:rPr sz="900" b="0" i="0">
                <a:solidFill>
                  <a:srgbClr val="334155"/>
                </a:solidFill>
                <a:latin typeface="Arial"/>
              </a:rPr>
              <a:t> Electronics, battery and water parts all need to fit in a small, sealed body.</a:t>
            </a:r>
          </a:p>
          <a:p>
            <a:pPr algn="l">
              <a:spcAft>
                <a:spcPts val="300"/>
              </a:spcAft>
              <a:buNone/>
            </a:pPr>
            <a:r>
              <a:rPr sz="900" b="1" i="0">
                <a:solidFill>
                  <a:srgbClr val="0F172A"/>
                </a:solidFill>
                <a:latin typeface="Arial"/>
              </a:rPr>
              <a:t>How we’ll check:</a:t>
            </a:r>
            <a:r>
              <a:rPr sz="900" b="0" i="0">
                <a:solidFill>
                  <a:srgbClr val="334155"/>
                </a:solidFill>
                <a:latin typeface="Arial"/>
              </a:rPr>
              <a:t> Check size, weight and leaks on every build; watch the budget.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Potential Solutions: How We Plan to Handle Each One</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graphicFrame>
        <p:nvGraphicFramePr>
          <p:cNvPr id="7" name="Table 6"/>
          <p:cNvGraphicFramePr>
            <a:graphicFrameLocks noGrp="1"/>
          </p:cNvGraphicFramePr>
          <p:nvPr/>
        </p:nvGraphicFramePr>
        <p:xfrm>
          <a:off x="533095" y="960120"/>
          <a:ext cx="7635238" cy="3721608"/>
        </p:xfrm>
        <a:graphic>
          <a:graphicData uri="http://schemas.openxmlformats.org/drawingml/2006/table">
            <a:tbl>
              <a:tblPr firstRow="0" bandRow="0">
                <a:tableStyleId>{2D5ABB26-0587-4C30-8999-92F81FD0307C}</a:tableStyleId>
              </a:tblPr>
              <a:tblGrid>
                <a:gridCol w="349324"/>
                <a:gridCol w="4191896"/>
                <a:gridCol w="3094018"/>
              </a:tblGrid>
              <a:tr h="338328">
                <a:tc>
                  <a:txBody>
                    <a:bodyPr wrap="square"/>
                    <a:lstStyle/>
                    <a:p>
                      <a:pPr algn="ctr"/>
                      <a:r>
                        <a:rPr sz="750" b="1" i="0">
                          <a:solidFill>
                            <a:srgbClr val="0F172A"/>
                          </a:solidFill>
                          <a:latin typeface="Arial"/>
                        </a:rPr>
                        <a:t>#</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Our main plan</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c>
                  <a:txBody>
                    <a:bodyPr wrap="square"/>
                    <a:lstStyle/>
                    <a:p>
                      <a:pPr algn="l"/>
                      <a:r>
                        <a:rPr sz="750" b="1" i="0">
                          <a:solidFill>
                            <a:srgbClr val="0F172A"/>
                          </a:solidFill>
                          <a:latin typeface="Arial"/>
                        </a:rPr>
                        <a:t>If that isn’t enough</a:t>
                      </a:r>
                    </a:p>
                  </a:txBody>
                  <a:tcPr marL="54864" marR="54864" marT="32004" marB="32004" anchor="ctr">
                    <a:lnL w="6350">
                      <a:noFill/>
                    </a:lnL>
                    <a:lnR w="6350">
                      <a:noFill/>
                    </a:lnR>
                    <a:lnT w="6350">
                      <a:solidFill>
                        <a:srgbClr val="CBD5E1"/>
                      </a:solidFill>
                    </a:lnT>
                    <a:lnB w="9525">
                      <a:solidFill>
                        <a:srgbClr val="CBD5E1"/>
                      </a:solidFill>
                    </a:lnB>
                    <a:solidFill>
                      <a:srgbClr val="E7ECF4"/>
                    </a:solidFill>
                  </a:tcPr>
                </a:tc>
              </a:tr>
              <a:tr h="338328">
                <a:tc>
                  <a:txBody>
                    <a:bodyPr wrap="square"/>
                    <a:lstStyle/>
                    <a:p>
                      <a:pPr algn="ctr"/>
                      <a:r>
                        <a:rPr sz="750" b="1" i="0">
                          <a:solidFill>
                            <a:srgbClr val="1E293B"/>
                          </a:solidFill>
                          <a:latin typeface="Arial"/>
                        </a:rPr>
                        <a:t>1</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Calibrate pH at two points (pH 4 and 7), keep the probe wet, correct for temperature, and log each calibration</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Ask for recalibration if a check is off by more than 0.1 pH</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38328">
                <a:tc>
                  <a:txBody>
                    <a:bodyPr wrap="square"/>
                    <a:lstStyle/>
                    <a:p>
                      <a:pPr algn="ctr"/>
                      <a:r>
                        <a:rPr sz="750" b="1" i="0">
                          <a:solidFill>
                            <a:srgbClr val="1E293B"/>
                          </a:solidFill>
                          <a:latin typeface="Arial"/>
                        </a:rPr>
                        <a:t>2</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Sanity-check every reading before deciding, and follow a clear set of rules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Use the slowest flow plus UV, and warn the user</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38328">
                <a:tc>
                  <a:txBody>
                    <a:bodyPr wrap="square"/>
                    <a:lstStyle/>
                    <a:p>
                      <a:pPr algn="ctr"/>
                      <a:r>
                        <a:rPr sz="750" b="1" i="0">
                          <a:solidFill>
                            <a:srgbClr val="1E293B"/>
                          </a:solidFill>
                          <a:latin typeface="Arial"/>
                        </a:rPr>
                        <a:t>3</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The capsule knows which cartridge is fitted and warns when it can’t help</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Suggest a proper lab test</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38328">
                <a:tc>
                  <a:txBody>
                    <a:bodyPr wrap="square"/>
                    <a:lstStyle/>
                    <a:p>
                      <a:pPr algn="ctr"/>
                      <a:r>
                        <a:rPr sz="750" b="1" i="0">
                          <a:solidFill>
                            <a:srgbClr val="1E293B"/>
                          </a:solidFill>
                          <a:latin typeface="Arial"/>
                        </a:rPr>
                        <a:t>4</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Let water settle before each test, rinse with 15 mL, keep the pH sensor isolated</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Switch to a version with two separate test cells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38328">
                <a:tc>
                  <a:txBody>
                    <a:bodyPr wrap="square"/>
                    <a:lstStyle/>
                    <a:p>
                      <a:pPr algn="ctr"/>
                      <a:r>
                        <a:rPr sz="750" b="1" i="0">
                          <a:solidFill>
                            <a:srgbClr val="1E293B"/>
                          </a:solidFill>
                          <a:latin typeface="Arial"/>
                        </a:rPr>
                        <a:t>5</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Adjust the pump to hold a steady flow, and cut off on low battery</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Run for a fixed time and log the flow</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38328">
                <a:tc>
                  <a:txBody>
                    <a:bodyPr wrap="square"/>
                    <a:lstStyle/>
                    <a:p>
                      <a:pPr algn="ctr"/>
                      <a:r>
                        <a:rPr sz="750" b="1" i="0">
                          <a:solidFill>
                            <a:srgbClr val="1E293B"/>
                          </a:solidFill>
                          <a:latin typeface="Arial"/>
                        </a:rPr>
                        <a:t>6</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Set the valves before the pump starts, prime it, and add a one-way valve at the intake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Prime by hand by squeezing the hose</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38328">
                <a:tc>
                  <a:txBody>
                    <a:bodyPr wrap="square"/>
                    <a:lstStyle/>
                    <a:p>
                      <a:pPr algn="ctr"/>
                      <a:r>
                        <a:rPr sz="750" b="1" i="0">
                          <a:solidFill>
                            <a:srgbClr val="1E293B"/>
                          </a:solidFill>
                          <a:latin typeface="Arial"/>
                        </a:rPr>
                        <a:t>7</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Watch pump current and litres filtered, and prompt for a new cartridge</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Swap the cartridge after a fixed number of litres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38328">
                <a:tc>
                  <a:txBody>
                    <a:bodyPr wrap="square"/>
                    <a:lstStyle/>
                    <a:p>
                      <a:pPr algn="ctr"/>
                      <a:r>
                        <a:rPr sz="750" b="1" i="0">
                          <a:solidFill>
                            <a:srgbClr val="1E293B"/>
                          </a:solidFill>
                          <a:latin typeface="Arial"/>
                        </a:rPr>
                        <a:t>8</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Same sensors for both tests, temperature correction, check before pouring</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Repeat the second test and show both results</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r h="338328">
                <a:tc>
                  <a:txBody>
                    <a:bodyPr wrap="square"/>
                    <a:lstStyle/>
                    <a:p>
                      <a:pPr algn="ctr"/>
                      <a:r>
                        <a:rPr sz="750" b="1" i="0">
                          <a:solidFill>
                            <a:srgbClr val="1E293B"/>
                          </a:solidFill>
                          <a:latin typeface="Arial"/>
                        </a:rPr>
                        <a:t>9</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Never say “safe”; show only the change we measured; suggest testing</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c>
                  <a:txBody>
                    <a:bodyPr wrap="square"/>
                    <a:lstStyle/>
                    <a:p>
                      <a:pPr algn="l"/>
                      <a:r>
                        <a:rPr sz="750" b="0" i="0">
                          <a:solidFill>
                            <a:srgbClr val="334155"/>
                          </a:solidFill>
                          <a:latin typeface="Arial"/>
                        </a:rPr>
                        <a:t>A printed label on the capsule explaining its limits</a:t>
                      </a:r>
                    </a:p>
                  </a:txBody>
                  <a:tcPr marL="54864" marR="54864" marT="32004" marB="32004" anchor="ctr">
                    <a:lnL w="6350">
                      <a:noFill/>
                    </a:lnL>
                    <a:lnR w="6350">
                      <a:noFill/>
                    </a:lnR>
                    <a:lnT w="6350">
                      <a:solidFill>
                        <a:srgbClr val="E2E8F0"/>
                      </a:solidFill>
                    </a:lnT>
                    <a:lnB w="9525">
                      <a:solidFill>
                        <a:srgbClr val="E2E8F0"/>
                      </a:solidFill>
                    </a:lnB>
                    <a:solidFill>
                      <a:srgbClr val="FFFFFF"/>
                    </a:solidFill>
                  </a:tcPr>
                </a:tc>
              </a:tr>
              <a:tr h="338328">
                <a:tc>
                  <a:txBody>
                    <a:bodyPr wrap="square"/>
                    <a:lstStyle/>
                    <a:p>
                      <a:pPr algn="ctr"/>
                      <a:r>
                        <a:rPr sz="750" b="1" i="0">
                          <a:solidFill>
                            <a:srgbClr val="1E293B"/>
                          </a:solidFill>
                          <a:latin typeface="Arial"/>
                        </a:rPr>
                        <a:t>10</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Print the first version a bit bigger, then shrink it; UV is optional; get quotes early</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c>
                  <a:txBody>
                    <a:bodyPr wrap="square"/>
                    <a:lstStyle/>
                    <a:p>
                      <a:pPr algn="l"/>
                      <a:r>
                        <a:rPr sz="750" b="0" i="0">
                          <a:solidFill>
                            <a:srgbClr val="334155"/>
                          </a:solidFill>
                          <a:latin typeface="Arial"/>
                        </a:rPr>
                        <a:t>Use ready-made boards first and a custom board for Stage 3</a:t>
                      </a:r>
                    </a:p>
                  </a:txBody>
                  <a:tcPr marL="54864" marR="54864" marT="32004" marB="32004" anchor="ctr">
                    <a:lnL w="6350">
                      <a:noFill/>
                    </a:lnL>
                    <a:lnR w="6350">
                      <a:noFill/>
                    </a:lnR>
                    <a:lnT w="6350">
                      <a:solidFill>
                        <a:srgbClr val="E2E8F0"/>
                      </a:solidFill>
                    </a:lnT>
                    <a:lnB w="9525">
                      <a:solidFill>
                        <a:srgbClr val="E2E8F0"/>
                      </a:solidFill>
                    </a:lnB>
                    <a:solidFill>
                      <a:srgbClr val="F8FAFC"/>
                    </a:solidFill>
                  </a:tcPr>
                </a:tc>
              </a:tr>
            </a:tbl>
          </a:graphicData>
        </a:graphic>
      </p:graphicFrame>
      <p:sp>
        <p:nvSpPr>
          <p:cNvPr id="8" name="Rounded Rectangle 7"/>
          <p:cNvSpPr/>
          <p:nvPr/>
        </p:nvSpPr>
        <p:spPr>
          <a:xfrm>
            <a:off x="8321040" y="960120"/>
            <a:ext cx="3337560" cy="3794760"/>
          </a:xfrm>
          <a:prstGeom prst="roundRect">
            <a:avLst>
              <a:gd name="adj" fmla="val 2191"/>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mage.png"/>
          <p:cNvPicPr>
            <a:picLocks noChangeAspect="1"/>
          </p:cNvPicPr>
          <p:nvPr/>
        </p:nvPicPr>
        <p:blipFill>
          <a:blip r:embed="rId5"/>
          <a:stretch>
            <a:fillRect/>
          </a:stretch>
        </p:blipFill>
        <p:spPr>
          <a:xfrm>
            <a:off x="8476488" y="1115568"/>
            <a:ext cx="165463" cy="173736"/>
          </a:xfrm>
          <a:prstGeom prst="rect">
            <a:avLst/>
          </a:prstGeom>
        </p:spPr>
      </p:pic>
      <p:sp>
        <p:nvSpPr>
          <p:cNvPr id="10" name="TextBox 9"/>
          <p:cNvSpPr txBox="1"/>
          <p:nvPr/>
        </p:nvSpPr>
        <p:spPr>
          <a:xfrm>
            <a:off x="8732519" y="1078992"/>
            <a:ext cx="2788920" cy="274320"/>
          </a:xfrm>
          <a:prstGeom prst="rect">
            <a:avLst/>
          </a:prstGeom>
          <a:noFill/>
        </p:spPr>
        <p:txBody>
          <a:bodyPr wrap="square" lIns="0" rIns="0" tIns="0" bIns="0" anchor="t"/>
          <a:lstStyle/>
          <a:p>
            <a:pPr algn="l">
              <a:spcAft>
                <a:spcPts val="300"/>
              </a:spcAft>
              <a:buNone/>
            </a:pPr>
            <a:r>
              <a:rPr sz="1100" b="1" i="0">
                <a:solidFill>
                  <a:srgbClr val="0F172A"/>
                </a:solidFill>
                <a:latin typeface="Arial"/>
              </a:rPr>
              <a:t>What we would like to add later</a:t>
            </a:r>
          </a:p>
        </p:txBody>
      </p:sp>
      <p:sp>
        <p:nvSpPr>
          <p:cNvPr id="11" name="TextBox 10"/>
          <p:cNvSpPr txBox="1"/>
          <p:nvPr/>
        </p:nvSpPr>
        <p:spPr>
          <a:xfrm>
            <a:off x="8485632" y="1298448"/>
            <a:ext cx="3063240" cy="274320"/>
          </a:xfrm>
          <a:prstGeom prst="rect">
            <a:avLst/>
          </a:prstGeom>
          <a:noFill/>
        </p:spPr>
        <p:txBody>
          <a:bodyPr wrap="square" lIns="0" rIns="0" tIns="0" bIns="0" anchor="t"/>
          <a:lstStyle/>
          <a:p>
            <a:pPr algn="l">
              <a:spcAft>
                <a:spcPts val="300"/>
              </a:spcAft>
              <a:buNone/>
            </a:pPr>
            <a:r>
              <a:rPr sz="800" b="0" i="1">
                <a:solidFill>
                  <a:srgbClr val="B45309"/>
                </a:solidFill>
                <a:latin typeface="Arial"/>
              </a:rPr>
              <a:t>Future ideas, not part of this prototype</a:t>
            </a:r>
          </a:p>
        </p:txBody>
      </p:sp>
      <p:sp>
        <p:nvSpPr>
          <p:cNvPr id="12" name="TextBox 11"/>
          <p:cNvSpPr txBox="1"/>
          <p:nvPr/>
        </p:nvSpPr>
        <p:spPr>
          <a:xfrm>
            <a:off x="8485632" y="1554480"/>
            <a:ext cx="3063240" cy="3154680"/>
          </a:xfrm>
          <a:prstGeom prst="rect">
            <a:avLst/>
          </a:prstGeom>
          <a:noFill/>
        </p:spPr>
        <p:txBody>
          <a:bodyPr wrap="square" lIns="0" rIns="0" tIns="0" bIns="0" anchor="t"/>
          <a:lstStyle/>
          <a:p>
            <a:pPr algn="l" marL="128016" indent="-128016">
              <a:spcAft>
                <a:spcPts val="400"/>
              </a:spcAft>
              <a:buClr>
                <a:srgbClr val="0284C7"/>
              </a:buClr>
              <a:buSzPct val="100000"/>
              <a:buFont typeface="Arial"/>
              <a:buChar char="▪"/>
            </a:pPr>
            <a:r>
              <a:rPr sz="850" b="0" i="0">
                <a:solidFill>
                  <a:srgbClr val="334155"/>
                </a:solidFill>
                <a:latin typeface="Arial"/>
              </a:rPr>
              <a:t>More sensors, such as chlorine</a:t>
            </a:r>
          </a:p>
          <a:p>
            <a:pPr algn="l" marL="128016" indent="-128016">
              <a:spcAft>
                <a:spcPts val="400"/>
              </a:spcAft>
              <a:buClr>
                <a:srgbClr val="0284C7"/>
              </a:buClr>
              <a:buSzPct val="100000"/>
              <a:buFont typeface="Arial"/>
              <a:buChar char="▪"/>
            </a:pPr>
            <a:r>
              <a:rPr sz="850" b="0" i="0">
                <a:solidFill>
                  <a:srgbClr val="334155"/>
                </a:solidFill>
                <a:latin typeface="Arial"/>
              </a:rPr>
              <a:t>Special cartridges that can lower TDS or adjust pH</a:t>
            </a:r>
          </a:p>
          <a:p>
            <a:pPr algn="l" marL="128016" indent="-128016">
              <a:spcAft>
                <a:spcPts val="400"/>
              </a:spcAft>
              <a:buClr>
                <a:srgbClr val="0284C7"/>
              </a:buClr>
              <a:buSzPct val="100000"/>
              <a:buFont typeface="Arial"/>
              <a:buChar char="▪"/>
            </a:pPr>
            <a:r>
              <a:rPr sz="850" b="0" i="0">
                <a:solidFill>
                  <a:srgbClr val="334155"/>
                </a:solidFill>
                <a:latin typeface="Arial"/>
              </a:rPr>
              <a:t>A reading history that spots when a source keeps changing</a:t>
            </a:r>
          </a:p>
          <a:p>
            <a:pPr algn="l" marL="128016" indent="-128016">
              <a:spcAft>
                <a:spcPts val="400"/>
              </a:spcAft>
              <a:buClr>
                <a:srgbClr val="0284C7"/>
              </a:buClr>
              <a:buSzPct val="100000"/>
              <a:buFont typeface="Arial"/>
              <a:buChar char="▪"/>
            </a:pPr>
            <a:r>
              <a:rPr sz="850" b="0" i="0">
                <a:solidFill>
                  <a:srgbClr val="334155"/>
                </a:solidFill>
                <a:latin typeface="Arial"/>
              </a:rPr>
              <a:t>Telling you when the filter is about to wear out</a:t>
            </a:r>
          </a:p>
          <a:p>
            <a:pPr algn="l" marL="128016" indent="-128016">
              <a:spcAft>
                <a:spcPts val="400"/>
              </a:spcAft>
              <a:buClr>
                <a:srgbClr val="0284C7"/>
              </a:buClr>
              <a:buSzPct val="100000"/>
              <a:buFont typeface="Arial"/>
              <a:buChar char="▪"/>
            </a:pPr>
            <a:r>
              <a:rPr sz="850" b="0" i="0">
                <a:solidFill>
                  <a:srgbClr val="334155"/>
                </a:solidFill>
                <a:latin typeface="Arial"/>
              </a:rPr>
              <a:t>Linking many capsules to one online dashboard</a:t>
            </a:r>
          </a:p>
          <a:p>
            <a:pPr algn="l" marL="128016" indent="-128016">
              <a:spcAft>
                <a:spcPts val="400"/>
              </a:spcAft>
              <a:buClr>
                <a:srgbClr val="0284C7"/>
              </a:buClr>
              <a:buSzPct val="100000"/>
              <a:buFont typeface="Arial"/>
              <a:buChar char="▪"/>
            </a:pPr>
            <a:r>
              <a:rPr sz="850" b="0" i="0">
                <a:solidFill>
                  <a:srgbClr val="334155"/>
                </a:solidFill>
                <a:latin typeface="Arial"/>
              </a:rPr>
              <a:t>A bigger version for wells and lakes</a:t>
            </a:r>
          </a:p>
        </p:txBody>
      </p:sp>
      <p:sp>
        <p:nvSpPr>
          <p:cNvPr id="13" name="TextBox 12"/>
          <p:cNvSpPr txBox="1"/>
          <p:nvPr/>
        </p:nvSpPr>
        <p:spPr>
          <a:xfrm>
            <a:off x="533095" y="4892040"/>
            <a:ext cx="5486400" cy="182880"/>
          </a:xfrm>
          <a:prstGeom prst="rect">
            <a:avLst/>
          </a:prstGeom>
          <a:noFill/>
        </p:spPr>
        <p:txBody>
          <a:bodyPr wrap="square" lIns="0" rIns="0" tIns="0" bIns="0" anchor="t"/>
          <a:lstStyle/>
          <a:p>
            <a:pPr algn="l">
              <a:spcAft>
                <a:spcPts val="300"/>
              </a:spcAft>
              <a:buNone/>
            </a:pPr>
            <a:r>
              <a:rPr sz="750" b="1" i="0">
                <a:solidFill>
                  <a:srgbClr val="64748B"/>
                </a:solidFill>
                <a:latin typeface="Arial"/>
              </a:rPr>
              <a:t>HOW WE WILL TEST BEFORE SHOWING IT TO ANYONE</a:t>
            </a:r>
          </a:p>
        </p:txBody>
      </p:sp>
      <p:sp>
        <p:nvSpPr>
          <p:cNvPr id="14" name="Pentagon 13"/>
          <p:cNvSpPr/>
          <p:nvPr/>
        </p:nvSpPr>
        <p:spPr>
          <a:xfrm>
            <a:off x="533095" y="5120640"/>
            <a:ext cx="1899970" cy="438912"/>
          </a:xfrm>
          <a:prstGeom prst="homePlate">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Electronics on the bench</a:t>
            </a:r>
          </a:p>
        </p:txBody>
      </p:sp>
      <p:sp>
        <p:nvSpPr>
          <p:cNvPr id="15" name="Chevron 14"/>
          <p:cNvSpPr/>
          <p:nvPr/>
        </p:nvSpPr>
        <p:spPr>
          <a:xfrm>
            <a:off x="2387345" y="5120640"/>
            <a:ext cx="1899970" cy="438912"/>
          </a:xfrm>
          <a:prstGeom prst="chevron">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Clean water and leaks</a:t>
            </a:r>
          </a:p>
        </p:txBody>
      </p:sp>
      <p:sp>
        <p:nvSpPr>
          <p:cNvPr id="16" name="Chevron 15"/>
          <p:cNvSpPr/>
          <p:nvPr/>
        </p:nvSpPr>
        <p:spPr>
          <a:xfrm>
            <a:off x="4241596" y="5120640"/>
            <a:ext cx="1899970" cy="438912"/>
          </a:xfrm>
          <a:prstGeom prst="chevron">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Reference liquids</a:t>
            </a:r>
          </a:p>
        </p:txBody>
      </p:sp>
      <p:sp>
        <p:nvSpPr>
          <p:cNvPr id="17" name="Chevron 16"/>
          <p:cNvSpPr/>
          <p:nvPr/>
        </p:nvSpPr>
        <p:spPr>
          <a:xfrm>
            <a:off x="6095847" y="5120640"/>
            <a:ext cx="1899970" cy="438912"/>
          </a:xfrm>
          <a:prstGeom prst="chevron">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Prepared water samples</a:t>
            </a:r>
          </a:p>
        </p:txBody>
      </p:sp>
      <p:sp>
        <p:nvSpPr>
          <p:cNvPr id="18" name="Chevron 17"/>
          <p:cNvSpPr/>
          <p:nvPr/>
        </p:nvSpPr>
        <p:spPr>
          <a:xfrm>
            <a:off x="7950098" y="5120640"/>
            <a:ext cx="1899970" cy="438912"/>
          </a:xfrm>
          <a:prstGeom prst="chevron">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Making faults on purpose</a:t>
            </a:r>
          </a:p>
        </p:txBody>
      </p:sp>
      <p:sp>
        <p:nvSpPr>
          <p:cNvPr id="19" name="Chevron 18"/>
          <p:cNvSpPr/>
          <p:nvPr/>
        </p:nvSpPr>
        <p:spPr>
          <a:xfrm>
            <a:off x="9804349" y="5120640"/>
            <a:ext cx="1899970" cy="438912"/>
          </a:xfrm>
          <a:prstGeom prst="chevron">
            <a:avLst/>
          </a:prstGeom>
          <a:solidFill>
            <a:srgbClr val="A7F3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800" b="1" i="0">
                <a:solidFill>
                  <a:srgbClr val="0F172A"/>
                </a:solidFill>
                <a:latin typeface="Arial"/>
              </a:rPr>
              <a:t>Supervised demo</a:t>
            </a:r>
          </a:p>
        </p:txBody>
      </p:sp>
      <p:pic>
        <p:nvPicPr>
          <p:cNvPr id="20" name="Note bar" descr="image.png"/>
          <p:cNvPicPr>
            <a:picLocks noChangeAspect="1"/>
          </p:cNvPicPr>
          <p:nvPr/>
        </p:nvPicPr>
        <p:blipFill>
          <a:blip r:embed="rId6"/>
          <a:stretch>
            <a:fillRect/>
          </a:stretch>
        </p:blipFill>
        <p:spPr>
          <a:xfrm>
            <a:off x="533095" y="5715000"/>
            <a:ext cx="11125504" cy="363016"/>
          </a:xfrm>
          <a:prstGeom prst="rect">
            <a:avLst/>
          </a:prstGeom>
        </p:spPr>
      </p:pic>
      <p:sp>
        <p:nvSpPr>
          <p:cNvPr id="21"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Matching up:</a:t>
            </a:r>
            <a:r>
              <a:rPr sz="850" b="0" i="0">
                <a:solidFill>
                  <a:srgbClr val="334155"/>
                </a:solidFill>
                <a:latin typeface="Arial"/>
              </a:rPr>
              <a:t> the numbers 1 to 10 match the challenges on the previous slide.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References &amp; Sources</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sp>
        <p:nvSpPr>
          <p:cNvPr id="7" name="TextBox 6"/>
          <p:cNvSpPr txBox="1"/>
          <p:nvPr/>
        </p:nvSpPr>
        <p:spPr>
          <a:xfrm>
            <a:off x="533095" y="1005840"/>
            <a:ext cx="5440680" cy="4572000"/>
          </a:xfrm>
          <a:prstGeom prst="rect">
            <a:avLst/>
          </a:prstGeom>
          <a:noFill/>
        </p:spPr>
        <p:txBody>
          <a:bodyPr wrap="square" lIns="0" rIns="0" tIns="0" bIns="0" anchor="t"/>
          <a:lstStyle/>
          <a:p>
            <a:pPr algn="l">
              <a:spcAft>
                <a:spcPts val="600"/>
              </a:spcAft>
              <a:buNone/>
            </a:pPr>
            <a:r>
              <a:rPr sz="850" b="1" i="0">
                <a:solidFill>
                  <a:srgbClr val="0F172A"/>
                </a:solidFill>
                <a:latin typeface="Arial"/>
              </a:rPr>
              <a:t>[1]</a:t>
            </a:r>
            <a:r>
              <a:rPr sz="850" b="0" i="0">
                <a:solidFill>
                  <a:srgbClr val="334155"/>
                </a:solidFill>
                <a:latin typeface="Arial"/>
              </a:rPr>
              <a:t> Hydra Nexus Stage 1 Proposal, our own submission (Hydra_Nexus_Stage1_Proposal.pdf).</a:t>
            </a:r>
          </a:p>
          <a:p>
            <a:pPr algn="l">
              <a:spcAft>
                <a:spcPts val="600"/>
              </a:spcAft>
              <a:buNone/>
            </a:pPr>
            <a:r>
              <a:rPr sz="850" b="1" i="0">
                <a:solidFill>
                  <a:srgbClr val="0F172A"/>
                </a:solidFill>
                <a:latin typeface="Arial"/>
              </a:rPr>
              <a:t>[2]</a:t>
            </a:r>
            <a:r>
              <a:rPr sz="850" b="0" i="0">
                <a:solidFill>
                  <a:srgbClr val="334155"/>
                </a:solidFill>
                <a:latin typeface="Arial"/>
              </a:rPr>
              <a:t> Vishwakarma Awards 2026–27 Stage 2 Submission Template, Maker Bhavan Foundation.</a:t>
            </a:r>
          </a:p>
          <a:p>
            <a:pPr algn="l">
              <a:spcAft>
                <a:spcPts val="600"/>
              </a:spcAft>
              <a:buNone/>
            </a:pPr>
            <a:r>
              <a:rPr sz="850" b="1" i="0">
                <a:solidFill>
                  <a:srgbClr val="0F172A"/>
                </a:solidFill>
                <a:latin typeface="Arial"/>
              </a:rPr>
              <a:t>[3]</a:t>
            </a:r>
            <a:r>
              <a:rPr sz="850" b="0" i="0">
                <a:solidFill>
                  <a:srgbClr val="334155"/>
                </a:solidFill>
                <a:latin typeface="Arial"/>
              </a:rPr>
              <a:t> Espressif Systems, ESP32-C3 Series Datasheet. documentation.espressif.com/esp32-c3_datasheet_en.pdf</a:t>
            </a:r>
          </a:p>
          <a:p>
            <a:pPr algn="l">
              <a:spcAft>
                <a:spcPts val="600"/>
              </a:spcAft>
              <a:buNone/>
            </a:pPr>
            <a:r>
              <a:rPr sz="850" b="1" i="0">
                <a:solidFill>
                  <a:srgbClr val="0F172A"/>
                </a:solidFill>
                <a:latin typeface="Arial"/>
              </a:rPr>
              <a:t>[4]</a:t>
            </a:r>
            <a:r>
              <a:rPr sz="850" b="0" i="0">
                <a:solidFill>
                  <a:srgbClr val="334155"/>
                </a:solidFill>
                <a:latin typeface="Arial"/>
              </a:rPr>
              <a:t> Espressif Systems, ESP32-C3-MINI-1 Module Datasheet. documentation.espressif.com/esp32-c3-mini-1_datasheet_en.pdf</a:t>
            </a:r>
          </a:p>
          <a:p>
            <a:pPr algn="l">
              <a:spcAft>
                <a:spcPts val="600"/>
              </a:spcAft>
              <a:buNone/>
            </a:pPr>
            <a:r>
              <a:rPr sz="850" b="1" i="0">
                <a:solidFill>
                  <a:srgbClr val="0F172A"/>
                </a:solidFill>
                <a:latin typeface="Arial"/>
              </a:rPr>
              <a:t>[5]</a:t>
            </a:r>
            <a:r>
              <a:rPr sz="850" b="0" i="0">
                <a:solidFill>
                  <a:srgbClr val="334155"/>
                </a:solidFill>
                <a:latin typeface="Arial"/>
              </a:rPr>
              <a:t> DFRobot Wiki, Gravity Analog pH Sensor V2 (SEN0161-V2). wiki.dfrobot.com/Gravity__Analog_pH_Sensor_Meter_Kit_V2_SKU_SEN0161-V2</a:t>
            </a:r>
          </a:p>
          <a:p>
            <a:pPr algn="l">
              <a:spcAft>
                <a:spcPts val="600"/>
              </a:spcAft>
              <a:buNone/>
            </a:pPr>
            <a:r>
              <a:rPr sz="850" b="1" i="0">
                <a:solidFill>
                  <a:srgbClr val="0F172A"/>
                </a:solidFill>
                <a:latin typeface="Arial"/>
              </a:rPr>
              <a:t>[6]</a:t>
            </a:r>
            <a:r>
              <a:rPr sz="850" b="0" i="0">
                <a:solidFill>
                  <a:srgbClr val="334155"/>
                </a:solidFill>
                <a:latin typeface="Arial"/>
              </a:rPr>
              <a:t> DFRobot Wiki, Gravity Analog TDS Sensor (SEN0244). wiki.dfrobot.com/Gravity__Analog_TDS_Sensor___Meter_For_Arduino_SKU__SEN0244</a:t>
            </a:r>
          </a:p>
          <a:p>
            <a:pPr algn="l">
              <a:spcAft>
                <a:spcPts val="600"/>
              </a:spcAft>
              <a:buNone/>
            </a:pPr>
            <a:r>
              <a:rPr sz="850" b="1" i="0">
                <a:solidFill>
                  <a:srgbClr val="0F172A"/>
                </a:solidFill>
                <a:latin typeface="Arial"/>
              </a:rPr>
              <a:t>[7]</a:t>
            </a:r>
            <a:r>
              <a:rPr sz="850" b="0" i="0">
                <a:solidFill>
                  <a:srgbClr val="334155"/>
                </a:solidFill>
                <a:latin typeface="Arial"/>
              </a:rPr>
              <a:t> DFRobot Wiki, Gravity Analog Turbidity Sensor (SEN0189). wiki.dfrobot.com/Turbidity_sensor_SKU__SEN0189</a:t>
            </a:r>
          </a:p>
          <a:p>
            <a:pPr algn="l">
              <a:spcAft>
                <a:spcPts val="600"/>
              </a:spcAft>
              <a:buNone/>
            </a:pPr>
            <a:r>
              <a:rPr sz="850" b="1" i="0">
                <a:solidFill>
                  <a:srgbClr val="0F172A"/>
                </a:solidFill>
                <a:latin typeface="Arial"/>
              </a:rPr>
              <a:t>[8]</a:t>
            </a:r>
            <a:r>
              <a:rPr sz="850" b="0" i="0">
                <a:solidFill>
                  <a:srgbClr val="334155"/>
                </a:solidFill>
                <a:latin typeface="Arial"/>
              </a:rPr>
              <a:t> DFRobot Wiki, Gravity Analog Signal Isolator (DFR0504). wiki.dfrobot.com/Gravity__Analog_Signal_Isolator_SKU_DFR0504</a:t>
            </a:r>
          </a:p>
          <a:p>
            <a:pPr algn="l">
              <a:spcAft>
                <a:spcPts val="600"/>
              </a:spcAft>
              <a:buNone/>
            </a:pPr>
            <a:r>
              <a:rPr sz="850" b="1" i="0">
                <a:solidFill>
                  <a:srgbClr val="0F172A"/>
                </a:solidFill>
                <a:latin typeface="Arial"/>
              </a:rPr>
              <a:t>[9]</a:t>
            </a:r>
            <a:r>
              <a:rPr sz="850" b="0" i="0">
                <a:solidFill>
                  <a:srgbClr val="334155"/>
                </a:solidFill>
                <a:latin typeface="Arial"/>
              </a:rPr>
              <a:t> Analog Devices, DS18B20 Digital Thermometer datasheet. analog.com/media/en/technical-documentation/data-sheets/DS18B20.pdf</a:t>
            </a:r>
          </a:p>
          <a:p>
            <a:pPr algn="l">
              <a:spcAft>
                <a:spcPts val="600"/>
              </a:spcAft>
              <a:buNone/>
            </a:pPr>
            <a:r>
              <a:rPr sz="850" b="1" i="0">
                <a:solidFill>
                  <a:srgbClr val="0F172A"/>
                </a:solidFill>
                <a:latin typeface="Arial"/>
              </a:rPr>
              <a:t>[10]</a:t>
            </a:r>
            <a:r>
              <a:rPr sz="850" b="0" i="0">
                <a:solidFill>
                  <a:srgbClr val="334155"/>
                </a:solidFill>
                <a:latin typeface="Arial"/>
              </a:rPr>
              <a:t> Texas Instruments, ADS111x 16-bit ADC datasheet. ti.com/lit/ds/symlink/ads1115.pdf</a:t>
            </a:r>
          </a:p>
        </p:txBody>
      </p:sp>
      <p:sp>
        <p:nvSpPr>
          <p:cNvPr id="8" name="TextBox 7"/>
          <p:cNvSpPr txBox="1"/>
          <p:nvPr/>
        </p:nvSpPr>
        <p:spPr>
          <a:xfrm>
            <a:off x="6202375" y="1005840"/>
            <a:ext cx="5440680" cy="4572000"/>
          </a:xfrm>
          <a:prstGeom prst="rect">
            <a:avLst/>
          </a:prstGeom>
          <a:noFill/>
        </p:spPr>
        <p:txBody>
          <a:bodyPr wrap="square" lIns="0" rIns="0" tIns="0" bIns="0" anchor="t"/>
          <a:lstStyle/>
          <a:p>
            <a:pPr algn="l">
              <a:spcAft>
                <a:spcPts val="600"/>
              </a:spcAft>
              <a:buNone/>
            </a:pPr>
            <a:r>
              <a:rPr sz="850" b="1" i="0">
                <a:solidFill>
                  <a:srgbClr val="0F172A"/>
                </a:solidFill>
                <a:latin typeface="Arial"/>
              </a:rPr>
              <a:t>[11]</a:t>
            </a:r>
            <a:r>
              <a:rPr sz="850" b="0" i="0">
                <a:solidFill>
                  <a:srgbClr val="334155"/>
                </a:solidFill>
                <a:latin typeface="Arial"/>
              </a:rPr>
              <a:t> DFRobot product pages, prices checked on 24 Oct 2026: dfrobot.com/product-1782.html (SEN0161-V2), -1662 (SEN0244), -1394 (SEN0189), -1354 (KIT0021), -1621 (DFR0504)</a:t>
            </a:r>
          </a:p>
          <a:p>
            <a:pPr algn="l">
              <a:spcAft>
                <a:spcPts val="600"/>
              </a:spcAft>
              <a:buNone/>
            </a:pPr>
            <a:r>
              <a:rPr sz="850" b="1" i="0">
                <a:solidFill>
                  <a:srgbClr val="0F172A"/>
                </a:solidFill>
                <a:latin typeface="Arial"/>
              </a:rPr>
              <a:t>[12]</a:t>
            </a:r>
            <a:r>
              <a:rPr sz="850" b="0" i="0">
                <a:solidFill>
                  <a:srgbClr val="334155"/>
                </a:solidFill>
                <a:latin typeface="Arial"/>
              </a:rPr>
              <a:t> Bureau of Indian Standards, IS 10500:2012 Drinking Water Specification. bis.gov.in/other/DrinWatIS10500.pdf</a:t>
            </a:r>
          </a:p>
          <a:p>
            <a:pPr algn="l">
              <a:spcAft>
                <a:spcPts val="600"/>
              </a:spcAft>
              <a:buNone/>
            </a:pPr>
            <a:r>
              <a:rPr sz="850" b="1" i="0">
                <a:solidFill>
                  <a:srgbClr val="0F172A"/>
                </a:solidFill>
                <a:latin typeface="Arial"/>
              </a:rPr>
              <a:t>[13]</a:t>
            </a:r>
            <a:r>
              <a:rPr sz="850" b="0" i="0">
                <a:solidFill>
                  <a:srgbClr val="334155"/>
                </a:solidFill>
                <a:latin typeface="Arial"/>
              </a:rPr>
              <a:t> World Health Organization, Guidelines for Drinking-water Quality, 4th edition with the 1st, 2nd and 3rd addenda. who.int/publications/i/item/9789240121225</a:t>
            </a:r>
          </a:p>
          <a:p>
            <a:pPr algn="l">
              <a:spcAft>
                <a:spcPts val="600"/>
              </a:spcAft>
              <a:buNone/>
            </a:pPr>
            <a:r>
              <a:rPr sz="850" b="1" i="0">
                <a:solidFill>
                  <a:srgbClr val="0F172A"/>
                </a:solidFill>
                <a:latin typeface="Arial"/>
              </a:rPr>
              <a:t>[14]</a:t>
            </a:r>
            <a:r>
              <a:rPr sz="850" b="0" i="0">
                <a:solidFill>
                  <a:srgbClr val="334155"/>
                </a:solidFill>
                <a:latin typeface="Arial"/>
              </a:rPr>
              <a:t> IEC 60529, Degrees of protection provided by enclosures (IP Code). webstore.iec.ch</a:t>
            </a:r>
          </a:p>
          <a:p>
            <a:pPr algn="l">
              <a:spcAft>
                <a:spcPts val="600"/>
              </a:spcAft>
              <a:buNone/>
            </a:pPr>
            <a:r>
              <a:rPr sz="850" b="1" i="0">
                <a:solidFill>
                  <a:srgbClr val="0F172A"/>
                </a:solidFill>
                <a:latin typeface="Arial"/>
              </a:rPr>
              <a:t>[15]</a:t>
            </a:r>
            <a:r>
              <a:rPr sz="850" b="0" i="0">
                <a:solidFill>
                  <a:srgbClr val="334155"/>
                </a:solidFill>
                <a:latin typeface="Arial"/>
              </a:rPr>
              <a:t> IEC 62133-2:2017, Safety requirements for portable lithium cells and batteries. webstore.iec.ch</a:t>
            </a:r>
          </a:p>
          <a:p>
            <a:pPr algn="l">
              <a:spcAft>
                <a:spcPts val="600"/>
              </a:spcAft>
              <a:buNone/>
            </a:pPr>
            <a:r>
              <a:rPr sz="850" b="1" i="0">
                <a:solidFill>
                  <a:srgbClr val="0F172A"/>
                </a:solidFill>
                <a:latin typeface="Arial"/>
              </a:rPr>
              <a:t>[16]</a:t>
            </a:r>
            <a:r>
              <a:rPr sz="850" b="0" i="0">
                <a:solidFill>
                  <a:srgbClr val="334155"/>
                </a:solidFill>
                <a:latin typeface="Arial"/>
              </a:rPr>
              <a:t> ISO 7027-1:2016, Water quality, Determination of turbidity, Part 1. iso.org</a:t>
            </a:r>
          </a:p>
          <a:p>
            <a:pPr algn="l">
              <a:spcAft>
                <a:spcPts val="600"/>
              </a:spcAft>
              <a:buNone/>
            </a:pPr>
            <a:r>
              <a:rPr sz="850" b="1" i="0">
                <a:solidFill>
                  <a:srgbClr val="0F172A"/>
                </a:solidFill>
                <a:latin typeface="Arial"/>
              </a:rPr>
              <a:t>[17]</a:t>
            </a:r>
            <a:r>
              <a:rPr sz="850" b="0" i="0">
                <a:solidFill>
                  <a:srgbClr val="334155"/>
                </a:solidFill>
                <a:latin typeface="Arial"/>
              </a:rPr>
              <a:t> F. M. White, Fluid Mechanics, McGraw-Hill. We used its laminar-flow friction formula for the tube calculation on slide 9.</a:t>
            </a:r>
          </a:p>
          <a:p>
            <a:pPr algn="l">
              <a:spcAft>
                <a:spcPts val="600"/>
              </a:spcAft>
              <a:buNone/>
            </a:pPr>
            <a:r>
              <a:rPr sz="850" b="1" i="0">
                <a:solidFill>
                  <a:srgbClr val="0F172A"/>
                </a:solidFill>
                <a:latin typeface="Arial"/>
              </a:rPr>
              <a:t>[18]</a:t>
            </a:r>
            <a:r>
              <a:rPr sz="850" b="0" i="0">
                <a:solidFill>
                  <a:srgbClr val="334155"/>
                </a:solidFill>
                <a:latin typeface="Arial"/>
              </a:rPr>
              <a:t> Our design tools: FreeCAD 1.1 (freecad.org) and KiCad 9 (kicad.org).</a:t>
            </a:r>
          </a:p>
          <a:p>
            <a:pPr algn="l">
              <a:spcAft>
                <a:spcPts val="600"/>
              </a:spcAft>
              <a:buNone/>
            </a:pPr>
            <a:r>
              <a:rPr sz="850" b="1" i="0">
                <a:solidFill>
                  <a:srgbClr val="0F172A"/>
                </a:solidFill>
                <a:latin typeface="Arial"/>
              </a:rPr>
              <a:t>[19]</a:t>
            </a:r>
            <a:r>
              <a:rPr sz="850" b="0" i="0">
                <a:solidFill>
                  <a:srgbClr val="334155"/>
                </a:solidFill>
                <a:latin typeface="Arial"/>
              </a:rPr>
              <a:t> Our project repository with the CAD, schematic, parts list and this deck. github.com/Abishekkishore-byte/hydra-nexus</a:t>
            </a:r>
          </a:p>
        </p:txBody>
      </p:sp>
      <p:pic>
        <p:nvPicPr>
          <p:cNvPr id="9" name="Note bar" descr="image.png"/>
          <p:cNvPicPr>
            <a:picLocks noChangeAspect="1"/>
          </p:cNvPicPr>
          <p:nvPr/>
        </p:nvPicPr>
        <p:blipFill>
          <a:blip r:embed="rId5"/>
          <a:stretch>
            <a:fillRect/>
          </a:stretch>
        </p:blipFill>
        <p:spPr>
          <a:xfrm>
            <a:off x="533095" y="5715000"/>
            <a:ext cx="11125504" cy="363016"/>
          </a:xfrm>
          <a:prstGeom prst="rect">
            <a:avLst/>
          </a:prstGeom>
        </p:spPr>
      </p:pic>
      <p:sp>
        <p:nvSpPr>
          <p:cNvPr id="10" name="Note text"/>
          <p:cNvSpPr txBox="1"/>
          <p:nvPr/>
        </p:nvSpPr>
        <p:spPr>
          <a:xfrm>
            <a:off x="685800" y="5765292"/>
            <a:ext cx="10835640" cy="265176"/>
          </a:xfrm>
          <a:prstGeom prst="rect">
            <a:avLst/>
          </a:prstGeom>
          <a:noFill/>
        </p:spPr>
        <p:txBody>
          <a:bodyPr wrap="square" lIns="0" rIns="0" tIns="0" bIns="0" anchor="ctr"/>
          <a:lstStyle/>
          <a:p>
            <a:pPr algn="l">
              <a:spcAft>
                <a:spcPts val="300"/>
              </a:spcAft>
              <a:buNone/>
            </a:pPr>
            <a:r>
              <a:rPr sz="850" b="1" i="0">
                <a:solidFill>
                  <a:srgbClr val="0F172A"/>
                </a:solidFill>
                <a:latin typeface="Arial"/>
              </a:rPr>
              <a:t>About our numbers:</a:t>
            </a:r>
            <a:r>
              <a:rPr sz="850" b="0" i="0">
                <a:solidFill>
                  <a:srgbClr val="334155"/>
                </a:solidFill>
                <a:latin typeface="Arial"/>
              </a:rPr>
              <a:t> the calculations on slides 7 and 9 are our own rough estimates with the assumptions shown. We haven’t received any supplier quotes yet.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image.pn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558698" y="450799"/>
            <a:ext cx="8595360" cy="414223"/>
          </a:xfrm>
        </p:spPr>
        <p:txBody>
          <a:bodyPr/>
          <a:lstStyle/>
          <a:p>
            <a:r>
              <a:t>Image Sources</a:t>
            </a:r>
          </a:p>
        </p:txBody>
      </p:sp>
      <p:pic>
        <p:nvPicPr>
          <p:cNvPr id="4" name="Vishwakarma Awards logo" descr="image.png"/>
          <p:cNvPicPr>
            <a:picLocks noChangeAspect="1"/>
          </p:cNvPicPr>
          <p:nvPr/>
        </p:nvPicPr>
        <p:blipFill>
          <a:blip r:embed="rId3"/>
          <a:stretch>
            <a:fillRect/>
          </a:stretch>
        </p:blipFill>
        <p:spPr>
          <a:xfrm>
            <a:off x="0" y="6281013"/>
            <a:ext cx="1785823" cy="576986"/>
          </a:xfrm>
          <a:prstGeom prst="rect">
            <a:avLst/>
          </a:prstGeom>
        </p:spPr>
      </p:pic>
      <p:pic>
        <p:nvPicPr>
          <p:cNvPr id="5" name="Maker Bhavan Foundation logo" descr="image.png"/>
          <p:cNvPicPr>
            <a:picLocks noChangeAspect="1"/>
          </p:cNvPicPr>
          <p:nvPr/>
        </p:nvPicPr>
        <p:blipFill>
          <a:blip r:embed="rId4"/>
          <a:stretch>
            <a:fillRect/>
          </a:stretch>
        </p:blipFill>
        <p:spPr>
          <a:xfrm>
            <a:off x="11095329" y="6281013"/>
            <a:ext cx="1096365" cy="576986"/>
          </a:xfrm>
          <a:prstGeom prst="rect">
            <a:avLst/>
          </a:prstGeom>
        </p:spPr>
      </p:pic>
      <p:sp>
        <p:nvSpPr>
          <p:cNvPr id="6" name="Rounded Rectangle 5"/>
          <p:cNvSpPr/>
          <p:nvPr/>
        </p:nvSpPr>
        <p:spPr>
          <a:xfrm>
            <a:off x="9458553" y="485546"/>
            <a:ext cx="2200046" cy="21305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spcAft>
                <a:spcPts val="0"/>
              </a:spcAft>
            </a:pPr>
            <a:r>
              <a:rPr sz="700" b="1" i="0">
                <a:solidFill>
                  <a:srgbClr val="047857"/>
                </a:solidFill>
                <a:latin typeface="Arial"/>
              </a:rPr>
              <a:t>HYDRA NEXUS · STAGE 2</a:t>
            </a:r>
          </a:p>
        </p:txBody>
      </p:sp>
      <p:pic>
        <p:nvPicPr>
          <p:cNvPr id="7" name="Picture 6" descr="cap_hero_c.png"/>
          <p:cNvPicPr>
            <a:picLocks noChangeAspect="1"/>
          </p:cNvPicPr>
          <p:nvPr/>
        </p:nvPicPr>
        <p:blipFill>
          <a:blip r:embed="rId5"/>
          <a:stretch>
            <a:fillRect/>
          </a:stretch>
        </p:blipFill>
        <p:spPr>
          <a:xfrm>
            <a:off x="548640" y="1005840"/>
            <a:ext cx="480898" cy="640080"/>
          </a:xfrm>
          <a:prstGeom prst="rect">
            <a:avLst/>
          </a:prstGeom>
        </p:spPr>
      </p:pic>
      <p:sp>
        <p:nvSpPr>
          <p:cNvPr id="8" name="TextBox 7"/>
          <p:cNvSpPr txBox="1"/>
          <p:nvPr/>
        </p:nvSpPr>
        <p:spPr>
          <a:xfrm>
            <a:off x="2194560" y="1078992"/>
            <a:ext cx="9326880" cy="640080"/>
          </a:xfrm>
          <a:prstGeom prst="rect">
            <a:avLst/>
          </a:prstGeom>
          <a:noFill/>
        </p:spPr>
        <p:txBody>
          <a:bodyPr wrap="square" lIns="0" rIns="0" tIns="0" bIns="0" anchor="t"/>
          <a:lstStyle/>
          <a:p>
            <a:pPr algn="l">
              <a:spcAft>
                <a:spcPts val="200"/>
              </a:spcAft>
              <a:buNone/>
            </a:pPr>
            <a:r>
              <a:rPr sz="950" b="1" i="0">
                <a:solidFill>
                  <a:srgbClr val="0F172A"/>
                </a:solidFill>
                <a:latin typeface="Arial"/>
              </a:rPr>
              <a:t>Cover: concept render of the capsule</a:t>
            </a:r>
          </a:p>
          <a:p>
            <a:pPr algn="l">
              <a:spcAft>
                <a:spcPts val="300"/>
              </a:spcAft>
              <a:buNone/>
            </a:pPr>
            <a:r>
              <a:rPr sz="850" b="0" i="0">
                <a:solidFill>
                  <a:srgbClr val="334155"/>
                </a:solidFill>
                <a:latin typeface="Arial"/>
              </a:rPr>
              <a:t>We made this illustration ourselves with a script. It is not a photo, a CAD screenshot or a built device.</a:t>
            </a:r>
          </a:p>
        </p:txBody>
      </p:sp>
      <p:pic>
        <p:nvPicPr>
          <p:cNvPr id="9" name="Picture 8" descr="cap_exploded_c.png"/>
          <p:cNvPicPr>
            <a:picLocks noChangeAspect="1"/>
          </p:cNvPicPr>
          <p:nvPr/>
        </p:nvPicPr>
        <p:blipFill>
          <a:blip r:embed="rId6"/>
          <a:stretch>
            <a:fillRect/>
          </a:stretch>
        </p:blipFill>
        <p:spPr>
          <a:xfrm>
            <a:off x="548640" y="1792224"/>
            <a:ext cx="407879" cy="640080"/>
          </a:xfrm>
          <a:prstGeom prst="rect">
            <a:avLst/>
          </a:prstGeom>
        </p:spPr>
      </p:pic>
      <p:sp>
        <p:nvSpPr>
          <p:cNvPr id="10" name="TextBox 9"/>
          <p:cNvSpPr txBox="1"/>
          <p:nvPr/>
        </p:nvSpPr>
        <p:spPr>
          <a:xfrm>
            <a:off x="2194560" y="1865376"/>
            <a:ext cx="9326880" cy="640080"/>
          </a:xfrm>
          <a:prstGeom prst="rect">
            <a:avLst/>
          </a:prstGeom>
          <a:noFill/>
        </p:spPr>
        <p:txBody>
          <a:bodyPr wrap="square" lIns="0" rIns="0" tIns="0" bIns="0" anchor="t"/>
          <a:lstStyle/>
          <a:p>
            <a:pPr algn="l">
              <a:spcAft>
                <a:spcPts val="200"/>
              </a:spcAft>
              <a:buNone/>
            </a:pPr>
            <a:r>
              <a:rPr sz="950" b="1" i="0">
                <a:solidFill>
                  <a:srgbClr val="0F172A"/>
                </a:solidFill>
                <a:latin typeface="Arial"/>
              </a:rPr>
              <a:t>Slide 8: assembled and exploded views with numbered parts</a:t>
            </a:r>
          </a:p>
          <a:p>
            <a:pPr algn="l">
              <a:spcAft>
                <a:spcPts val="300"/>
              </a:spcAft>
              <a:buNone/>
            </a:pPr>
            <a:r>
              <a:rPr sz="850" b="0" i="0">
                <a:solidFill>
                  <a:srgbClr val="334155"/>
                </a:solidFill>
                <a:latin typeface="Arial"/>
              </a:rPr>
              <a:t>The same illustration with labels added, and a taken-apart version. Concept only.</a:t>
            </a:r>
          </a:p>
        </p:txBody>
      </p:sp>
      <p:pic>
        <p:nvPicPr>
          <p:cNvPr id="11" name="Picture 10" descr="bench_wiring.jpg"/>
          <p:cNvPicPr>
            <a:picLocks noChangeAspect="1"/>
          </p:cNvPicPr>
          <p:nvPr/>
        </p:nvPicPr>
        <p:blipFill>
          <a:blip r:embed="rId7"/>
          <a:stretch>
            <a:fillRect/>
          </a:stretch>
        </p:blipFill>
        <p:spPr>
          <a:xfrm>
            <a:off x="548640" y="2651760"/>
            <a:ext cx="1143000" cy="642045"/>
          </a:xfrm>
          <a:prstGeom prst="rect">
            <a:avLst/>
          </a:prstGeom>
        </p:spPr>
      </p:pic>
      <p:sp>
        <p:nvSpPr>
          <p:cNvPr id="12" name="TextBox 11"/>
          <p:cNvSpPr txBox="1"/>
          <p:nvPr/>
        </p:nvSpPr>
        <p:spPr>
          <a:xfrm>
            <a:off x="2194560" y="2651760"/>
            <a:ext cx="9326880" cy="640080"/>
          </a:xfrm>
          <a:prstGeom prst="rect">
            <a:avLst/>
          </a:prstGeom>
          <a:noFill/>
        </p:spPr>
        <p:txBody>
          <a:bodyPr wrap="square" lIns="0" rIns="0" tIns="0" bIns="0" anchor="t"/>
          <a:lstStyle/>
          <a:p>
            <a:pPr algn="l">
              <a:spcAft>
                <a:spcPts val="200"/>
              </a:spcAft>
              <a:buNone/>
            </a:pPr>
            <a:r>
              <a:rPr sz="950" b="1" i="0">
                <a:solidFill>
                  <a:srgbClr val="0F172A"/>
                </a:solidFill>
                <a:latin typeface="Arial"/>
              </a:rPr>
              <a:t>Slide 13: bench session photos</a:t>
            </a:r>
          </a:p>
          <a:p>
            <a:pPr algn="l">
              <a:spcAft>
                <a:spcPts val="300"/>
              </a:spcAft>
              <a:buNone/>
            </a:pPr>
            <a:r>
              <a:rPr sz="850" b="0" i="0">
                <a:solidFill>
                  <a:srgbClr val="334155"/>
                </a:solidFill>
                <a:latin typeface="Arial"/>
              </a:rPr>
              <a:t>Taken by our team during our own bench work with the sensors. The first photo was cropped to remove black borders; nothing else was edited.</a:t>
            </a:r>
          </a:p>
        </p:txBody>
      </p:sp>
      <p:pic>
        <p:nvPicPr>
          <p:cNvPr id="13" name="Picture 12" descr="freecad_model_tree.png"/>
          <p:cNvPicPr>
            <a:picLocks noChangeAspect="1"/>
          </p:cNvPicPr>
          <p:nvPr/>
        </p:nvPicPr>
        <p:blipFill>
          <a:blip r:embed="rId8"/>
          <a:stretch>
            <a:fillRect/>
          </a:stretch>
        </p:blipFill>
        <p:spPr>
          <a:xfrm>
            <a:off x="548640" y="3438144"/>
            <a:ext cx="1463040" cy="802239"/>
          </a:xfrm>
          <a:prstGeom prst="rect">
            <a:avLst/>
          </a:prstGeom>
        </p:spPr>
      </p:pic>
      <p:sp>
        <p:nvSpPr>
          <p:cNvPr id="14" name="TextBox 13"/>
          <p:cNvSpPr txBox="1"/>
          <p:nvPr/>
        </p:nvSpPr>
        <p:spPr>
          <a:xfrm>
            <a:off x="2194560" y="3438144"/>
            <a:ext cx="9326880" cy="640080"/>
          </a:xfrm>
          <a:prstGeom prst="rect">
            <a:avLst/>
          </a:prstGeom>
          <a:noFill/>
        </p:spPr>
        <p:txBody>
          <a:bodyPr wrap="square" lIns="0" rIns="0" tIns="0" bIns="0" anchor="t"/>
          <a:lstStyle/>
          <a:p>
            <a:pPr algn="l">
              <a:spcAft>
                <a:spcPts val="200"/>
              </a:spcAft>
              <a:buNone/>
            </a:pPr>
            <a:r>
              <a:rPr sz="950" b="1" i="0">
                <a:solidFill>
                  <a:srgbClr val="0F172A"/>
                </a:solidFill>
                <a:latin typeface="Arial"/>
              </a:rPr>
              <a:t>Slide 13: FreeCAD and KiCad screenshots</a:t>
            </a:r>
          </a:p>
          <a:p>
            <a:pPr algn="l">
              <a:spcAft>
                <a:spcPts val="300"/>
              </a:spcAft>
              <a:buNone/>
            </a:pPr>
            <a:r>
              <a:rPr sz="850" b="0" i="0">
                <a:solidFill>
                  <a:srgbClr val="334155"/>
                </a:solidFill>
                <a:latin typeface="Arial"/>
              </a:rPr>
              <a:t>Real screenshots of FreeCAD 1.1 and KiCad 9 with our files open, taken on 25 Oct 2026. The check report is KiCad’s actual output.</a:t>
            </a:r>
          </a:p>
        </p:txBody>
      </p:sp>
      <p:pic>
        <p:nvPicPr>
          <p:cNvPr id="15" name="Picture 14" descr="image.png"/>
          <p:cNvPicPr>
            <a:picLocks noChangeAspect="1"/>
          </p:cNvPicPr>
          <p:nvPr/>
        </p:nvPicPr>
        <p:blipFill>
          <a:blip r:embed="rId3"/>
          <a:stretch>
            <a:fillRect/>
          </a:stretch>
        </p:blipFill>
        <p:spPr>
          <a:xfrm>
            <a:off x="548640" y="4224528"/>
            <a:ext cx="1463040" cy="474017"/>
          </a:xfrm>
          <a:prstGeom prst="rect">
            <a:avLst/>
          </a:prstGeom>
        </p:spPr>
      </p:pic>
      <p:sp>
        <p:nvSpPr>
          <p:cNvPr id="16" name="TextBox 15"/>
          <p:cNvSpPr txBox="1"/>
          <p:nvPr/>
        </p:nvSpPr>
        <p:spPr>
          <a:xfrm>
            <a:off x="2194560" y="4224528"/>
            <a:ext cx="9326880" cy="640080"/>
          </a:xfrm>
          <a:prstGeom prst="rect">
            <a:avLst/>
          </a:prstGeom>
          <a:noFill/>
        </p:spPr>
        <p:txBody>
          <a:bodyPr wrap="square" lIns="0" rIns="0" tIns="0" bIns="0" anchor="t"/>
          <a:lstStyle/>
          <a:p>
            <a:pPr algn="l">
              <a:spcAft>
                <a:spcPts val="200"/>
              </a:spcAft>
              <a:buNone/>
            </a:pPr>
            <a:r>
              <a:rPr sz="950" b="1" i="0">
                <a:solidFill>
                  <a:srgbClr val="0F172A"/>
                </a:solidFill>
                <a:latin typeface="Arial"/>
              </a:rPr>
              <a:t>Every slide: Vishwakarma Awards and Maker Bhavan Foundation logos, banner, icons and backgrounds</a:t>
            </a:r>
          </a:p>
          <a:p>
            <a:pPr algn="l">
              <a:spcAft>
                <a:spcPts val="300"/>
              </a:spcAft>
              <a:buNone/>
            </a:pPr>
            <a:r>
              <a:rPr sz="850" b="0" i="0">
                <a:solidFill>
                  <a:srgbClr val="334155"/>
                </a:solidFill>
                <a:latin typeface="Arial"/>
              </a:rPr>
              <a:t>From the official Vishwakarma Awards 2026–27 Stage 2 template.</a:t>
            </a:r>
          </a:p>
        </p:txBody>
      </p:sp>
      <p:sp>
        <p:nvSpPr>
          <p:cNvPr id="17" name="Rounded Rectangle 16"/>
          <p:cNvSpPr/>
          <p:nvPr/>
        </p:nvSpPr>
        <p:spPr>
          <a:xfrm>
            <a:off x="548640" y="5029200"/>
            <a:ext cx="914400" cy="502920"/>
          </a:xfrm>
          <a:prstGeom prst="roundRect">
            <a:avLst>
              <a:gd name="adj" fmla="val 1090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750" b="1" i="0">
                <a:solidFill>
                  <a:srgbClr val="64748B"/>
                </a:solidFill>
                <a:latin typeface="Arial"/>
              </a:rPr>
              <a:t>Drawn in PowerPoint</a:t>
            </a:r>
          </a:p>
        </p:txBody>
      </p:sp>
      <p:sp>
        <p:nvSpPr>
          <p:cNvPr id="18" name="TextBox 17"/>
          <p:cNvSpPr txBox="1"/>
          <p:nvPr/>
        </p:nvSpPr>
        <p:spPr>
          <a:xfrm>
            <a:off x="2194560" y="5010912"/>
            <a:ext cx="9326880" cy="640080"/>
          </a:xfrm>
          <a:prstGeom prst="rect">
            <a:avLst/>
          </a:prstGeom>
          <a:noFill/>
        </p:spPr>
        <p:txBody>
          <a:bodyPr wrap="square" lIns="0" rIns="0" tIns="0" bIns="0" anchor="t"/>
          <a:lstStyle/>
          <a:p>
            <a:pPr algn="l">
              <a:spcAft>
                <a:spcPts val="200"/>
              </a:spcAft>
              <a:buNone/>
            </a:pPr>
            <a:r>
              <a:rPr sz="950" b="1" i="0">
                <a:solidFill>
                  <a:srgbClr val="0F172A"/>
                </a:solidFill>
                <a:latin typeface="Arial"/>
              </a:rPr>
              <a:t>Slides 3–7, 10, 12–17: diagrams, flowcharts, tables and timelines</a:t>
            </a:r>
          </a:p>
          <a:p>
            <a:pPr algn="l">
              <a:spcAft>
                <a:spcPts val="300"/>
              </a:spcAft>
              <a:buNone/>
            </a:pPr>
            <a:r>
              <a:rPr sz="850" b="0" i="0">
                <a:solidFill>
                  <a:srgbClr val="334155"/>
                </a:solidFill>
                <a:latin typeface="Arial"/>
              </a:rPr>
              <a:t>Drawn by us directly in PowerPoint. We used no outside photos and removed the template’s example pictures.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2026-10-23T17:02:10Z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2026-10-23T00:00:00Z</vt:filetime>
  </property>
  <property fmtid="{D5CDD505-2E9C-101B-9397-08002B2CF9AE}" pid="4" name="Creator">
    <vt:lpwstr>PDFium</vt:lpwstr>
  </property>
  <property fmtid="{D5CDD505-2E9C-101B-9397-08002B2CF9AE}" pid="5" name="Producer">
    <vt:lpwstr>PDFium</vt:lpwstr>
  </property>
  <property fmtid="{D5CDD505-2E9C-101B-9397-08002B2CF9AE}" pid="6" name="LastSaved">
    <vt:filetime>2026-10-23T00:00:00Z</vt:filetime>
  </property>
</Properties>
</file>