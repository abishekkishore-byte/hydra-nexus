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</p:sldIdLst>
  <p:sldSz cy="6858000" cx="12192000"/>
  <p:notesSz cx="12192000" cy="6858000"/>
  <p:embeddedFontLst>
    <p:embeddedFont>
      <p:font typeface="Arial Black"/>
      <p:regular r:id="rId27"/>
    </p:embeddedFont>
    <p:embeddedFont>
      <p:font typeface="Century Gothic"/>
      <p:regular r:id="rId28"/>
      <p:bold r:id="rId29"/>
      <p:italic r:id="rId30"/>
      <p:boldItalic r:id="rId3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0">
          <p15:clr>
            <a:srgbClr val="000000"/>
          </p15:clr>
        </p15:guide>
        <p15:guide id="2" pos="2160">
          <p15:clr>
            <a:srgbClr val="000000"/>
          </p15:clr>
        </p15:guide>
      </p15:sldGuideLst>
    </p:ext>
    <p:ext uri="GoogleSlidesCustomDataVersion2">
      <go:slidesCustomData xmlns:go="http://customooxmlschemas.google.com/" r:id="rId32" roundtripDataSignature="AMtx7miLRTS1dwmumolOfgiCorpN6h8Kw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2277A8E-53B4-4066-B272-49FC8C3124FA}">
  <a:tblStyle styleId="{62277A8E-53B4-4066-B272-49FC8C3124FA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16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27" Type="http://schemas.openxmlformats.org/officeDocument/2006/relationships/font" Target="fonts/ArialBlack-regular.fntdata"/><Relationship Id="rId28" Type="http://schemas.openxmlformats.org/officeDocument/2006/relationships/font" Target="fonts/CenturyGothic-regular.fntdata"/><Relationship Id="rId29" Type="http://schemas.openxmlformats.org/officeDocument/2006/relationships/font" Target="fonts/CenturyGothic-bold.fntdata"/><Relationship Id="rId30" Type="http://schemas.openxmlformats.org/officeDocument/2006/relationships/font" Target="fonts/CenturyGothic-italic.fntdata"/><Relationship Id="rId31" Type="http://schemas.openxmlformats.org/officeDocument/2006/relationships/font" Target="fonts/CenturyGothic-boldItalic.fntdata"/><Relationship Id="rId32" Type="http://customschemas.google.com/relationships/presentationmetadata" Target="metadata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1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showMasterSp="0" type="obj">
  <p:cSld name="OBJECT">
    <p:bg>
      <p:bgPr>
        <a:solidFill>
          <a:schemeClr val="lt1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7997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22"/>
          <p:cNvSpPr txBox="1"/>
          <p:nvPr>
            <p:ph type="title"/>
          </p:nvPr>
        </p:nvSpPr>
        <p:spPr>
          <a:xfrm>
            <a:off x="558800" y="450596"/>
            <a:ext cx="7386955" cy="4140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F172A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2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2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2"/>
          <p:cNvSpPr txBox="1"/>
          <p:nvPr>
            <p:ph idx="12" type="sldNum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indent="0" lvl="1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indent="0" lvl="2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indent="0" lvl="3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indent="0" lvl="4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indent="0" lvl="5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indent="0" lvl="6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indent="0" lvl="7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indent="0" lvl="8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/>
          <p:nvPr>
            <p:ph type="title"/>
          </p:nvPr>
        </p:nvSpPr>
        <p:spPr>
          <a:xfrm>
            <a:off x="558800" y="450596"/>
            <a:ext cx="7386955" cy="4140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F172A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3"/>
          <p:cNvSpPr txBox="1"/>
          <p:nvPr>
            <p:ph idx="1" type="body"/>
          </p:nvPr>
        </p:nvSpPr>
        <p:spPr>
          <a:xfrm>
            <a:off x="6410325" y="1461045"/>
            <a:ext cx="5067300" cy="35083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dk1"/>
                </a:solidFill>
              </a:defRPr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3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3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23"/>
          <p:cNvSpPr txBox="1"/>
          <p:nvPr>
            <p:ph idx="12" type="sldNum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indent="0" lvl="1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indent="0" lvl="2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indent="0" lvl="3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indent="0" lvl="4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indent="0" lvl="5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indent="0" lvl="6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indent="0" lvl="7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indent="0" lvl="8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/>
          <p:nvPr>
            <p:ph type="title"/>
          </p:nvPr>
        </p:nvSpPr>
        <p:spPr>
          <a:xfrm>
            <a:off x="558800" y="450596"/>
            <a:ext cx="7386955" cy="4140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F172A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4"/>
          <p:cNvSpPr txBox="1"/>
          <p:nvPr>
            <p:ph idx="1" type="body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4"/>
          <p:cNvSpPr txBox="1"/>
          <p:nvPr>
            <p:ph idx="2" type="body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24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24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4"/>
          <p:cNvSpPr txBox="1"/>
          <p:nvPr>
            <p:ph idx="12" type="sldNum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indent="0" lvl="1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indent="0" lvl="2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indent="0" lvl="3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indent="0" lvl="4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indent="0" lvl="5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indent="0" lvl="6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indent="0" lvl="7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indent="0" lvl="8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5"/>
          <p:cNvSpPr txBox="1"/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F172A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5"/>
          <p:cNvSpPr txBox="1"/>
          <p:nvPr>
            <p:ph idx="1" type="subTitle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5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25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5"/>
          <p:cNvSpPr txBox="1"/>
          <p:nvPr>
            <p:ph idx="12" type="sldNum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indent="0" lvl="1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indent="0" lvl="2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indent="0" lvl="3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indent="0" lvl="4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indent="0" lvl="5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indent="0" lvl="6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indent="0" lvl="7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indent="0" lvl="8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6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6"/>
          <p:cNvSpPr txBox="1"/>
          <p:nvPr>
            <p:ph idx="12" type="sldNum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indent="0" lvl="1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indent="0" lvl="2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indent="0" lvl="3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indent="0" lvl="4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indent="0" lvl="5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indent="0" lvl="6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indent="0" lvl="7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indent="0" lvl="8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/>
          <p:nvPr>
            <p:ph type="title"/>
          </p:nvPr>
        </p:nvSpPr>
        <p:spPr>
          <a:xfrm>
            <a:off x="558800" y="450596"/>
            <a:ext cx="7386955" cy="4140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 u="none" cap="none" strike="noStrike">
                <a:solidFill>
                  <a:srgbClr val="0F172A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1"/>
          <p:cNvSpPr txBox="1"/>
          <p:nvPr>
            <p:ph idx="1" type="body"/>
          </p:nvPr>
        </p:nvSpPr>
        <p:spPr>
          <a:xfrm>
            <a:off x="6410325" y="1461045"/>
            <a:ext cx="5067300" cy="35083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1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9" name="Google Shape;9;p21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0" name="Google Shape;10;p21"/>
          <p:cNvSpPr txBox="1"/>
          <p:nvPr>
            <p:ph idx="12" type="sldNum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1pPr>
            <a:lvl2pPr indent="0" lvl="1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2pPr>
            <a:lvl3pPr indent="0" lvl="2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3pPr>
            <a:lvl4pPr indent="0" lvl="3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4pPr>
            <a:lvl5pPr indent="0" lvl="4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5pPr>
            <a:lvl6pPr indent="0" lvl="5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6pPr>
            <a:lvl7pPr indent="0" lvl="6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7pPr>
            <a:lvl8pPr indent="0" lvl="7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8pPr>
            <a:lvl9pPr indent="0" lvl="8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12.png"/><Relationship Id="rId5" Type="http://schemas.openxmlformats.org/officeDocument/2006/relationships/image" Target="../media/image7.png"/><Relationship Id="rId6" Type="http://schemas.openxmlformats.org/officeDocument/2006/relationships/image" Target="../media/image7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2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9.png"/><Relationship Id="rId8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2.png"/><Relationship Id="rId5" Type="http://schemas.openxmlformats.org/officeDocument/2006/relationships/image" Target="../media/image55.png"/><Relationship Id="rId6" Type="http://schemas.openxmlformats.org/officeDocument/2006/relationships/image" Target="../media/image21.png"/><Relationship Id="rId7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2.png"/><Relationship Id="rId5" Type="http://schemas.openxmlformats.org/officeDocument/2006/relationships/image" Target="../media/image55.png"/><Relationship Id="rId6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2.png"/><Relationship Id="rId5" Type="http://schemas.openxmlformats.org/officeDocument/2006/relationships/image" Target="../media/image25.png"/><Relationship Id="rId6" Type="http://schemas.openxmlformats.org/officeDocument/2006/relationships/image" Target="../media/image60.png"/><Relationship Id="rId7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2.png"/><Relationship Id="rId5" Type="http://schemas.openxmlformats.org/officeDocument/2006/relationships/image" Target="../media/image6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2.png"/><Relationship Id="rId5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2.png"/><Relationship Id="rId5" Type="http://schemas.openxmlformats.org/officeDocument/2006/relationships/image" Target="../media/image74.png"/><Relationship Id="rId6" Type="http://schemas.openxmlformats.org/officeDocument/2006/relationships/image" Target="../media/image75.png"/><Relationship Id="rId7" Type="http://schemas.openxmlformats.org/officeDocument/2006/relationships/image" Target="../media/image26.png"/><Relationship Id="rId8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2.png"/><Relationship Id="rId5" Type="http://schemas.openxmlformats.org/officeDocument/2006/relationships/image" Target="../media/image18.png"/><Relationship Id="rId6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2.png"/><Relationship Id="rId5" Type="http://schemas.openxmlformats.org/officeDocument/2006/relationships/image" Target="../media/image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2.png"/><Relationship Id="rId5" Type="http://schemas.openxmlformats.org/officeDocument/2006/relationships/image" Target="../media/image1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2.png"/><Relationship Id="rId5" Type="http://schemas.openxmlformats.org/officeDocument/2006/relationships/image" Target="../media/image36.png"/><Relationship Id="rId6" Type="http://schemas.openxmlformats.org/officeDocument/2006/relationships/image" Target="../media/image60.png"/><Relationship Id="rId7" Type="http://schemas.openxmlformats.org/officeDocument/2006/relationships/image" Target="../media/image1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2.png"/><Relationship Id="rId5" Type="http://schemas.openxmlformats.org/officeDocument/2006/relationships/image" Target="../media/image40.png"/><Relationship Id="rId6" Type="http://schemas.openxmlformats.org/officeDocument/2006/relationships/image" Target="../media/image36.png"/><Relationship Id="rId7" Type="http://schemas.openxmlformats.org/officeDocument/2006/relationships/image" Target="../media/image76.png"/><Relationship Id="rId8" Type="http://schemas.openxmlformats.org/officeDocument/2006/relationships/image" Target="../media/image77.png"/><Relationship Id="rId9" Type="http://schemas.openxmlformats.org/officeDocument/2006/relationships/image" Target="../media/image37.png"/><Relationship Id="rId10" Type="http://schemas.openxmlformats.org/officeDocument/2006/relationships/image" Target="../media/image1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2.png"/><Relationship Id="rId5" Type="http://schemas.openxmlformats.org/officeDocument/2006/relationships/image" Target="../media/image42.png"/><Relationship Id="rId6" Type="http://schemas.openxmlformats.org/officeDocument/2006/relationships/image" Target="../media/image1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2.png"/><Relationship Id="rId5" Type="http://schemas.openxmlformats.org/officeDocument/2006/relationships/image" Target="../media/image1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2.png"/><Relationship Id="rId5" Type="http://schemas.openxmlformats.org/officeDocument/2006/relationships/image" Target="../media/image21.png"/><Relationship Id="rId6" Type="http://schemas.openxmlformats.org/officeDocument/2006/relationships/image" Target="../media/image1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2.png"/><Relationship Id="rId5" Type="http://schemas.openxmlformats.org/officeDocument/2006/relationships/image" Target="../media/image1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2.png"/><Relationship Id="rId3" Type="http://schemas.openxmlformats.org/officeDocument/2006/relationships/image" Target="../media/image7.png"/><Relationship Id="rId4" Type="http://schemas.openxmlformats.org/officeDocument/2006/relationships/image" Target="../media/image12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Relationship Id="rId8" Type="http://schemas.openxmlformats.org/officeDocument/2006/relationships/image" Target="../media/image7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oogle Shape;44;p1"/>
          <p:cNvGrpSpPr/>
          <p:nvPr/>
        </p:nvGrpSpPr>
        <p:grpSpPr>
          <a:xfrm>
            <a:off x="0" y="80825"/>
            <a:ext cx="12191999" cy="2764578"/>
            <a:chOff x="0" y="80825"/>
            <a:chExt cx="12191999" cy="2764578"/>
          </a:xfrm>
        </p:grpSpPr>
        <p:pic>
          <p:nvPicPr>
            <p:cNvPr id="45" name="Google Shape;45;p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566928" y="1115568"/>
              <a:ext cx="4023360" cy="39684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6" name="Google Shape;46;p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700670" y="80825"/>
              <a:ext cx="1491329" cy="7848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7" name="Google Shape;47;p1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0" y="80825"/>
              <a:ext cx="2428824" cy="78482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descr="$PPTXTitle" id="48" name="Google Shape;48;p1"/>
          <p:cNvSpPr txBox="1"/>
          <p:nvPr>
            <p:ph type="title"/>
          </p:nvPr>
        </p:nvSpPr>
        <p:spPr>
          <a:xfrm>
            <a:off x="566928" y="1901952"/>
            <a:ext cx="60350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r>
              <a:rPr sz="4400">
                <a:solidFill>
                  <a:srgbClr val="0F172A"/>
                </a:solidFill>
                <a:latin typeface="Arial Black"/>
              </a:rPr>
              <a:t>HYDRA NEXUS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5216" y="164592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1100" b="1" i="0">
                <a:solidFill>
                  <a:srgbClr val="0368A1"/>
                </a:solidFill>
                <a:latin typeface="Arial"/>
              </a:rPr>
              <a:t>STAGE 2 SUBMISSION  ·  ENGINEERING DOCUMENTATION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5216" y="2697480"/>
            <a:ext cx="576072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1500" b="0" i="0">
                <a:solidFill>
                  <a:srgbClr val="334155"/>
                </a:solidFill>
                <a:latin typeface="Arial"/>
              </a:rPr>
              <a:t>An Intelligent Water Quality Identification, Adaptive Purification and Verification System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5216" y="3310128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1700" b="0" i="0">
                <a:solidFill>
                  <a:srgbClr val="059668"/>
                </a:solidFill>
                <a:latin typeface="Arial Black"/>
              </a:rPr>
              <a:t>Identify. Purify. Verify.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85216" y="3685032"/>
            <a:ext cx="4206240" cy="18288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D4ED8"/>
                </a:solidFill>
                <a:latin typeface="Arial"/>
              </a:rPr>
              <a:t>POCKET-SIZE PORTABLE CAPSULE  ·  SENSE → FILTER → RE-SENSE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66928" y="4005072"/>
            <a:ext cx="5943600" cy="1920240"/>
          </a:xfrm>
          <a:prstGeom prst="roundRect">
            <a:avLst>
              <a:gd name="adj" fmla="val 380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749808" y="4114800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Vishwakarma Application 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24912" y="4114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950" b="0" i="1">
                <a:solidFill>
                  <a:srgbClr val="B45309"/>
                </a:solidFill>
                <a:latin typeface="Arial"/>
              </a:rPr>
              <a:t>Not supplied in the source files — official ID required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8" y="4379976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Team ID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724912" y="4379976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950" b="0" i="1">
                <a:solidFill>
                  <a:srgbClr val="B45309"/>
                </a:solidFill>
                <a:latin typeface="Arial"/>
              </a:rPr>
              <a:t>Not supplied in the source files — confirmation required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9808" y="4645152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Track / category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24912" y="464515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950" b="0" i="1">
                <a:solidFill>
                  <a:srgbClr val="B45309"/>
                </a:solidFill>
                <a:latin typeface="Arial"/>
              </a:rPr>
              <a:t>Not stated in the Stage 1 proposal — confirmation required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9808" y="4910328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Institution / team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724912" y="491032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950" b="0" i="1">
                <a:solidFill>
                  <a:srgbClr val="B45309"/>
                </a:solidFill>
                <a:latin typeface="Arial"/>
              </a:rPr>
              <a:t>Not supplied — add only confirmed details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9808" y="5221224"/>
            <a:ext cx="557784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Core innovation: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a pocket-size capsule that measures water before treatment, adapts its filtration with an ESP32-C3 controller, and measures the same water again before dispensing it.</a:t>
            </a:r>
          </a:p>
        </p:txBody>
      </p:sp>
      <p:pic>
        <p:nvPicPr>
          <p:cNvPr id="63" name="Conceptual visualization" descr="Conceptual CAD-style visualization of the proposed Hydra Nexus pocket capsul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896112"/>
            <a:ext cx="3744133" cy="498348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12280" y="5916168"/>
            <a:ext cx="484632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300"/>
              </a:spcAft>
              <a:buNone/>
            </a:pPr>
            <a:r>
              <a:rPr sz="800" b="0" i="1">
                <a:solidFill>
                  <a:srgbClr val="64748B"/>
                </a:solidFill>
                <a:latin typeface="Arial"/>
              </a:rPr>
              <a:t>Conceptual CAD-style visualization of the proposed capsule — not a fabricated prototype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Template back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8698" y="450799"/>
            <a:ext cx="8595360" cy="414223"/>
          </a:xfrm>
        </p:spPr>
        <p:txBody>
          <a:bodyPr/>
          <a:lstStyle/>
          <a:p>
            <a:r>
              <a:t>Problem Context: Project Overview &amp; Need</a:t>
            </a:r>
          </a:p>
        </p:txBody>
      </p:sp>
      <p:pic>
        <p:nvPicPr>
          <p:cNvPr id="4" name="Vishwakarma Awards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81013"/>
            <a:ext cx="1785823" cy="576986"/>
          </a:xfrm>
          <a:prstGeom prst="rect">
            <a:avLst/>
          </a:prstGeom>
        </p:spPr>
      </p:pic>
      <p:pic>
        <p:nvPicPr>
          <p:cNvPr id="5" name="Maker Bhavan Foundation 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329" y="6281013"/>
            <a:ext cx="1096365" cy="57698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458553" y="485546"/>
            <a:ext cx="2200046" cy="213055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47857"/>
                </a:solidFill>
                <a:latin typeface="Arial"/>
              </a:rPr>
              <a:t>HYDRA NEXUS · STAGE 2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095" y="956462"/>
            <a:ext cx="2667304" cy="6492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4535" y="1020470"/>
            <a:ext cx="2484424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300"/>
              </a:spcAft>
              <a:buNone/>
            </a:pPr>
            <a:r>
              <a:rPr sz="1500" b="0" i="0">
                <a:solidFill>
                  <a:srgbClr val="0368A1"/>
                </a:solidFill>
                <a:latin typeface="Arial Black"/>
              </a:rPr>
              <a:t>6.5 – 8.5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" y="1340510"/>
            <a:ext cx="248442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300"/>
              </a:spcAft>
              <a:buNone/>
            </a:pPr>
            <a:r>
              <a:rPr sz="750" b="1" i="0">
                <a:solidFill>
                  <a:srgbClr val="64748B"/>
                </a:solidFill>
                <a:latin typeface="Arial"/>
              </a:rPr>
              <a:t>pH ACCEPTABLE RANGE*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3104" y="956462"/>
            <a:ext cx="2667304" cy="6492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44544" y="1020470"/>
            <a:ext cx="2484424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300"/>
              </a:spcAft>
              <a:buNone/>
            </a:pPr>
            <a:r>
              <a:rPr sz="1500" b="0" i="0">
                <a:solidFill>
                  <a:srgbClr val="0368A1"/>
                </a:solidFill>
                <a:latin typeface="Arial Black"/>
              </a:rPr>
              <a:t>500 mg/L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4544" y="1340510"/>
            <a:ext cx="248442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300"/>
              </a:spcAft>
              <a:buNone/>
            </a:pPr>
            <a:r>
              <a:rPr sz="750" b="1" i="0">
                <a:solidFill>
                  <a:srgbClr val="64748B"/>
                </a:solidFill>
                <a:latin typeface="Arial"/>
              </a:rPr>
              <a:t>TDS ACCEPTABLE LIMIT*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956462"/>
            <a:ext cx="2667304" cy="6492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63640" y="1020470"/>
            <a:ext cx="2484424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300"/>
              </a:spcAft>
              <a:buNone/>
            </a:pPr>
            <a:r>
              <a:rPr sz="1500" b="0" i="0">
                <a:solidFill>
                  <a:srgbClr val="0368A1"/>
                </a:solidFill>
                <a:latin typeface="Arial Black"/>
              </a:rPr>
              <a:t>1 NTU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340510"/>
            <a:ext cx="248442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300"/>
              </a:spcAft>
              <a:buNone/>
            </a:pPr>
            <a:r>
              <a:rPr sz="750" b="1" i="0">
                <a:solidFill>
                  <a:srgbClr val="64748B"/>
                </a:solidFill>
                <a:latin typeface="Arial"/>
              </a:rPr>
              <a:t>TURBIDITY ACCEPTABLE LIMIT*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1295" y="956462"/>
            <a:ext cx="2667304" cy="6492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82735" y="1020470"/>
            <a:ext cx="2484424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300"/>
              </a:spcAft>
              <a:buNone/>
            </a:pPr>
            <a:r>
              <a:rPr sz="1500" b="0" i="0">
                <a:solidFill>
                  <a:srgbClr val="0368A1"/>
                </a:solidFill>
                <a:latin typeface="Arial Black"/>
              </a:rPr>
              <a:t>Before + After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82735" y="1340510"/>
            <a:ext cx="2484424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300"/>
              </a:spcAft>
              <a:buNone/>
            </a:pPr>
            <a:r>
              <a:rPr sz="750" b="1" i="0">
                <a:solidFill>
                  <a:srgbClr val="64748B"/>
                </a:solidFill>
                <a:latin typeface="Arial"/>
              </a:rPr>
              <a:t>SAME WATER MEASURED TWICE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095" y="1645920"/>
            <a:ext cx="11128248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800" b="0" i="1">
                <a:solidFill>
                  <a:srgbClr val="64748B"/>
                </a:solidFill>
                <a:latin typeface="Arial"/>
              </a:rPr>
              <a:t>*IS 10500:2012 (BIS) acceptable limits — reference values used to interpret readings; they are not Hydra Nexus results.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095" y="1920240"/>
            <a:ext cx="5431536" cy="3639312"/>
          </a:xfrm>
          <a:prstGeom prst="roundRect">
            <a:avLst>
              <a:gd name="adj" fmla="val 201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543" y="2075688"/>
            <a:ext cx="173736" cy="17373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44575" y="2039112"/>
            <a:ext cx="4882896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1100" b="1" i="0">
                <a:solidFill>
                  <a:srgbClr val="0F172A"/>
                </a:solidFill>
                <a:latin typeface="Arial"/>
              </a:rPr>
              <a:t>Project Overview &amp; Problem Statement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2286000"/>
            <a:ext cx="5120640" cy="3200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  <a:buNone/>
            </a:pPr>
            <a:r>
              <a:rPr sz="1000" b="1" i="0">
                <a:solidFill>
                  <a:srgbClr val="0F172A"/>
                </a:solidFill>
                <a:latin typeface="Arial"/>
              </a:rPr>
              <a:t>Project:</a:t>
            </a:r>
            <a:r>
              <a:rPr sz="1000" b="0" i="0">
                <a:solidFill>
                  <a:srgbClr val="334155"/>
                </a:solidFill>
                <a:latin typeface="Arial"/>
              </a:rPr>
              <a:t> HYDRA NEXUS — An Intelligent Water Quality Identification, Adaptive Purification and Verification System</a:t>
            </a:r>
          </a:p>
          <a:p>
            <a:pPr algn="l">
              <a:spcAft>
                <a:spcPts val="600"/>
              </a:spcAft>
              <a:buNone/>
            </a:pPr>
            <a:r>
              <a:rPr sz="1000" b="1" i="0">
                <a:solidFill>
                  <a:srgbClr val="0F172A"/>
                </a:solidFill>
                <a:latin typeface="Arial"/>
              </a:rPr>
              <a:t>Team ID:</a:t>
            </a:r>
            <a:r>
              <a:rPr sz="1000" b="0" i="0">
                <a:solidFill>
                  <a:srgbClr val="334155"/>
                </a:solidFill>
                <a:latin typeface="Arial"/>
              </a:rPr>
              <a:t> </a:t>
            </a:r>
            <a:r>
              <a:rPr sz="1000" b="0" i="1">
                <a:solidFill>
                  <a:srgbClr val="B45309"/>
                </a:solidFill>
                <a:latin typeface="Arial"/>
              </a:rPr>
              <a:t>Not supplied in the source files — confirmation required</a:t>
            </a:r>
          </a:p>
          <a:p>
            <a:pPr algn="l">
              <a:spcAft>
                <a:spcPts val="600"/>
              </a:spcAft>
              <a:buNone/>
            </a:pPr>
            <a:r>
              <a:rPr sz="1000" b="1" i="0">
                <a:solidFill>
                  <a:srgbClr val="0F172A"/>
                </a:solidFill>
                <a:latin typeface="Arial"/>
              </a:rPr>
              <a:t>Track:</a:t>
            </a:r>
            <a:r>
              <a:rPr sz="1000" b="0" i="0">
                <a:solidFill>
                  <a:srgbClr val="334155"/>
                </a:solidFill>
                <a:latin typeface="Arial"/>
              </a:rPr>
              <a:t> </a:t>
            </a:r>
            <a:r>
              <a:rPr sz="1000" b="0" i="1">
                <a:solidFill>
                  <a:srgbClr val="B45309"/>
                </a:solidFill>
                <a:latin typeface="Arial"/>
              </a:rPr>
              <a:t>Not stated in the Stage 1 proposal — confirmation required</a:t>
            </a:r>
          </a:p>
          <a:p>
            <a:pPr algn="l">
              <a:spcAft>
                <a:spcPts val="600"/>
              </a:spcAft>
              <a:buNone/>
            </a:pPr>
            <a:r>
              <a:rPr sz="1000" b="1" i="0">
                <a:solidFill>
                  <a:srgbClr val="0F172A"/>
                </a:solidFill>
                <a:latin typeface="Arial"/>
              </a:rPr>
              <a:t>Core innovation:</a:t>
            </a:r>
            <a:r>
              <a:rPr sz="1000" b="0" i="0">
                <a:solidFill>
                  <a:srgbClr val="334155"/>
                </a:solidFill>
                <a:latin typeface="Arial"/>
              </a:rPr>
              <a:t> a pocket-size capsule running a closed IDENTIFY → DECIDE → PURIFY → VERIFY → COMPARE loop around an ESP32-C3 controller.</a:t>
            </a:r>
          </a:p>
          <a:p>
            <a:pPr algn="l">
              <a:spcAft>
                <a:spcPts val="200"/>
              </a:spcAft>
              <a:buNone/>
            </a:pPr>
            <a:r>
              <a:rPr sz="1000" b="1" i="0">
                <a:solidFill>
                  <a:srgbClr val="0F172A"/>
                </a:solidFill>
                <a:latin typeface="Arial"/>
              </a:rPr>
              <a:t>Problem statement</a:t>
            </a:r>
          </a:p>
          <a:p>
            <a:pPr algn="l" marL="128016" indent="-128016">
              <a:spcAft>
                <a:spcPts val="6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1000" b="0" i="0">
                <a:solidFill>
                  <a:srgbClr val="334155"/>
                </a:solidFill>
                <a:latin typeface="Arial"/>
              </a:rPr>
              <a:t>Water quality changes between sources and over time; laboratory testing can be expensive, slow or difficult to access.</a:t>
            </a:r>
          </a:p>
          <a:p>
            <a:pPr algn="l" marL="128016" indent="-128016">
              <a:spcAft>
                <a:spcPts val="6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1000" b="0" i="0">
                <a:solidFill>
                  <a:srgbClr val="334155"/>
                </a:solidFill>
                <a:latin typeface="Arial"/>
              </a:rPr>
              <a:t>Conventional purifiers generally follow a fixed process without first measuring the incoming water.</a:t>
            </a:r>
          </a:p>
          <a:p>
            <a:pPr algn="l" marL="128016" indent="-128016">
              <a:spcAft>
                <a:spcPts val="6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1000" b="0" i="0">
                <a:solidFill>
                  <a:srgbClr val="334155"/>
                </a:solidFill>
                <a:latin typeface="Arial"/>
              </a:rPr>
              <a:t>Users often have no simple way to verify whether treatment improved the measurable water quality.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28892" y="1920240"/>
            <a:ext cx="5428792" cy="3639312"/>
          </a:xfrm>
          <a:prstGeom prst="roundRect">
            <a:avLst>
              <a:gd name="adj" fmla="val 2010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4340" y="2075688"/>
            <a:ext cx="173736" cy="17373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640372" y="2039112"/>
            <a:ext cx="488015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1100" b="1" i="0">
                <a:solidFill>
                  <a:srgbClr val="0F172A"/>
                </a:solidFill>
                <a:latin typeface="Arial"/>
              </a:rPr>
              <a:t>Target Beneficiary &amp; Before-State User 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286000"/>
            <a:ext cx="5120640" cy="3200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128016" indent="-128016">
              <a:spcAft>
                <a:spcPts val="8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1000" b="1" i="0">
                <a:solidFill>
                  <a:srgbClr val="0F172A"/>
                </a:solidFill>
                <a:latin typeface="Arial"/>
              </a:rPr>
              <a:t>Target users:</a:t>
            </a:r>
            <a:r>
              <a:rPr sz="1000" b="0" i="0">
                <a:solidFill>
                  <a:srgbClr val="334155"/>
                </a:solidFill>
                <a:latin typeface="Arial"/>
              </a:rPr>
              <a:t> households using variable-quality water sources, rural communities, schools, small institutions and small community water-treatment facilities.</a:t>
            </a:r>
          </a:p>
          <a:p>
            <a:pPr algn="l" marL="128016" indent="-128016">
              <a:spcAft>
                <a:spcPts val="8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1000" b="1" i="0">
                <a:solidFill>
                  <a:srgbClr val="0F172A"/>
                </a:solidFill>
                <a:latin typeface="Arial"/>
              </a:rPr>
              <a:t>Use model:</a:t>
            </a:r>
            <a:r>
              <a:rPr sz="1000" b="0" i="0">
                <a:solidFill>
                  <a:srgbClr val="334155"/>
                </a:solidFill>
                <a:latin typeface="Arial"/>
              </a:rPr>
              <a:t> a handheld capsule carried to the point of collection or use, so the check and the treatment travel with the user.</a:t>
            </a:r>
          </a:p>
          <a:p>
            <a:pPr algn="l" marL="128016" indent="-128016">
              <a:spcAft>
                <a:spcPts val="8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1000" b="1" i="0">
                <a:solidFill>
                  <a:srgbClr val="0F172A"/>
                </a:solidFill>
                <a:latin typeface="Arial"/>
              </a:rPr>
              <a:t>Before-state flow:</a:t>
            </a:r>
            <a:r>
              <a:rPr sz="1000" b="0" i="0">
                <a:solidFill>
                  <a:srgbClr val="334155"/>
                </a:solidFill>
                <a:latin typeface="Arial"/>
              </a:rPr>
              <a:t> unknown or changing water quality → limited or delayed testing → fixed purification → limited post-treatment verification → uncertainty about measured improvement.</a:t>
            </a:r>
          </a:p>
          <a:p>
            <a:pPr algn="l" marL="128016" indent="-128016">
              <a:spcAft>
                <a:spcPts val="8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1000" b="1" i="0">
                <a:solidFill>
                  <a:srgbClr val="0F172A"/>
                </a:solidFill>
                <a:latin typeface="Arial"/>
              </a:rPr>
              <a:t>Existing approaches:</a:t>
            </a:r>
            <a:r>
              <a:rPr sz="1000" b="0" i="0">
                <a:solidFill>
                  <a:srgbClr val="334155"/>
                </a:solidFill>
                <a:latin typeface="Arial"/>
              </a:rPr>
              <a:t> laboratory tests inform but do not treat; meters measure but do not treat; conventional and portable filters treat but generally do not compare input and output water.</a:t>
            </a:r>
          </a:p>
        </p:txBody>
      </p:sp>
      <p:pic>
        <p:nvPicPr>
          <p:cNvPr id="28" name="Note ba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095" y="5715000"/>
            <a:ext cx="11125504" cy="363016"/>
          </a:xfrm>
          <a:prstGeom prst="rect">
            <a:avLst/>
          </a:prstGeom>
        </p:spPr>
      </p:pic>
      <p:sp>
        <p:nvSpPr>
          <p:cNvPr id="29" name="Note text"/>
          <p:cNvSpPr txBox="1"/>
          <p:nvPr/>
        </p:nvSpPr>
        <p:spPr>
          <a:xfrm>
            <a:off x="685800" y="5765292"/>
            <a:ext cx="10835640" cy="26517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3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Submission note:</a:t>
            </a:r>
            <a:r>
              <a:rPr sz="850" b="0" i="0">
                <a:solidFill>
                  <a:srgbClr val="334155"/>
                </a:solidFill>
                <a:latin typeface="Arial"/>
              </a:rPr>
              <a:t> Vishwakarma Application ID, Team ID and Track are not contained in the source files and must be inserted by the team before submission.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Template back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8698" y="450799"/>
            <a:ext cx="8595360" cy="414223"/>
          </a:xfrm>
        </p:spPr>
        <p:txBody>
          <a:bodyPr/>
          <a:lstStyle/>
          <a:p>
            <a:r>
              <a:t>Problem Context: Operational Gap &amp; Baseline Plan</a:t>
            </a:r>
          </a:p>
        </p:txBody>
      </p:sp>
      <p:pic>
        <p:nvPicPr>
          <p:cNvPr id="4" name="Vishwakarma Awards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81013"/>
            <a:ext cx="1785823" cy="576986"/>
          </a:xfrm>
          <a:prstGeom prst="rect">
            <a:avLst/>
          </a:prstGeom>
        </p:spPr>
      </p:pic>
      <p:pic>
        <p:nvPicPr>
          <p:cNvPr id="5" name="Maker Bhavan Foundation 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329" y="6281013"/>
            <a:ext cx="1096365" cy="57698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458553" y="485546"/>
            <a:ext cx="2200046" cy="213055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47857"/>
                </a:solidFill>
                <a:latin typeface="Arial"/>
              </a:rPr>
              <a:t>HYDRA NEXUS · STAGE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095" y="960120"/>
            <a:ext cx="4526280" cy="4599432"/>
          </a:xfrm>
          <a:prstGeom prst="roundRect">
            <a:avLst>
              <a:gd name="adj" fmla="val 161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543" y="1115568"/>
            <a:ext cx="173736" cy="1737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44575" y="1078992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1100" b="1" i="0">
                <a:solidFill>
                  <a:srgbClr val="0F172A"/>
                </a:solidFill>
                <a:latin typeface="Arial"/>
              </a:rPr>
              <a:t>Operational Gap: Why Measure Twice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371600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750" b="1" i="0">
                <a:solidFill>
                  <a:srgbClr val="64748B"/>
                </a:solidFill>
                <a:latin typeface="Arial"/>
              </a:rPr>
              <a:t>FIXED-PROCESS FILTER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1591056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334155"/>
                </a:solidFill>
                <a:latin typeface="Arial"/>
              </a:rPr>
              <a:t>Raw water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01952" y="1819656"/>
            <a:ext cx="228600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130552" y="1591056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334155"/>
                </a:solidFill>
                <a:latin typeface="Arial"/>
              </a:rPr>
              <a:t>Fixed filtration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319272" y="1819656"/>
            <a:ext cx="228600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547872" y="1591056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334155"/>
                </a:solidFill>
                <a:latin typeface="Arial"/>
              </a:rPr>
              <a:t>Output: change not measured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194560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750" b="1" i="0">
                <a:solidFill>
                  <a:srgbClr val="059668"/>
                </a:solidFill>
                <a:latin typeface="Arial"/>
              </a:rPr>
              <a:t>HYDRA NEXUS CAPSULE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2414016"/>
            <a:ext cx="896112" cy="45720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334155"/>
                </a:solidFill>
                <a:latin typeface="Arial"/>
              </a:rPr>
              <a:t>Measure (M1)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609344" y="2642616"/>
            <a:ext cx="173736" cy="0"/>
          </a:xfrm>
          <a:prstGeom prst="line">
            <a:avLst/>
          </a:prstGeom>
          <a:ln w="15875">
            <a:solidFill>
              <a:srgbClr val="0596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783080" y="2414016"/>
            <a:ext cx="89611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334155"/>
                </a:solidFill>
                <a:latin typeface="Arial"/>
              </a:rPr>
              <a:t>Adapted filtration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679191" y="2642616"/>
            <a:ext cx="173737" cy="0"/>
          </a:xfrm>
          <a:prstGeom prst="line">
            <a:avLst/>
          </a:prstGeom>
          <a:ln w="15875">
            <a:solidFill>
              <a:srgbClr val="0596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852928" y="2414016"/>
            <a:ext cx="896112" cy="45720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334155"/>
                </a:solidFill>
                <a:latin typeface="Arial"/>
              </a:rPr>
              <a:t>Measure (M2)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749039" y="2642616"/>
            <a:ext cx="173737" cy="0"/>
          </a:xfrm>
          <a:prstGeom prst="line">
            <a:avLst/>
          </a:prstGeom>
          <a:ln w="15875">
            <a:solidFill>
              <a:srgbClr val="0596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922776" y="2414016"/>
            <a:ext cx="896112" cy="45720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334155"/>
                </a:solidFill>
                <a:latin typeface="Arial"/>
              </a:rPr>
              <a:t>Dispense or warn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3063240"/>
            <a:ext cx="4224528" cy="2468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128016" indent="-128016">
              <a:spcAft>
                <a:spcPts val="8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1000" b="0" i="0">
                <a:solidFill>
                  <a:srgbClr val="334155"/>
                </a:solidFill>
                <a:latin typeface="Arial"/>
              </a:rPr>
              <a:t>A single measurement describes the water, not whether the treatment worked.</a:t>
            </a:r>
          </a:p>
          <a:p>
            <a:pPr algn="l" marL="128016" indent="-128016">
              <a:spcAft>
                <a:spcPts val="8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1000" b="0" i="0">
                <a:solidFill>
                  <a:srgbClr val="334155"/>
                </a:solidFill>
                <a:latin typeface="Arial"/>
              </a:rPr>
              <a:t>Measuring the same water before and after (M1, M2) links the measured change to one cycle.</a:t>
            </a:r>
          </a:p>
          <a:p>
            <a:pPr algn="l" marL="128016" indent="-128016">
              <a:spcAft>
                <a:spcPts val="8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1000" b="0" i="0">
                <a:solidFill>
                  <a:srgbClr val="334155"/>
                </a:solidFill>
                <a:latin typeface="Arial"/>
              </a:rPr>
              <a:t>A missing improvement exposes an exhausted cartridge before the water is dispensed.</a:t>
            </a:r>
          </a:p>
          <a:p>
            <a:pPr algn="l" marL="128016" indent="-128016">
              <a:spcAft>
                <a:spcPts val="8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1000" b="0" i="0">
                <a:solidFill>
                  <a:srgbClr val="334155"/>
                </a:solidFill>
                <a:latin typeface="Arial"/>
              </a:rPr>
              <a:t>Conditions outside the installed sensors’ capability trigger a specialist-testing recommendation instead of false assurance.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230368" y="960120"/>
            <a:ext cx="6428232" cy="4599432"/>
          </a:xfrm>
          <a:prstGeom prst="roundRect">
            <a:avLst>
              <a:gd name="adj" fmla="val 1590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5816" y="1115568"/>
            <a:ext cx="165463" cy="17373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41848" y="1078992"/>
            <a:ext cx="587959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1100" b="1" i="0">
                <a:solidFill>
                  <a:srgbClr val="0F172A"/>
                </a:solidFill>
                <a:latin typeface="Arial"/>
              </a:rPr>
              <a:t>Quantified Inefficiency: Baseline-Measurement Framework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394960" y="1353312"/>
          <a:ext cx="6099045" cy="3200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65662"/>
                <a:gridCol w="2458530"/>
                <a:gridCol w="1276544"/>
                <a:gridCol w="898309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0F172A"/>
                          </a:solidFill>
                          <a:latin typeface="Arial"/>
                        </a:rPr>
                        <a:t>Baseline metric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0F172A"/>
                          </a:solidFill>
                          <a:latin typeface="Arial"/>
                        </a:rPr>
                        <a:t>Measurement method (prototype testing)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0F172A"/>
                          </a:solidFill>
                          <a:latin typeface="Arial"/>
                        </a:rPr>
                        <a:t>Reported as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0F172A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93B"/>
                          </a:solidFill>
                          <a:latin typeface="Arial"/>
                        </a:rPr>
                        <a:t>Time to first water-quality information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Stopwatch from sample collection to reading: lab route, handheld meter, Hydra Nexus M1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Minutes per sample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To be measured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93B"/>
                          </a:solidFill>
                          <a:latin typeface="Arial"/>
                        </a:rPr>
                        <a:t>Complete treatment-cycle time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Logged timestamps from intake to dispensed water, 250 mL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Minutes per 250 mL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To be measured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93B"/>
                          </a:solidFill>
                          <a:latin typeface="Arial"/>
                        </a:rPr>
                        <a:t>Raw vs treated variation in pH, TDS, turbidity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Paired M1/M2 readings, ≥ 3 runs per sample type (installed sensors only)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Δ per parameter, mean ± SD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To be measured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93B"/>
                          </a:solidFill>
                          <a:latin typeface="Arial"/>
                        </a:rPr>
                        <a:t>Time to identify ineffective treatment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Cycles until a “no improvement” stop vs. conventional workflow (no check)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Cycles / minutes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To be measured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93B"/>
                          </a:solidFill>
                          <a:latin typeface="Arial"/>
                        </a:rPr>
                        <a:t>Manual verification steps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Task analysis of user actions: conventional vs. Hydra Nexus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Count of steps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To be measured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93B"/>
                          </a:solidFill>
                          <a:latin typeface="Arial"/>
                        </a:rPr>
                        <a:t>Sensor consistency &amp; repeatability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10 repeated readings in reference solutions; drift over 4 h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SD, drift per hour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To be measured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5394960" y="4956048"/>
            <a:ext cx="609904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850" b="0" i="1">
                <a:solidFill>
                  <a:srgbClr val="64748B"/>
                </a:solidFill>
                <a:latin typeface="Arial"/>
              </a:rPr>
              <a:t>No numerical baseline is claimed. Directly comparable published benchmarks for this use case were not identified, so every baseline is measured on the same water samples during Months 3–4.</a:t>
            </a:r>
          </a:p>
        </p:txBody>
      </p:sp>
      <p:pic>
        <p:nvPicPr>
          <p:cNvPr id="30" name="Note ba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095" y="5715000"/>
            <a:ext cx="11125504" cy="363016"/>
          </a:xfrm>
          <a:prstGeom prst="rect">
            <a:avLst/>
          </a:prstGeom>
        </p:spPr>
      </p:pic>
      <p:sp>
        <p:nvSpPr>
          <p:cNvPr id="31" name="Note text"/>
          <p:cNvSpPr txBox="1"/>
          <p:nvPr/>
        </p:nvSpPr>
        <p:spPr>
          <a:xfrm>
            <a:off x="685800" y="5765292"/>
            <a:ext cx="10835640" cy="26517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3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Method:</a:t>
            </a:r>
            <a:r>
              <a:rPr sz="850" b="0" i="0">
                <a:solidFill>
                  <a:srgbClr val="334155"/>
                </a:solidFill>
                <a:latin typeface="Arial"/>
              </a:rPr>
              <a:t> baselines are recorded for the conventional workflow and for Hydra Nexus with identical samples, so any difference is measured, not assumed.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Template back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8698" y="450799"/>
            <a:ext cx="8595360" cy="414223"/>
          </a:xfrm>
        </p:spPr>
        <p:txBody>
          <a:bodyPr/>
          <a:lstStyle/>
          <a:p>
            <a:r>
              <a:t>User Journey: Before and After Hydra Nexus</a:t>
            </a:r>
          </a:p>
        </p:txBody>
      </p:sp>
      <p:pic>
        <p:nvPicPr>
          <p:cNvPr id="4" name="Vishwakarma Awards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81013"/>
            <a:ext cx="1785823" cy="576986"/>
          </a:xfrm>
          <a:prstGeom prst="rect">
            <a:avLst/>
          </a:prstGeom>
        </p:spPr>
      </p:pic>
      <p:pic>
        <p:nvPicPr>
          <p:cNvPr id="5" name="Maker Bhavan Foundation 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329" y="6281013"/>
            <a:ext cx="1096365" cy="57698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458553" y="485546"/>
            <a:ext cx="2200046" cy="213055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47857"/>
                </a:solidFill>
                <a:latin typeface="Arial"/>
              </a:rPr>
              <a:t>HYDRA NEXUS · STAGE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095" y="960120"/>
            <a:ext cx="1554480" cy="18288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334155"/>
                </a:solidFill>
                <a:latin typeface="Arial"/>
              </a:rPr>
              <a:t>BEFORE HYDRA NEXUS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095" y="1261872"/>
            <a:ext cx="1627632" cy="658368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0F172A"/>
                </a:solidFill>
                <a:latin typeface="Arial"/>
              </a:rPr>
              <a:t>Unknown or changing water 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095" y="1965960"/>
            <a:ext cx="1627632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300"/>
              </a:spcAft>
              <a:buNone/>
            </a:pPr>
            <a:r>
              <a:rPr sz="800" b="0" i="1">
                <a:solidFill>
                  <a:srgbClr val="B45309"/>
                </a:solidFill>
                <a:latin typeface="Arial"/>
              </a:rPr>
              <a:t>Source and season change the water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188159" y="1591056"/>
            <a:ext cx="217627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433218" y="1261872"/>
            <a:ext cx="1627632" cy="658368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0F172A"/>
                </a:solidFill>
                <a:latin typeface="Arial"/>
              </a:rPr>
              <a:t>Limited understanding of measurable conditions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3218" y="1965960"/>
            <a:ext cx="1627632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300"/>
              </a:spcAft>
              <a:buNone/>
            </a:pPr>
            <a:r>
              <a:rPr sz="800" b="0" i="1">
                <a:solidFill>
                  <a:srgbClr val="B45309"/>
                </a:solidFill>
                <a:latin typeface="Arial"/>
              </a:rPr>
              <a:t>Testing delayed, costly or unavailable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088282" y="1591056"/>
            <a:ext cx="217627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333341" y="1261872"/>
            <a:ext cx="1627632" cy="658368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0F172A"/>
                </a:solidFill>
                <a:latin typeface="Arial"/>
              </a:rPr>
              <a:t>Fixed purification approach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3341" y="1965960"/>
            <a:ext cx="1627632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300"/>
              </a:spcAft>
              <a:buNone/>
            </a:pPr>
            <a:r>
              <a:rPr sz="800" b="0" i="1">
                <a:solidFill>
                  <a:srgbClr val="B45309"/>
                </a:solidFill>
                <a:latin typeface="Arial"/>
              </a:rPr>
              <a:t>Same process for every sample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88405" y="1591056"/>
            <a:ext cx="217627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233464" y="1261872"/>
            <a:ext cx="1627632" cy="658368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0F172A"/>
                </a:solidFill>
                <a:latin typeface="Arial"/>
              </a:rPr>
              <a:t>Water is treated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464" y="1965960"/>
            <a:ext cx="1627632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300"/>
              </a:spcAft>
              <a:buNone/>
            </a:pPr>
            <a:r>
              <a:rPr sz="800" b="0" i="1">
                <a:solidFill>
                  <a:srgbClr val="B45309"/>
                </a:solidFill>
                <a:latin typeface="Arial"/>
              </a:rPr>
              <a:t>No feedback during treatment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888528" y="1591056"/>
            <a:ext cx="217628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133588" y="1261872"/>
            <a:ext cx="1627632" cy="658368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0F172A"/>
                </a:solidFill>
                <a:latin typeface="Arial"/>
              </a:rPr>
              <a:t>Limited post-treatment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3588" y="1965960"/>
            <a:ext cx="1627632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300"/>
              </a:spcAft>
              <a:buNone/>
            </a:pPr>
            <a:r>
              <a:rPr sz="800" b="0" i="1">
                <a:solidFill>
                  <a:srgbClr val="B45309"/>
                </a:solidFill>
                <a:latin typeface="Arial"/>
              </a:rPr>
              <a:t>Cartridge exhaustion may go unnoticed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788651" y="1591056"/>
            <a:ext cx="217628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0033711" y="1261872"/>
            <a:ext cx="1627632" cy="658368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0F172A"/>
                </a:solidFill>
                <a:latin typeface="Arial"/>
              </a:rPr>
              <a:t>User remains uncertain about measured improvement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33711" y="1965960"/>
            <a:ext cx="1627632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300"/>
              </a:spcAft>
              <a:buNone/>
            </a:pPr>
            <a:r>
              <a:rPr sz="800" b="0" i="1">
                <a:solidFill>
                  <a:srgbClr val="B45309"/>
                </a:solidFill>
                <a:latin typeface="Arial"/>
              </a:rPr>
              <a:t>Trust replaces evidence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3095" y="2487168"/>
            <a:ext cx="1463040" cy="182880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47857"/>
                </a:solidFill>
                <a:latin typeface="Arial"/>
              </a:rPr>
              <a:t>AFTER HYDRA NEXUS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3095" y="2788920"/>
            <a:ext cx="1627632" cy="960120"/>
          </a:xfrm>
          <a:prstGeom prst="roundRect">
            <a:avLst>
              <a:gd name="adj" fmla="val 5714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300"/>
              </a:spcAft>
            </a:pPr>
            <a:r>
              <a:rPr sz="1050" b="1" i="0">
                <a:solidFill>
                  <a:srgbClr val="0368A1"/>
                </a:solidFill>
                <a:latin typeface="Arial"/>
              </a:rPr>
              <a:t>Raw water enters</a:t>
            </a:r>
          </a:p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334155"/>
                </a:solidFill>
                <a:latin typeface="Arial"/>
              </a:rPr>
              <a:t>Intake hose draws a sample; valve V1 sends it to the sensing cell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188159" y="3268980"/>
            <a:ext cx="217627" cy="0"/>
          </a:xfrm>
          <a:prstGeom prst="line">
            <a:avLst/>
          </a:prstGeom>
          <a:ln w="19050">
            <a:solidFill>
              <a:srgbClr val="0596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2433218" y="2788920"/>
            <a:ext cx="1627632" cy="960120"/>
          </a:xfrm>
          <a:prstGeom prst="roundRect">
            <a:avLst>
              <a:gd name="adj" fmla="val 5714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300"/>
              </a:spcAft>
            </a:pPr>
            <a:r>
              <a:rPr sz="1050" b="1" i="0">
                <a:solidFill>
                  <a:srgbClr val="059668"/>
                </a:solidFill>
                <a:latin typeface="Arial Black"/>
              </a:rPr>
              <a:t>IDENTIFY</a:t>
            </a:r>
          </a:p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334155"/>
                </a:solidFill>
                <a:latin typeface="Arial"/>
              </a:rPr>
              <a:t>M1: pH, TDS, turbidity and temperature of the raw sample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088282" y="3268980"/>
            <a:ext cx="217627" cy="0"/>
          </a:xfrm>
          <a:prstGeom prst="line">
            <a:avLst/>
          </a:prstGeom>
          <a:ln w="19050">
            <a:solidFill>
              <a:srgbClr val="0596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4333341" y="2788920"/>
            <a:ext cx="1627632" cy="960120"/>
          </a:xfrm>
          <a:prstGeom prst="roundRect">
            <a:avLst>
              <a:gd name="adj" fmla="val 5714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300"/>
              </a:spcAft>
            </a:pPr>
            <a:r>
              <a:rPr sz="1050" b="1" i="0">
                <a:solidFill>
                  <a:srgbClr val="059668"/>
                </a:solidFill>
                <a:latin typeface="Arial Black"/>
              </a:rPr>
              <a:t>DECIDE</a:t>
            </a:r>
          </a:p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334155"/>
                </a:solidFill>
                <a:latin typeface="Arial"/>
              </a:rPr>
              <a:t>ESP32-C3 validates M1 and sets flow, UV-C dose and cartridge advice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988405" y="3268980"/>
            <a:ext cx="217627" cy="0"/>
          </a:xfrm>
          <a:prstGeom prst="line">
            <a:avLst/>
          </a:prstGeom>
          <a:ln w="19050">
            <a:solidFill>
              <a:srgbClr val="0596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233464" y="2788920"/>
            <a:ext cx="1627632" cy="960120"/>
          </a:xfrm>
          <a:prstGeom prst="roundRect">
            <a:avLst>
              <a:gd name="adj" fmla="val 5714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300"/>
              </a:spcAft>
            </a:pPr>
            <a:r>
              <a:rPr sz="1050" b="1" i="0">
                <a:solidFill>
                  <a:srgbClr val="059668"/>
                </a:solidFill>
                <a:latin typeface="Arial Black"/>
              </a:rPr>
              <a:t>PURIFY</a:t>
            </a:r>
          </a:p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334155"/>
                </a:solidFill>
                <a:latin typeface="Arial"/>
              </a:rPr>
              <a:t>Pump drives water through carbon + UF membrane (+ UV-C)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888528" y="3268980"/>
            <a:ext cx="217628" cy="0"/>
          </a:xfrm>
          <a:prstGeom prst="line">
            <a:avLst/>
          </a:prstGeom>
          <a:ln w="19050">
            <a:solidFill>
              <a:srgbClr val="0596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133588" y="2788920"/>
            <a:ext cx="1627632" cy="960120"/>
          </a:xfrm>
          <a:prstGeom prst="roundRect">
            <a:avLst>
              <a:gd name="adj" fmla="val 5714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300"/>
              </a:spcAft>
            </a:pPr>
            <a:r>
              <a:rPr sz="1050" b="1" i="0">
                <a:solidFill>
                  <a:srgbClr val="059668"/>
                </a:solidFill>
                <a:latin typeface="Arial Black"/>
              </a:rPr>
              <a:t>VERIFY</a:t>
            </a:r>
          </a:p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334155"/>
                </a:solidFill>
                <a:latin typeface="Arial"/>
              </a:rPr>
              <a:t>V2 routes treated water back through the same cell (M2)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788651" y="3268980"/>
            <a:ext cx="217628" cy="0"/>
          </a:xfrm>
          <a:prstGeom prst="line">
            <a:avLst/>
          </a:prstGeom>
          <a:ln w="19050">
            <a:solidFill>
              <a:srgbClr val="0596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0033711" y="2788920"/>
            <a:ext cx="1627632" cy="960120"/>
          </a:xfrm>
          <a:prstGeom prst="roundRect">
            <a:avLst>
              <a:gd name="adj" fmla="val 5714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300"/>
              </a:spcAft>
            </a:pPr>
            <a:r>
              <a:rPr sz="1050" b="1" i="0">
                <a:solidFill>
                  <a:srgbClr val="059668"/>
                </a:solidFill>
                <a:latin typeface="Arial Black"/>
              </a:rPr>
              <a:t>COMPARE</a:t>
            </a:r>
          </a:p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334155"/>
                </a:solidFill>
                <a:latin typeface="Arial"/>
              </a:rPr>
              <a:t>Δ = M2 − M1; dispense only if the change meets targets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0847527" y="3749039"/>
            <a:ext cx="0" cy="320041"/>
          </a:xfrm>
          <a:prstGeom prst="line">
            <a:avLst/>
          </a:prstGeom>
          <a:ln w="19050">
            <a:solidFill>
              <a:srgbClr val="0596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6172200" y="40690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0F172A"/>
                </a:solidFill>
                <a:latin typeface="Arial"/>
              </a:rPr>
              <a:t>OLED + phone app show:</a:t>
            </a:r>
            <a:r>
              <a:rPr sz="900" b="0" i="0">
                <a:solidFill>
                  <a:srgbClr val="334155"/>
                </a:solidFill>
                <a:latin typeface="Arial"/>
              </a:rPr>
              <a:t> initial readings · adaptation applied · final readings · measured change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315200" y="4526280"/>
            <a:ext cx="0" cy="246888"/>
          </a:xfrm>
          <a:prstGeom prst="line">
            <a:avLst/>
          </a:prstGeom>
          <a:ln w="19050">
            <a:solidFill>
              <a:srgbClr val="0596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515600" y="4526280"/>
            <a:ext cx="0" cy="246888"/>
          </a:xfrm>
          <a:prstGeom prst="line">
            <a:avLst/>
          </a:prstGeom>
          <a:ln w="19050">
            <a:solidFill>
              <a:srgbClr val="B453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6172200" y="4773168"/>
            <a:ext cx="2651760" cy="749808"/>
          </a:xfrm>
          <a:prstGeom prst="roundRect">
            <a:avLst>
              <a:gd name="adj" fmla="val 7317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059668"/>
                </a:solidFill>
                <a:latin typeface="Arial"/>
              </a:rPr>
              <a:t>Improvement confirmed</a:t>
            </a:r>
          </a:p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334155"/>
                </a:solidFill>
                <a:latin typeface="Arial"/>
              </a:rPr>
              <a:t>water dispensed; claim limited to measured parameters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6840" y="4773168"/>
            <a:ext cx="2651760" cy="749808"/>
          </a:xfrm>
          <a:prstGeom prst="roundRect">
            <a:avLst>
              <a:gd name="adj" fmla="val 7317"/>
            </a:avLst>
          </a:prstGeom>
          <a:solidFill>
            <a:srgbClr val="FFFBEB"/>
          </a:solidFill>
          <a:ln w="9525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B45309"/>
                </a:solidFill>
                <a:latin typeface="Arial"/>
              </a:rPr>
              <a:t>Stop and advise</a:t>
            </a:r>
          </a:p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334155"/>
                </a:solidFill>
                <a:latin typeface="Arial"/>
              </a:rPr>
              <a:t>second pass, replace cartridge, or specialist / laboratory testing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33095" y="4069080"/>
            <a:ext cx="5394960" cy="146304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543" y="4224528"/>
            <a:ext cx="173736" cy="17373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44575" y="418795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1100" b="1" i="0">
                <a:solidFill>
                  <a:srgbClr val="0F172A"/>
                </a:solidFill>
                <a:latin typeface="Arial"/>
              </a:rPr>
              <a:t>What changes for the user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3232" y="4434840"/>
            <a:ext cx="507492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128016" indent="-128016">
              <a:spcAft>
                <a:spcPts val="4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900" b="0" i="0">
                <a:solidFill>
                  <a:srgbClr val="334155"/>
                </a:solidFill>
                <a:latin typeface="Arial"/>
              </a:rPr>
              <a:t>Carries the whole check-and-treat loop in a pocket-size capsule to the water source.</a:t>
            </a:r>
          </a:p>
          <a:p>
            <a:pPr algn="l" marL="128016" indent="-128016">
              <a:spcAft>
                <a:spcPts val="4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900" b="0" i="0">
                <a:solidFill>
                  <a:srgbClr val="334155"/>
                </a:solidFill>
                <a:latin typeface="Arial"/>
              </a:rPr>
              <a:t>Sees what was measured, what the capsule changed and how the measured parameters moved.</a:t>
            </a:r>
          </a:p>
          <a:p>
            <a:pPr algn="l" marL="128016" indent="-128016">
              <a:spcAft>
                <a:spcPts val="4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900" b="0" i="0">
                <a:solidFill>
                  <a:srgbClr val="334155"/>
                </a:solidFill>
                <a:latin typeface="Arial"/>
              </a:rPr>
              <a:t>Is warned — before drinking — when improvement is not achieved or a hazard cannot be measured.</a:t>
            </a:r>
          </a:p>
        </p:txBody>
      </p:sp>
      <p:pic>
        <p:nvPicPr>
          <p:cNvPr id="47" name="Note ba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095" y="5715000"/>
            <a:ext cx="11125504" cy="363016"/>
          </a:xfrm>
          <a:prstGeom prst="rect">
            <a:avLst/>
          </a:prstGeom>
        </p:spPr>
      </p:pic>
      <p:sp>
        <p:nvSpPr>
          <p:cNvPr id="48" name="Note text"/>
          <p:cNvSpPr txBox="1"/>
          <p:nvPr/>
        </p:nvSpPr>
        <p:spPr>
          <a:xfrm>
            <a:off x="685800" y="5765292"/>
            <a:ext cx="10835640" cy="26517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3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Stage 1 basis:</a:t>
            </a:r>
            <a:r>
              <a:rPr sz="850" b="0" i="0">
                <a:solidFill>
                  <a:srgbClr val="334155"/>
                </a:solidFill>
                <a:latin typeface="Arial"/>
              </a:rPr>
              <a:t> the user experience moves from simply trusting a purifier to seeing measured evidence of what treatment did (Stage 1 proposal, §8).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Template back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8698" y="450799"/>
            <a:ext cx="8595360" cy="414223"/>
          </a:xfrm>
        </p:spPr>
        <p:txBody>
          <a:bodyPr/>
          <a:lstStyle/>
          <a:p>
            <a:r>
              <a:t>User Journey: Evaluation Criteria &amp; Test Records</a:t>
            </a:r>
          </a:p>
        </p:txBody>
      </p:sp>
      <p:pic>
        <p:nvPicPr>
          <p:cNvPr id="4" name="Vishwakarma Awards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81013"/>
            <a:ext cx="1785823" cy="576986"/>
          </a:xfrm>
          <a:prstGeom prst="rect">
            <a:avLst/>
          </a:prstGeom>
        </p:spPr>
      </p:pic>
      <p:pic>
        <p:nvPicPr>
          <p:cNvPr id="5" name="Maker Bhavan Foundation 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329" y="6281013"/>
            <a:ext cx="1096365" cy="57698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458553" y="485546"/>
            <a:ext cx="2200046" cy="213055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47857"/>
                </a:solidFill>
                <a:latin typeface="Arial"/>
              </a:rPr>
              <a:t>HYDRA NEXUS · STAGE 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33095" y="960120"/>
          <a:ext cx="7086598" cy="4114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86699"/>
                <a:gridCol w="2428275"/>
                <a:gridCol w="2329162"/>
                <a:gridCol w="842462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0F172A"/>
                          </a:solidFill>
                          <a:latin typeface="Arial"/>
                        </a:rPr>
                        <a:t>Evaluation metric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0F172A"/>
                          </a:solidFill>
                          <a:latin typeface="Arial"/>
                        </a:rPr>
                        <a:t>Test method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0F172A"/>
                          </a:solidFill>
                          <a:latin typeface="Arial"/>
                        </a:rPr>
                        <a:t>Proposed acceptance target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0F172A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93B"/>
                          </a:solidFill>
                          <a:latin typeface="Arial"/>
                        </a:rPr>
                        <a:t>Pre- and post-treatment readings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334155"/>
                          </a:solidFill>
                          <a:latin typeface="Arial"/>
                        </a:rPr>
                        <a:t>Audit of the per-cycle log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334155"/>
                          </a:solidFill>
                          <a:latin typeface="Arial"/>
                        </a:rPr>
                        <a:t>M1 and M2 recorded for 100% of cycles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334155"/>
                          </a:solidFill>
                          <a:latin typeface="Arial"/>
                        </a:rPr>
                        <a:t>Pending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93B"/>
                          </a:solidFill>
                          <a:latin typeface="Arial"/>
                        </a:rPr>
                        <a:t>Sensor repeatability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334155"/>
                          </a:solidFill>
                          <a:latin typeface="Arial"/>
                        </a:rPr>
                        <a:t>10 readings in pH 4.00 / 7.00 buffers and a TDS reference solution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334155"/>
                          </a:solidFill>
                          <a:latin typeface="Arial"/>
                        </a:rPr>
                        <a:t>pH within ±0.1; TDS within ±10% F.S. (bench-reference accuracy, 25 °C)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334155"/>
                          </a:solidFill>
                          <a:latin typeface="Arial"/>
                        </a:rPr>
                        <a:t>Pending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93B"/>
                          </a:solidFill>
                          <a:latin typeface="Arial"/>
                        </a:rPr>
                        <a:t>Sensor response time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334155"/>
                          </a:solidFill>
                          <a:latin typeface="Arial"/>
                        </a:rPr>
                        <a:t>Step change between reference solutions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334155"/>
                          </a:solidFill>
                          <a:latin typeface="Arial"/>
                        </a:rPr>
                        <a:t>Stable reading ≤ 60 s (proposed; mini pH electrode to be verified)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334155"/>
                          </a:solidFill>
                          <a:latin typeface="Arial"/>
                        </a:rPr>
                        <a:t>Pending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93B"/>
                          </a:solidFill>
                          <a:latin typeface="Arial"/>
                        </a:rPr>
                        <a:t>Carry-over in the shared cell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334155"/>
                          </a:solidFill>
                          <a:latin typeface="Arial"/>
                        </a:rPr>
                        <a:t>High-EC sample, then 15 mL treated flush; compare with clean reference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334155"/>
                          </a:solidFill>
                          <a:latin typeface="Arial"/>
                        </a:rPr>
                        <a:t>Residual ≤ 2% of raw-sample EC (proposed)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334155"/>
                          </a:solidFill>
                          <a:latin typeface="Arial"/>
                        </a:rPr>
                        <a:t>Pending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93B"/>
                          </a:solidFill>
                          <a:latin typeface="Arial"/>
                        </a:rPr>
                        <a:t>Treatment cycle time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334155"/>
                          </a:solidFill>
                          <a:latin typeface="Arial"/>
                        </a:rPr>
                        <a:t>Timestamps, intake → dispensed, 250 mL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334155"/>
                          </a:solidFill>
                          <a:latin typeface="Arial"/>
                        </a:rPr>
                        <a:t>≤ 3 min per 250 mL (proposed)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334155"/>
                          </a:solidFill>
                          <a:latin typeface="Arial"/>
                        </a:rPr>
                        <a:t>Pending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93B"/>
                          </a:solidFill>
                          <a:latin typeface="Arial"/>
                        </a:rPr>
                        <a:t>Change in measured parameters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334155"/>
                          </a:solidFill>
                          <a:latin typeface="Arial"/>
                        </a:rPr>
                        <a:t>Paired M1/M2 readings, ≥ 3 runs per sample type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334155"/>
                          </a:solidFill>
                          <a:latin typeface="Arial"/>
                        </a:rPr>
                        <a:t>Reported per sample; no gain assumed in advance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334155"/>
                          </a:solidFill>
                          <a:latin typeface="Arial"/>
                        </a:rPr>
                        <a:t>Pending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93B"/>
                          </a:solidFill>
                          <a:latin typeface="Arial"/>
                        </a:rPr>
                        <a:t>Battery endurance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334155"/>
                          </a:solidFill>
                          <a:latin typeface="Arial"/>
                        </a:rPr>
                        <a:t>Repeated cycles from full charge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334155"/>
                          </a:solidFill>
                          <a:latin typeface="Arial"/>
                        </a:rPr>
                        <a:t>≥ 30 cycles per charge (proposed; estimate ≈ 50)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334155"/>
                          </a:solidFill>
                          <a:latin typeface="Arial"/>
                        </a:rPr>
                        <a:t>Pending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E293B"/>
                          </a:solidFill>
                          <a:latin typeface="Arial"/>
                        </a:rPr>
                        <a:t>Abnormal readings &amp; faults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334155"/>
                          </a:solidFill>
                          <a:latin typeface="Arial"/>
                        </a:rPr>
                        <a:t>Inject dry intake, clogged cartridge, unplugged sensor, moisture in spine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334155"/>
                          </a:solidFill>
                          <a:latin typeface="Arial"/>
                        </a:rPr>
                        <a:t>Detected; outputs off ≤ 2 s (proposed)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334155"/>
                          </a:solidFill>
                          <a:latin typeface="Arial"/>
                        </a:rPr>
                        <a:t>Pending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818120" y="960120"/>
            <a:ext cx="3840480" cy="3063240"/>
          </a:xfrm>
          <a:prstGeom prst="roundRect">
            <a:avLst>
              <a:gd name="adj" fmla="val 2388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568" y="1115568"/>
            <a:ext cx="173736" cy="1737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0" y="107899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1100" b="1" i="0">
                <a:solidFill>
                  <a:srgbClr val="0F172A"/>
                </a:solidFill>
                <a:latin typeface="Arial"/>
              </a:rPr>
              <a:t>Per-cycle test record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82712" y="1325880"/>
            <a:ext cx="3566160" cy="2651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128016" indent="-128016">
              <a:spcAft>
                <a:spcPts val="4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0F172A"/>
                </a:solidFill>
                <a:latin typeface="Arial"/>
              </a:rPr>
              <a:t>Sample ID</a:t>
            </a:r>
            <a:r>
              <a:rPr sz="900" b="0" i="0">
                <a:solidFill>
                  <a:srgbClr val="334155"/>
                </a:solidFill>
                <a:latin typeface="Arial"/>
              </a:rPr>
              <a:t> and source description</a:t>
            </a:r>
          </a:p>
          <a:p>
            <a:pPr algn="l" marL="128016" indent="-128016">
              <a:spcAft>
                <a:spcPts val="4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0F172A"/>
                </a:solidFill>
                <a:latin typeface="Arial"/>
              </a:rPr>
              <a:t>Initial (M1)</a:t>
            </a:r>
            <a:r>
              <a:rPr sz="900" b="0" i="0">
                <a:solidFill>
                  <a:srgbClr val="334155"/>
                </a:solidFill>
                <a:latin typeface="Arial"/>
              </a:rPr>
              <a:t> pH, TDS / EC, turbidity, temperature</a:t>
            </a:r>
          </a:p>
          <a:p>
            <a:pPr algn="l" marL="128016" indent="-128016">
              <a:spcAft>
                <a:spcPts val="4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0F172A"/>
                </a:solidFill>
                <a:latin typeface="Arial"/>
              </a:rPr>
              <a:t>Adaptation applied</a:t>
            </a:r>
            <a:r>
              <a:rPr sz="900" b="0" i="0">
                <a:solidFill>
                  <a:srgbClr val="334155"/>
                </a:solidFill>
                <a:latin typeface="Arial"/>
              </a:rPr>
              <a:t> (flow, UV-C dose) and reason code</a:t>
            </a:r>
          </a:p>
          <a:p>
            <a:pPr algn="l" marL="128016" indent="-128016">
              <a:spcAft>
                <a:spcPts val="4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0F172A"/>
                </a:solidFill>
                <a:latin typeface="Arial"/>
              </a:rPr>
              <a:t>Treatment duration</a:t>
            </a:r>
            <a:r>
              <a:rPr sz="900" b="0" i="0">
                <a:solidFill>
                  <a:srgbClr val="334155"/>
                </a:solidFill>
                <a:latin typeface="Arial"/>
              </a:rPr>
              <a:t>, volume and battery used</a:t>
            </a:r>
          </a:p>
          <a:p>
            <a:pPr algn="l" marL="128016" indent="-128016">
              <a:spcAft>
                <a:spcPts val="4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0F172A"/>
                </a:solidFill>
                <a:latin typeface="Arial"/>
              </a:rPr>
              <a:t>Final (M2)</a:t>
            </a:r>
            <a:r>
              <a:rPr sz="900" b="0" i="0">
                <a:solidFill>
                  <a:srgbClr val="334155"/>
                </a:solidFill>
                <a:latin typeface="Arial"/>
              </a:rPr>
              <a:t> readings for installed parameters</a:t>
            </a:r>
          </a:p>
          <a:p>
            <a:pPr algn="l" marL="128016" indent="-128016">
              <a:spcAft>
                <a:spcPts val="4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0F172A"/>
                </a:solidFill>
                <a:latin typeface="Arial"/>
              </a:rPr>
              <a:t>Repeatability</a:t>
            </a:r>
            <a:r>
              <a:rPr sz="900" b="0" i="0">
                <a:solidFill>
                  <a:srgbClr val="334155"/>
                </a:solidFill>
                <a:latin typeface="Arial"/>
              </a:rPr>
              <a:t> (SD of n readings)</a:t>
            </a:r>
          </a:p>
          <a:p>
            <a:pPr algn="l" marL="128016" indent="-128016">
              <a:spcAft>
                <a:spcPts val="4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0F172A"/>
                </a:solidFill>
                <a:latin typeface="Arial"/>
              </a:rPr>
              <a:t>Faults / abnormal observations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4160520"/>
            <a:ext cx="3840480" cy="1399032"/>
          </a:xfrm>
          <a:prstGeom prst="roundRect">
            <a:avLst>
              <a:gd name="adj" fmla="val 5228"/>
            </a:avLst>
          </a:prstGeom>
          <a:solidFill>
            <a:srgbClr val="FFFBEB"/>
          </a:solidFill>
          <a:ln w="9525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3568" y="4315968"/>
            <a:ext cx="173736" cy="1737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0" y="427939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1100" b="1" i="0">
                <a:solidFill>
                  <a:srgbClr val="0F172A"/>
                </a:solidFill>
                <a:latin typeface="Arial"/>
              </a:rPr>
              <a:t>Measurement limitation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82712" y="4507992"/>
            <a:ext cx="356616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850" b="0" i="0">
                <a:solidFill>
                  <a:srgbClr val="334155"/>
                </a:solidFill>
                <a:latin typeface="Arial"/>
              </a:rPr>
              <a:t>pH, TDS and turbidity cannot confirm the absence of pathogens or chemical contaminants. Results describe the measured parameters only; laboratory testing is recommended where required.</a:t>
            </a:r>
          </a:p>
        </p:txBody>
      </p:sp>
      <p:pic>
        <p:nvPicPr>
          <p:cNvPr id="16" name="Note ba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095" y="5715000"/>
            <a:ext cx="11125504" cy="363016"/>
          </a:xfrm>
          <a:prstGeom prst="rect">
            <a:avLst/>
          </a:prstGeom>
        </p:spPr>
      </p:pic>
      <p:sp>
        <p:nvSpPr>
          <p:cNvPr id="17" name="Note text"/>
          <p:cNvSpPr txBox="1"/>
          <p:nvPr/>
        </p:nvSpPr>
        <p:spPr>
          <a:xfrm>
            <a:off x="685800" y="5765292"/>
            <a:ext cx="10835640" cy="26517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3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Quantified efficiency:</a:t>
            </a:r>
            <a:r>
              <a:rPr sz="850" b="0" i="0">
                <a:solidFill>
                  <a:srgbClr val="334155"/>
                </a:solidFill>
                <a:latin typeface="Arial"/>
              </a:rPr>
              <a:t> reported only after testing. Values marked “proposed” are acceptance criteria to be validated, not achieved results.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Template back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8698" y="450799"/>
            <a:ext cx="8595360" cy="414223"/>
          </a:xfrm>
        </p:spPr>
        <p:txBody>
          <a:bodyPr/>
          <a:lstStyle/>
          <a:p>
            <a:r>
              <a:t>System Architecture &amp; Control Flow</a:t>
            </a:r>
          </a:p>
        </p:txBody>
      </p:sp>
      <p:pic>
        <p:nvPicPr>
          <p:cNvPr id="4" name="Vishwakarma Awards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81013"/>
            <a:ext cx="1785823" cy="576986"/>
          </a:xfrm>
          <a:prstGeom prst="rect">
            <a:avLst/>
          </a:prstGeom>
        </p:spPr>
      </p:pic>
      <p:pic>
        <p:nvPicPr>
          <p:cNvPr id="5" name="Maker Bhavan Foundation 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329" y="6281013"/>
            <a:ext cx="1096365" cy="57698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458553" y="485546"/>
            <a:ext cx="2200046" cy="213055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47857"/>
                </a:solidFill>
                <a:latin typeface="Arial"/>
              </a:rPr>
              <a:t>HYDRA NEXUS · STAGE 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0" y="841248"/>
            <a:ext cx="256031" cy="0"/>
          </a:xfrm>
          <a:prstGeom prst="line">
            <a:avLst/>
          </a:prstGeom>
          <a:ln w="2222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16952" y="758952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700" b="0" i="0">
                <a:solidFill>
                  <a:srgbClr val="64748B"/>
                </a:solidFill>
                <a:latin typeface="Arial"/>
              </a:rPr>
              <a:t>Water flow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412480" y="841248"/>
            <a:ext cx="256031" cy="0"/>
          </a:xfrm>
          <a:prstGeom prst="line">
            <a:avLst/>
          </a:prstGeom>
          <a:ln w="22225">
            <a:solidFill>
              <a:srgbClr val="1E398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14232" y="758952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700" b="0" i="0">
                <a:solidFill>
                  <a:srgbClr val="64748B"/>
                </a:solidFill>
                <a:latin typeface="Arial"/>
              </a:rPr>
              <a:t>Sensor signal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509760" y="841248"/>
            <a:ext cx="256032" cy="0"/>
          </a:xfrm>
          <a:prstGeom prst="line">
            <a:avLst/>
          </a:prstGeom>
          <a:ln w="22225">
            <a:solidFill>
              <a:srgbClr val="C2410C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811512" y="758952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700" b="0" i="0">
                <a:solidFill>
                  <a:srgbClr val="64748B"/>
                </a:solidFill>
                <a:latin typeface="Arial"/>
              </a:rPr>
              <a:t>Control command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625328" y="777240"/>
            <a:ext cx="201168" cy="128016"/>
          </a:xfrm>
          <a:prstGeom prst="roundRect">
            <a:avLst>
              <a:gd name="adj" fmla="val 21428"/>
            </a:avLst>
          </a:prstGeom>
          <a:solidFill>
            <a:srgbClr val="EFF6FF"/>
          </a:solidFill>
          <a:ln w="15875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863072" y="758952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700" b="0" i="0">
                <a:solidFill>
                  <a:srgbClr val="64748B"/>
                </a:solidFill>
                <a:latin typeface="Arial"/>
              </a:rPr>
              <a:t>Actuator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3095" y="1005840"/>
            <a:ext cx="1325880" cy="566928"/>
          </a:xfrm>
          <a:prstGeom prst="roundRect">
            <a:avLst>
              <a:gd name="adj" fmla="val 9677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Arial"/>
              </a:rPr>
              <a:t>Intake hose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334155"/>
                </a:solidFill>
                <a:latin typeface="Arial"/>
              </a:rPr>
              <a:t>40 µm weighted pre-mesh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868119" y="1289304"/>
            <a:ext cx="182880" cy="0"/>
          </a:xfrm>
          <a:prstGeom prst="line">
            <a:avLst/>
          </a:prstGeom>
          <a:ln w="2222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060143" y="1005840"/>
            <a:ext cx="1234440" cy="566928"/>
          </a:xfrm>
          <a:prstGeom prst="roundRect">
            <a:avLst>
              <a:gd name="adj" fmla="val 9677"/>
            </a:avLst>
          </a:prstGeom>
          <a:solidFill>
            <a:srgbClr val="EFF6FF"/>
          </a:solidFill>
          <a:ln w="15875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Arial"/>
              </a:rPr>
              <a:t>Micro pump P1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334155"/>
                </a:solidFill>
                <a:latin typeface="Arial"/>
              </a:rPr>
              <a:t>5–6 V diaphragm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303727" y="1289304"/>
            <a:ext cx="182880" cy="0"/>
          </a:xfrm>
          <a:prstGeom prst="line">
            <a:avLst/>
          </a:prstGeom>
          <a:ln w="2222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495751" y="1005840"/>
            <a:ext cx="1143000" cy="566928"/>
          </a:xfrm>
          <a:prstGeom prst="roundRect">
            <a:avLst>
              <a:gd name="adj" fmla="val 9677"/>
            </a:avLst>
          </a:prstGeom>
          <a:solidFill>
            <a:srgbClr val="EFF6FF"/>
          </a:solidFill>
          <a:ln w="15875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Arial"/>
              </a:rPr>
              <a:t>Valve V1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334155"/>
                </a:solidFill>
                <a:latin typeface="Arial"/>
              </a:rPr>
              <a:t>3-way: sample / treat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647895" y="1289304"/>
            <a:ext cx="182880" cy="0"/>
          </a:xfrm>
          <a:prstGeom prst="line">
            <a:avLst/>
          </a:prstGeom>
          <a:ln w="2222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839919" y="1005840"/>
            <a:ext cx="2194560" cy="566928"/>
          </a:xfrm>
          <a:prstGeom prst="roundRect">
            <a:avLst>
              <a:gd name="adj" fmla="val 9677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Arial"/>
              </a:rPr>
              <a:t>Twist-lock cartridge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334155"/>
                </a:solidFill>
                <a:latin typeface="Arial"/>
              </a:rPr>
              <a:t>activated carbon + hollow-fibre UF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43623" y="1289304"/>
            <a:ext cx="182880" cy="0"/>
          </a:xfrm>
          <a:prstGeom prst="line">
            <a:avLst/>
          </a:prstGeom>
          <a:ln w="2222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235647" y="1005840"/>
            <a:ext cx="1463040" cy="566928"/>
          </a:xfrm>
          <a:prstGeom prst="roundRect">
            <a:avLst>
              <a:gd name="adj" fmla="val 9677"/>
            </a:avLst>
          </a:prstGeom>
          <a:solidFill>
            <a:srgbClr val="EFF6FF"/>
          </a:solidFill>
          <a:ln w="15875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Arial"/>
              </a:rPr>
              <a:t>UV-C LED chamber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334155"/>
                </a:solidFill>
                <a:latin typeface="Arial"/>
              </a:rPr>
              <a:t>optional · interlocked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707831" y="1289304"/>
            <a:ext cx="182880" cy="0"/>
          </a:xfrm>
          <a:prstGeom prst="line">
            <a:avLst/>
          </a:prstGeom>
          <a:ln w="2222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899855" y="1005840"/>
            <a:ext cx="1143000" cy="566928"/>
          </a:xfrm>
          <a:prstGeom prst="roundRect">
            <a:avLst>
              <a:gd name="adj" fmla="val 9677"/>
            </a:avLst>
          </a:prstGeom>
          <a:solidFill>
            <a:srgbClr val="EFF6FF"/>
          </a:solidFill>
          <a:ln w="15875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Arial"/>
              </a:rPr>
              <a:t>Valve V2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334155"/>
                </a:solidFill>
                <a:latin typeface="Arial"/>
              </a:rPr>
              <a:t>3-way: verify / dispense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051999" y="1289304"/>
            <a:ext cx="182880" cy="0"/>
          </a:xfrm>
          <a:prstGeom prst="line">
            <a:avLst/>
          </a:prstGeom>
          <a:ln w="2222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244023" y="1005840"/>
            <a:ext cx="1417320" cy="566928"/>
          </a:xfrm>
          <a:prstGeom prst="roundRect">
            <a:avLst>
              <a:gd name="adj" fmla="val 9677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Arial"/>
              </a:rPr>
              <a:t>Outlet spout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334155"/>
                </a:solidFill>
                <a:latin typeface="Arial"/>
              </a:rPr>
              <a:t>dispensed after M2 passes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3095" y="1810512"/>
            <a:ext cx="132588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F172A"/>
                </a:solidFill>
                <a:latin typeface="Arial"/>
              </a:rPr>
              <a:t>Battery &amp; safety</a:t>
            </a:r>
          </a:p>
          <a:p>
            <a:pPr algn="ctr">
              <a:spcAft>
                <a:spcPts val="0"/>
              </a:spcAft>
            </a:pPr>
            <a:r>
              <a:rPr sz="700" b="0" i="0">
                <a:solidFill>
                  <a:srgbClr val="334155"/>
                </a:solidFill>
                <a:latin typeface="Arial"/>
              </a:rPr>
              <a:t>battery voltage · pump current · moisture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196035" y="2450591"/>
            <a:ext cx="0" cy="201169"/>
          </a:xfrm>
          <a:prstGeom prst="line">
            <a:avLst/>
          </a:prstGeom>
          <a:ln w="15875">
            <a:solidFill>
              <a:srgbClr val="1E398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2060143" y="1810512"/>
            <a:ext cx="1234440" cy="640080"/>
          </a:xfrm>
          <a:prstGeom prst="roundRect">
            <a:avLst>
              <a:gd name="adj" fmla="val 8571"/>
            </a:avLst>
          </a:prstGeom>
          <a:solidFill>
            <a:srgbClr val="FFF7ED"/>
          </a:solidFill>
          <a:ln w="9525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F172A"/>
                </a:solidFill>
                <a:latin typeface="Arial"/>
              </a:rPr>
              <a:t>Driver stage</a:t>
            </a:r>
          </a:p>
          <a:p>
            <a:pPr algn="ctr">
              <a:spcAft>
                <a:spcPts val="0"/>
              </a:spcAft>
            </a:pPr>
            <a:r>
              <a:rPr sz="700" b="0" i="0">
                <a:solidFill>
                  <a:srgbClr val="334155"/>
                </a:solidFill>
                <a:latin typeface="Arial"/>
              </a:rPr>
              <a:t>MOSFETs: P1, V1, V2, UV-C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2677363" y="1572768"/>
            <a:ext cx="0" cy="237744"/>
          </a:xfrm>
          <a:prstGeom prst="line">
            <a:avLst/>
          </a:prstGeom>
          <a:ln w="15875">
            <a:solidFill>
              <a:srgbClr val="C2410C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2677363" y="2450591"/>
            <a:ext cx="0" cy="201169"/>
          </a:xfrm>
          <a:prstGeom prst="line">
            <a:avLst/>
          </a:prstGeom>
          <a:ln w="15875">
            <a:solidFill>
              <a:srgbClr val="C2410C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3495751" y="1810512"/>
            <a:ext cx="6547104" cy="640080"/>
          </a:xfrm>
          <a:prstGeom prst="roundRect">
            <a:avLst>
              <a:gd name="adj" fmla="val 8571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Arial"/>
              </a:rPr>
              <a:t>Shared sensing cell (≈ 3 mL) — measured twice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334155"/>
                </a:solidFill>
                <a:latin typeface="Arial"/>
              </a:rPr>
              <a:t>pH · EC / TDS · IR turbidity · temperature  |  M1 = raw sample via V1  ·  M2 = treated sample via V2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067251" y="1572768"/>
            <a:ext cx="0" cy="237744"/>
          </a:xfrm>
          <a:prstGeom prst="line">
            <a:avLst/>
          </a:prstGeom>
          <a:ln w="19050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471355" y="1572768"/>
            <a:ext cx="0" cy="237744"/>
          </a:xfrm>
          <a:prstGeom prst="line">
            <a:avLst/>
          </a:prstGeom>
          <a:ln w="19050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042855" y="2130552"/>
            <a:ext cx="201168" cy="0"/>
          </a:xfrm>
          <a:prstGeom prst="line">
            <a:avLst/>
          </a:prstGeom>
          <a:ln w="19050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10244023" y="1810512"/>
            <a:ext cx="141732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F172A"/>
                </a:solidFill>
                <a:latin typeface="Arial"/>
              </a:rPr>
              <a:t>Reject port</a:t>
            </a:r>
          </a:p>
          <a:p>
            <a:pPr algn="ctr">
              <a:spcAft>
                <a:spcPts val="0"/>
              </a:spcAft>
            </a:pPr>
            <a:r>
              <a:rPr sz="700" b="0" i="0">
                <a:solidFill>
                  <a:srgbClr val="334155"/>
                </a:solidFill>
                <a:latin typeface="Arial"/>
              </a:rPr>
              <a:t>sample &amp; flush water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769303" y="2450591"/>
            <a:ext cx="0" cy="201169"/>
          </a:xfrm>
          <a:prstGeom prst="line">
            <a:avLst/>
          </a:prstGeom>
          <a:ln w="15875">
            <a:solidFill>
              <a:srgbClr val="1E398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533095" y="2651760"/>
            <a:ext cx="11125504" cy="822960"/>
          </a:xfrm>
          <a:prstGeom prst="roundRect">
            <a:avLst>
              <a:gd name="adj" fmla="val 8888"/>
            </a:avLst>
          </a:prstGeom>
          <a:solidFill>
            <a:srgbClr val="EEF2FF"/>
          </a:solidFill>
          <a:ln w="9525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58368" y="2715768"/>
            <a:ext cx="17830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300"/>
              </a:spcAft>
              <a:buNone/>
            </a:pPr>
            <a:r>
              <a:rPr sz="900" b="0" i="0">
                <a:solidFill>
                  <a:srgbClr val="1E398A"/>
                </a:solidFill>
                <a:latin typeface="Arial Black"/>
              </a:rPr>
              <a:t>ESP32-C3 CONTROL UNIT</a:t>
            </a:r>
          </a:p>
          <a:p>
            <a:pPr algn="l">
              <a:spcAft>
                <a:spcPts val="300"/>
              </a:spcAft>
              <a:buNone/>
            </a:pPr>
            <a:r>
              <a:rPr sz="750" b="0" i="0">
                <a:solidFill>
                  <a:srgbClr val="64748B"/>
                </a:solidFill>
                <a:latin typeface="Arial"/>
              </a:rPr>
              <a:t>ESP32-C3 module · firmware state machine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514600" y="2743200"/>
            <a:ext cx="2176272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Arial"/>
              </a:rPr>
              <a:t>Identification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334155"/>
                </a:solidFill>
                <a:latin typeface="Arial"/>
              </a:rPr>
              <a:t>validate M1 (range, stability)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782312" y="2743200"/>
            <a:ext cx="2176272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Arial"/>
              </a:rPr>
              <a:t>Adaptation logic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334155"/>
                </a:solidFill>
                <a:latin typeface="Arial"/>
              </a:rPr>
              <a:t>flow · UV-C dose · cartridge advice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050024" y="2743200"/>
            <a:ext cx="2176272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Arial"/>
              </a:rPr>
              <a:t>Verify before dispensing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334155"/>
                </a:solidFill>
                <a:latin typeface="Arial"/>
              </a:rPr>
              <a:t>Δ = M2 − M1 vs target bands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317736" y="2743200"/>
            <a:ext cx="2176272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Arial"/>
              </a:rPr>
              <a:t>Safety supervisor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334155"/>
                </a:solidFill>
                <a:latin typeface="Arial"/>
              </a:rPr>
              <a:t>moisture · dry intake · clog · battery · UV interlock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743200" y="3474720"/>
            <a:ext cx="0" cy="201167"/>
          </a:xfrm>
          <a:prstGeom prst="line">
            <a:avLst/>
          </a:prstGeom>
          <a:ln w="15875">
            <a:solidFill>
              <a:srgbClr val="1E398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533095" y="3675887"/>
            <a:ext cx="44805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Arial"/>
              </a:rPr>
              <a:t>User interface:</a:t>
            </a:r>
            <a:r>
              <a:rPr sz="850" b="0" i="0">
                <a:solidFill>
                  <a:srgbClr val="334155"/>
                </a:solidFill>
                <a:latin typeface="Arial"/>
              </a:rPr>
              <a:t> 0.91-inch OLED · RGB ring · button · BLE phone app (history)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010912" y="3904487"/>
            <a:ext cx="338328" cy="0"/>
          </a:xfrm>
          <a:prstGeom prst="line">
            <a:avLst/>
          </a:prstGeom>
          <a:ln w="15875">
            <a:solidFill>
              <a:srgbClr val="1E398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5349240" y="3675887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059668"/>
                </a:solidFill>
                <a:latin typeface="Arial"/>
              </a:rPr>
              <a:t>NORMAL — DISPENSE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334155"/>
                </a:solidFill>
                <a:latin typeface="Arial"/>
              </a:rPr>
              <a:t>measured change within targets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366760" y="3675887"/>
            <a:ext cx="3291840" cy="457200"/>
          </a:xfrm>
          <a:prstGeom prst="roundRect">
            <a:avLst>
              <a:gd name="adj" fmla="val 12000"/>
            </a:avLst>
          </a:prstGeom>
          <a:solidFill>
            <a:srgbClr val="FFFBEB"/>
          </a:solidFill>
          <a:ln w="9525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B45309"/>
                </a:solidFill>
                <a:latin typeface="Arial"/>
              </a:rPr>
              <a:t>WARNING — STOP &amp; ADVISE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334155"/>
                </a:solidFill>
                <a:latin typeface="Arial"/>
              </a:rPr>
              <a:t>second pass · replace cartridge · laboratory testing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83879" y="3785615"/>
            <a:ext cx="18288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300"/>
              </a:spcAft>
              <a:buNone/>
            </a:pPr>
            <a:r>
              <a:rPr sz="1000" b="1" i="0">
                <a:solidFill>
                  <a:srgbClr val="64748B"/>
                </a:solidFill>
                <a:latin typeface="Arial"/>
              </a:rPr>
              <a:t>/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533095" y="4297680"/>
          <a:ext cx="7086600" cy="12893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11680"/>
                <a:gridCol w="2514600"/>
                <a:gridCol w="2560320"/>
              </a:tblGrid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0F172A"/>
                          </a:solidFill>
                          <a:latin typeface="Arial"/>
                        </a:rPr>
                        <a:t>Condition measured at M1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0F172A"/>
                          </a:solidFill>
                          <a:latin typeface="Arial"/>
                        </a:rPr>
                        <a:t>Proposed adaptation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0F172A"/>
                          </a:solidFill>
                          <a:latin typeface="Arial"/>
                        </a:rPr>
                        <a:t>If the fitted cartridge cannot correct it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Readings invalid or unstable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No treatment; re-sample twice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Sensor fault warning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Turbidity above reference band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Reduced flow (longer contact); UV-C only once M2 turbidity is in band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Stop; suggest settling / second pass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Turbidity within band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Standard flow; UV-C on (if fitted)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TDS &gt; 500 mg/L or pH outside 6.5–8.5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Standard pathway; parameter flagged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Warn: cartridge does not change TDS / pH; recommend testing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M2 shows no improvement vs M1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Stop before dispensing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Replace cartridge; laboratory testing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Rounded Rectangle 51"/>
          <p:cNvSpPr/>
          <p:nvPr/>
        </p:nvSpPr>
        <p:spPr>
          <a:xfrm>
            <a:off x="7772400" y="4297680"/>
            <a:ext cx="3886200" cy="1307592"/>
          </a:xfrm>
          <a:prstGeom prst="roundRect">
            <a:avLst>
              <a:gd name="adj" fmla="val 5594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7848" y="4453128"/>
            <a:ext cx="214615" cy="173736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8183879" y="4416552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Why the closed loop is the innovation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36992" y="4645152"/>
            <a:ext cx="3611880" cy="9418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128016" indent="-128016">
              <a:spcAft>
                <a:spcPts val="3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850" b="0" i="0">
                <a:solidFill>
                  <a:srgbClr val="334155"/>
                </a:solidFill>
                <a:latin typeface="Arial"/>
              </a:rPr>
              <a:t>The same cell measures the water before and after, so the result is never assumed from the cartridge.</a:t>
            </a:r>
          </a:p>
          <a:p>
            <a:pPr algn="l" marL="128016" indent="-128016">
              <a:spcAft>
                <a:spcPts val="3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850" b="0" i="0">
                <a:solidFill>
                  <a:srgbClr val="334155"/>
                </a:solidFill>
                <a:latin typeface="Arial"/>
              </a:rPr>
              <a:t>Water is dispensed only after the post-treatment check passes.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Template back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8698" y="450799"/>
            <a:ext cx="8595360" cy="414223"/>
          </a:xfrm>
        </p:spPr>
        <p:txBody>
          <a:bodyPr/>
          <a:lstStyle/>
          <a:p>
            <a:r>
              <a:t>Target Specifications &amp; Hardware Selection</a:t>
            </a:r>
          </a:p>
        </p:txBody>
      </p:sp>
      <p:pic>
        <p:nvPicPr>
          <p:cNvPr id="4" name="Vishwakarma Awards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81013"/>
            <a:ext cx="1785823" cy="576986"/>
          </a:xfrm>
          <a:prstGeom prst="rect">
            <a:avLst/>
          </a:prstGeom>
        </p:spPr>
      </p:pic>
      <p:pic>
        <p:nvPicPr>
          <p:cNvPr id="5" name="Maker Bhavan Foundation 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329" y="6281013"/>
            <a:ext cx="1096365" cy="57698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458553" y="485546"/>
            <a:ext cx="2200046" cy="213055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47857"/>
                </a:solidFill>
                <a:latin typeface="Arial"/>
              </a:rPr>
              <a:t>HYDRA NEXUS · STAGE 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33095" y="960120"/>
          <a:ext cx="11125502" cy="36758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21319"/>
                <a:gridCol w="3087695"/>
                <a:gridCol w="4214948"/>
                <a:gridCol w="2401540"/>
              </a:tblGrid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0F172A"/>
                          </a:solidFill>
                          <a:latin typeface="Arial"/>
                        </a:rPr>
                        <a:t>Parameter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0F172A"/>
                          </a:solidFill>
                          <a:latin typeface="Arial"/>
                        </a:rPr>
                        <a:t>Proposed target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0F172A"/>
                          </a:solidFill>
                          <a:latin typeface="Arial"/>
                        </a:rPr>
                        <a:t>Selected / proposed component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0F172A"/>
                          </a:solidFill>
                          <a:latin typeface="Arial"/>
                        </a:rPr>
                        <a:t>Validation method / status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Form factor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Pocket-size capsule ≈ Ø 60 × 210 mm incl. spout (v1); later ≤ Ø 50 × 170 mm; ≤ 400 g in use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3D-printed PETG shell (v1); wet core beside a sealed dry spine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Measure &amp; weigh v1 — pending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Controller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Low-power MCU with BLE; deep sleep between cycles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ESP32-C3 module: WROOM-02 in schematic v0.1, MINI-1 for final size (RISC-V, up to 160 MHz, Wi-Fi + BLE)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Bring-up &amp; sleep current — pending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Sensing &amp; accuracy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One ≈ 3 mL cell measured twice; pH ±0.1, TDS ±10% F.S., temp. ±0.5 °C; turbidity relative until calibrated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Mini pH electrode (supplier TBD) + SEN0161-V2 front-end and DFR0504 isolator; SEN0244 EC/TDS; IR scatter turbidity pair; DS18B20; ADS1115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Calibration vs buffers / formazin — pending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Water path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250 mL per cycle; 0.2–0.4 L/min; 15 mL flush before M2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Intake + 40 µm mesh → P1 → V1 → cartridge → UV-C → V2 → spout; samples → cell → reject port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Flow &amp; carry-over tests — pending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Treatment &amp; adaptation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Adapts flow (contact time), UV-C dose, second-pass prompt, cartridge advice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Twist-lock cartridge: activated carbon + hollow-fibre UF (pore rating per supplier); UV-C LED (optional)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Routing &amp; dose tests — pending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Pump &amp; valves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Self-priming; dry-intake stop ≤ 3 s; clog detection from pump current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5–6 V micro diaphragm pump; 2 × micro 3-way solenoid valves; INA219-class current sense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Dry-run &amp; clog tests — pending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Power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≥ 30 cycles per charge; USB-C charging; charge-temperature protection added in rev 0.2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1 × protected 18650 Li-ion (≈ 3 Ah class), MCP73831 charger, AP2112K 3.3 V LDO, MT3608 5 V boost, battery-voltage sense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Endurance test — pending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Enclosure &amp; separation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Dry spine sealed from wet core; IPX7 design target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O-ring bulkhead, potted feed-throughs, sealed USB-C, moisture-sense traces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Immersion test planned; IP not tested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Comparison logic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Median of 30 samples; Δ = M2 − M1 vs target band; verify before dispensing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ESP32-C3 firmware; reference bands from IS 10500:2012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Known-sample verification — pending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Monitoring interface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Result on device ≤ 1 s after M2; history in phone app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0.91-inch OLED, RGB ring, one button; BLE phone app (to be developed)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User walkthrough — pending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Operating conditions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Water 5–40 °C; ambient 5–40 °C; dip or pour from an open container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Bounded by probe ratings and Li-ion cell limits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Temperature check — pending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33095" y="4965192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750" b="1" i="0">
                <a:solidFill>
                  <a:srgbClr val="64748B"/>
                </a:solidFill>
                <a:latin typeface="Arial"/>
              </a:rPr>
              <a:t>PROPOSED CONTROL SEQUENCE (ONE 250 mL CYCLE)</a:t>
            </a:r>
          </a:p>
        </p:txBody>
      </p:sp>
      <p:sp>
        <p:nvSpPr>
          <p:cNvPr id="9" name="Pentagon 8"/>
          <p:cNvSpPr/>
          <p:nvPr/>
        </p:nvSpPr>
        <p:spPr>
          <a:xfrm>
            <a:off x="533095" y="5166360"/>
            <a:ext cx="1436408" cy="411480"/>
          </a:xfrm>
          <a:prstGeom prst="homePlate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F172A"/>
                </a:solidFill>
                <a:latin typeface="Arial"/>
              </a:rPr>
              <a:t>Sample raw</a:t>
            </a:r>
          </a:p>
        </p:txBody>
      </p:sp>
      <p:sp>
        <p:nvSpPr>
          <p:cNvPr id="10" name="Chevron 9"/>
          <p:cNvSpPr/>
          <p:nvPr/>
        </p:nvSpPr>
        <p:spPr>
          <a:xfrm>
            <a:off x="1923783" y="5166360"/>
            <a:ext cx="1436408" cy="411480"/>
          </a:xfrm>
          <a:prstGeom prst="chevron">
            <a:avLst/>
          </a:prstGeom>
          <a:solidFill>
            <a:srgbClr val="0596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Measure M1</a:t>
            </a:r>
          </a:p>
        </p:txBody>
      </p:sp>
      <p:sp>
        <p:nvSpPr>
          <p:cNvPr id="11" name="Chevron 10"/>
          <p:cNvSpPr/>
          <p:nvPr/>
        </p:nvSpPr>
        <p:spPr>
          <a:xfrm>
            <a:off x="3314471" y="5166360"/>
            <a:ext cx="1436408" cy="411480"/>
          </a:xfrm>
          <a:prstGeom prst="chevron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F172A"/>
                </a:solidFill>
                <a:latin typeface="Arial"/>
              </a:rPr>
              <a:t>Validate</a:t>
            </a:r>
          </a:p>
        </p:txBody>
      </p:sp>
      <p:sp>
        <p:nvSpPr>
          <p:cNvPr id="12" name="Chevron 11"/>
          <p:cNvSpPr/>
          <p:nvPr/>
        </p:nvSpPr>
        <p:spPr>
          <a:xfrm>
            <a:off x="4705159" y="5166360"/>
            <a:ext cx="1436408" cy="411480"/>
          </a:xfrm>
          <a:prstGeom prst="chevron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F172A"/>
                </a:solidFill>
                <a:latin typeface="Arial"/>
              </a:rPr>
              <a:t>Adapt flow &amp; UV-C</a:t>
            </a:r>
          </a:p>
        </p:txBody>
      </p:sp>
      <p:sp>
        <p:nvSpPr>
          <p:cNvPr id="13" name="Chevron 12"/>
          <p:cNvSpPr/>
          <p:nvPr/>
        </p:nvSpPr>
        <p:spPr>
          <a:xfrm>
            <a:off x="6095847" y="5166360"/>
            <a:ext cx="1436408" cy="411480"/>
          </a:xfrm>
          <a:prstGeom prst="chevron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F172A"/>
                </a:solidFill>
                <a:latin typeface="Arial"/>
              </a:rPr>
              <a:t>Treat</a:t>
            </a:r>
          </a:p>
        </p:txBody>
      </p:sp>
      <p:sp>
        <p:nvSpPr>
          <p:cNvPr id="14" name="Chevron 13"/>
          <p:cNvSpPr/>
          <p:nvPr/>
        </p:nvSpPr>
        <p:spPr>
          <a:xfrm>
            <a:off x="7486535" y="5166360"/>
            <a:ext cx="1436408" cy="411480"/>
          </a:xfrm>
          <a:prstGeom prst="chevron">
            <a:avLst/>
          </a:prstGeom>
          <a:solidFill>
            <a:srgbClr val="0596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Flush &amp; measure M2</a:t>
            </a:r>
          </a:p>
        </p:txBody>
      </p:sp>
      <p:sp>
        <p:nvSpPr>
          <p:cNvPr id="15" name="Chevron 14"/>
          <p:cNvSpPr/>
          <p:nvPr/>
        </p:nvSpPr>
        <p:spPr>
          <a:xfrm>
            <a:off x="8877223" y="5166360"/>
            <a:ext cx="1436408" cy="411480"/>
          </a:xfrm>
          <a:prstGeom prst="chevron">
            <a:avLst/>
          </a:prstGeom>
          <a:solidFill>
            <a:srgbClr val="0596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Compare</a:t>
            </a:r>
          </a:p>
        </p:txBody>
      </p:sp>
      <p:sp>
        <p:nvSpPr>
          <p:cNvPr id="16" name="Chevron 15"/>
          <p:cNvSpPr/>
          <p:nvPr/>
        </p:nvSpPr>
        <p:spPr>
          <a:xfrm>
            <a:off x="10267911" y="5166360"/>
            <a:ext cx="1436408" cy="411480"/>
          </a:xfrm>
          <a:prstGeom prst="chevron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F172A"/>
                </a:solidFill>
                <a:latin typeface="Arial"/>
              </a:rPr>
              <a:t>Dispense / stop &amp; warn</a:t>
            </a:r>
          </a:p>
        </p:txBody>
      </p:sp>
      <p:pic>
        <p:nvPicPr>
          <p:cNvPr id="17" name="Note ba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095" y="5715000"/>
            <a:ext cx="11125504" cy="363016"/>
          </a:xfrm>
          <a:prstGeom prst="rect">
            <a:avLst/>
          </a:prstGeom>
        </p:spPr>
      </p:pic>
      <p:sp>
        <p:nvSpPr>
          <p:cNvPr id="18" name="Note text"/>
          <p:cNvSpPr txBox="1"/>
          <p:nvPr/>
        </p:nvSpPr>
        <p:spPr>
          <a:xfrm>
            <a:off x="685800" y="5765292"/>
            <a:ext cx="10835640" cy="26517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3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Energy budget (assumed loads):</a:t>
            </a:r>
            <a:r>
              <a:rPr sz="850" b="0" i="0">
                <a:solidFill>
                  <a:srgbClr val="334155"/>
                </a:solidFill>
                <a:latin typeface="Arial"/>
              </a:rPr>
              <a:t> pump 1.5 W + UV-C 1.0 W + electronics 0.4 W for 3 min ≈ 0.15 Wh per cycle; 18650 ≈ 10.8 Wh × 0.8 usable × 0.85 conversion ≈ 7.3 Wh → ≈ 50 cycles (≈ 12 L) per charge.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Template back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8698" y="450799"/>
            <a:ext cx="8595360" cy="414223"/>
          </a:xfrm>
        </p:spPr>
        <p:txBody>
          <a:bodyPr/>
          <a:lstStyle/>
          <a:p>
            <a:r>
              <a:t>CAD Design: Capsule Assembly &amp; Exploded Views</a:t>
            </a:r>
          </a:p>
        </p:txBody>
      </p:sp>
      <p:pic>
        <p:nvPicPr>
          <p:cNvPr id="4" name="Vishwakarma Awards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81013"/>
            <a:ext cx="1785823" cy="576986"/>
          </a:xfrm>
          <a:prstGeom prst="rect">
            <a:avLst/>
          </a:prstGeom>
        </p:spPr>
      </p:pic>
      <p:pic>
        <p:nvPicPr>
          <p:cNvPr id="5" name="Maker Bhavan Foundation 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329" y="6281013"/>
            <a:ext cx="1096365" cy="57698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458553" y="485546"/>
            <a:ext cx="2200046" cy="213055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47857"/>
                </a:solidFill>
                <a:latin typeface="Arial"/>
              </a:rPr>
              <a:t>HYDRA NEXUS · STAGE 2</a:t>
            </a:r>
          </a:p>
        </p:txBody>
      </p:sp>
      <p:pic>
        <p:nvPicPr>
          <p:cNvPr id="7" name="Isometric assembly (conceptual)" descr="cap_assembly_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960120"/>
            <a:ext cx="3229850" cy="434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3095" y="5349240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300"/>
              </a:spcAft>
              <a:buNone/>
            </a:pPr>
            <a:r>
              <a:rPr sz="800" b="0" i="1">
                <a:solidFill>
                  <a:srgbClr val="64748B"/>
                </a:solidFill>
                <a:latin typeface="Arial"/>
              </a:rPr>
              <a:t>Figure: capsule assembly with concept dimensions</a:t>
            </a:r>
          </a:p>
        </p:txBody>
      </p:sp>
      <p:pic>
        <p:nvPicPr>
          <p:cNvPr id="9" name="Exploded view (conceptual)" descr="cap_exploded_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4840" y="960120"/>
            <a:ext cx="2767751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23360" y="534924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300"/>
              </a:spcAft>
              <a:buNone/>
            </a:pPr>
            <a:r>
              <a:rPr sz="800" b="0" i="1">
                <a:solidFill>
                  <a:srgbClr val="64748B"/>
                </a:solidFill>
                <a:latin typeface="Arial"/>
              </a:rPr>
              <a:t>Figure: exploded view — cap, cartridge, cell, pump, spine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960120"/>
            <a:ext cx="3794760" cy="4617720"/>
          </a:xfrm>
          <a:prstGeom prst="roundRect">
            <a:avLst>
              <a:gd name="adj" fmla="val 1927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19288" y="1115568"/>
            <a:ext cx="165463" cy="1737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75319" y="1078992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1100" b="1" i="0">
                <a:solidFill>
                  <a:srgbClr val="0F172A"/>
                </a:solidFill>
                <a:latin typeface="Arial"/>
              </a:rPr>
              <a:t>Component key</a:t>
            </a:r>
          </a:p>
        </p:txBody>
      </p:sp>
      <p:sp>
        <p:nvSpPr>
          <p:cNvPr id="14" name="Oval 13"/>
          <p:cNvSpPr/>
          <p:nvPr/>
        </p:nvSpPr>
        <p:spPr>
          <a:xfrm>
            <a:off x="8028431" y="1335024"/>
            <a:ext cx="201168" cy="201168"/>
          </a:xfrm>
          <a:prstGeom prst="ellipse">
            <a:avLst/>
          </a:prstGeom>
          <a:solidFill>
            <a:srgbClr val="0368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1325880"/>
            <a:ext cx="3246120" cy="2468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850" b="0" i="0">
                <a:solidFill>
                  <a:srgbClr val="334155"/>
                </a:solidFill>
                <a:latin typeface="Arial"/>
              </a:rPr>
              <a:t>Outlet spout in top cap (RGB status ring)</a:t>
            </a:r>
          </a:p>
        </p:txBody>
      </p:sp>
      <p:sp>
        <p:nvSpPr>
          <p:cNvPr id="16" name="Oval 15"/>
          <p:cNvSpPr/>
          <p:nvPr/>
        </p:nvSpPr>
        <p:spPr>
          <a:xfrm>
            <a:off x="8028431" y="1595628"/>
            <a:ext cx="201168" cy="201168"/>
          </a:xfrm>
          <a:prstGeom prst="ellipse">
            <a:avLst/>
          </a:prstGeom>
          <a:solidFill>
            <a:srgbClr val="0368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1586484"/>
            <a:ext cx="3246120" cy="2468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850" b="0" i="0">
                <a:solidFill>
                  <a:srgbClr val="334155"/>
                </a:solidFill>
                <a:latin typeface="Arial"/>
              </a:rPr>
              <a:t>UV-C LED chamber, quartz window — optional</a:t>
            </a:r>
          </a:p>
        </p:txBody>
      </p:sp>
      <p:sp>
        <p:nvSpPr>
          <p:cNvPr id="18" name="Oval 17"/>
          <p:cNvSpPr/>
          <p:nvPr/>
        </p:nvSpPr>
        <p:spPr>
          <a:xfrm>
            <a:off x="8028431" y="1856231"/>
            <a:ext cx="201168" cy="201168"/>
          </a:xfrm>
          <a:prstGeom prst="ellipse">
            <a:avLst/>
          </a:prstGeom>
          <a:solidFill>
            <a:srgbClr val="0368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1847088"/>
            <a:ext cx="3246120" cy="2468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850" b="0" i="0">
                <a:solidFill>
                  <a:srgbClr val="334155"/>
                </a:solidFill>
                <a:latin typeface="Arial"/>
              </a:rPr>
              <a:t>Twist-lock cartridge: carbon + hollow-fibre UF</a:t>
            </a:r>
          </a:p>
        </p:txBody>
      </p:sp>
      <p:sp>
        <p:nvSpPr>
          <p:cNvPr id="20" name="Oval 19"/>
          <p:cNvSpPr/>
          <p:nvPr/>
        </p:nvSpPr>
        <p:spPr>
          <a:xfrm>
            <a:off x="8028431" y="2116836"/>
            <a:ext cx="201168" cy="201168"/>
          </a:xfrm>
          <a:prstGeom prst="ellipse">
            <a:avLst/>
          </a:prstGeom>
          <a:solidFill>
            <a:srgbClr val="0368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2107692"/>
            <a:ext cx="3246120" cy="2468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850" b="0" i="0">
                <a:solidFill>
                  <a:srgbClr val="334155"/>
                </a:solidFill>
                <a:latin typeface="Arial"/>
              </a:rPr>
              <a:t>Shared sensing cell: pH, EC/TDS, turbidity, temp.</a:t>
            </a:r>
          </a:p>
        </p:txBody>
      </p:sp>
      <p:sp>
        <p:nvSpPr>
          <p:cNvPr id="22" name="Oval 21"/>
          <p:cNvSpPr/>
          <p:nvPr/>
        </p:nvSpPr>
        <p:spPr>
          <a:xfrm>
            <a:off x="8028431" y="2377440"/>
            <a:ext cx="201168" cy="201168"/>
          </a:xfrm>
          <a:prstGeom prst="ellipse">
            <a:avLst/>
          </a:prstGeom>
          <a:solidFill>
            <a:srgbClr val="0368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2752" y="2368296"/>
            <a:ext cx="3246120" cy="2468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850" b="0" i="0">
                <a:solidFill>
                  <a:srgbClr val="334155"/>
                </a:solidFill>
                <a:latin typeface="Arial"/>
              </a:rPr>
              <a:t>Micro 3-way valves V1 (sample/treat), V2 (verify)</a:t>
            </a:r>
          </a:p>
        </p:txBody>
      </p:sp>
      <p:sp>
        <p:nvSpPr>
          <p:cNvPr id="24" name="Oval 23"/>
          <p:cNvSpPr/>
          <p:nvPr/>
        </p:nvSpPr>
        <p:spPr>
          <a:xfrm>
            <a:off x="8028431" y="2638044"/>
            <a:ext cx="201168" cy="201168"/>
          </a:xfrm>
          <a:prstGeom prst="ellipse">
            <a:avLst/>
          </a:prstGeom>
          <a:solidFill>
            <a:srgbClr val="0368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752" y="2628900"/>
            <a:ext cx="3246120" cy="2468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850" b="0" i="0">
                <a:solidFill>
                  <a:srgbClr val="334155"/>
                </a:solidFill>
                <a:latin typeface="Arial"/>
              </a:rPr>
              <a:t>Micro diaphragm pump P1</a:t>
            </a:r>
          </a:p>
        </p:txBody>
      </p:sp>
      <p:sp>
        <p:nvSpPr>
          <p:cNvPr id="26" name="Oval 25"/>
          <p:cNvSpPr/>
          <p:nvPr/>
        </p:nvSpPr>
        <p:spPr>
          <a:xfrm>
            <a:off x="8028431" y="2898648"/>
            <a:ext cx="201168" cy="201168"/>
          </a:xfrm>
          <a:prstGeom prst="ellipse">
            <a:avLst/>
          </a:prstGeom>
          <a:solidFill>
            <a:srgbClr val="0368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2752" y="2889504"/>
            <a:ext cx="3246120" cy="2468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850" b="0" i="0">
                <a:solidFill>
                  <a:srgbClr val="334155"/>
                </a:solidFill>
                <a:latin typeface="Arial"/>
              </a:rPr>
              <a:t>Intake hose with weighted 40 µm pre-mesh</a:t>
            </a:r>
          </a:p>
        </p:txBody>
      </p:sp>
      <p:sp>
        <p:nvSpPr>
          <p:cNvPr id="28" name="Oval 27"/>
          <p:cNvSpPr/>
          <p:nvPr/>
        </p:nvSpPr>
        <p:spPr>
          <a:xfrm>
            <a:off x="8028431" y="3159252"/>
            <a:ext cx="201168" cy="201168"/>
          </a:xfrm>
          <a:prstGeom prst="ellipse">
            <a:avLst/>
          </a:prstGeom>
          <a:solidFill>
            <a:srgbClr val="0368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3150108"/>
            <a:ext cx="3246120" cy="2468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850" b="0" i="0">
                <a:solidFill>
                  <a:srgbClr val="334155"/>
                </a:solidFill>
                <a:latin typeface="Arial"/>
              </a:rPr>
              <a:t>Reject port for sample and flush water</a:t>
            </a:r>
          </a:p>
        </p:txBody>
      </p:sp>
      <p:sp>
        <p:nvSpPr>
          <p:cNvPr id="30" name="Oval 29"/>
          <p:cNvSpPr/>
          <p:nvPr/>
        </p:nvSpPr>
        <p:spPr>
          <a:xfrm>
            <a:off x="8028431" y="3419856"/>
            <a:ext cx="201168" cy="201168"/>
          </a:xfrm>
          <a:prstGeom prst="ellipse">
            <a:avLst/>
          </a:prstGeom>
          <a:solidFill>
            <a:srgbClr val="0368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02752" y="3410712"/>
            <a:ext cx="3246120" cy="2468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850" b="0" i="0">
                <a:solidFill>
                  <a:srgbClr val="334155"/>
                </a:solidFill>
                <a:latin typeface="Arial"/>
              </a:rPr>
              <a:t>Dry spine: protected 18650 Li-ion cell</a:t>
            </a:r>
          </a:p>
        </p:txBody>
      </p:sp>
      <p:sp>
        <p:nvSpPr>
          <p:cNvPr id="32" name="Oval 31"/>
          <p:cNvSpPr/>
          <p:nvPr/>
        </p:nvSpPr>
        <p:spPr>
          <a:xfrm>
            <a:off x="8028431" y="3680460"/>
            <a:ext cx="201168" cy="201168"/>
          </a:xfrm>
          <a:prstGeom prst="ellipse">
            <a:avLst/>
          </a:prstGeom>
          <a:solidFill>
            <a:srgbClr val="0368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2752" y="3671316"/>
            <a:ext cx="3246120" cy="2468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850" b="0" i="0">
                <a:solidFill>
                  <a:srgbClr val="334155"/>
                </a:solidFill>
                <a:latin typeface="Arial"/>
              </a:rPr>
              <a:t>Dry spine: controller PCB (ESP32-C3, ADC, drivers)</a:t>
            </a:r>
          </a:p>
        </p:txBody>
      </p:sp>
      <p:sp>
        <p:nvSpPr>
          <p:cNvPr id="34" name="Oval 33"/>
          <p:cNvSpPr/>
          <p:nvPr/>
        </p:nvSpPr>
        <p:spPr>
          <a:xfrm>
            <a:off x="8028431" y="3941064"/>
            <a:ext cx="201168" cy="201168"/>
          </a:xfrm>
          <a:prstGeom prst="ellipse">
            <a:avLst/>
          </a:prstGeom>
          <a:solidFill>
            <a:srgbClr val="0368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752" y="3931920"/>
            <a:ext cx="3246120" cy="2468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850" b="0" i="0">
                <a:solidFill>
                  <a:srgbClr val="334155"/>
                </a:solidFill>
                <a:latin typeface="Arial"/>
              </a:rPr>
              <a:t>0.91-inch OLED and button on the shell</a:t>
            </a:r>
          </a:p>
        </p:txBody>
      </p:sp>
      <p:sp>
        <p:nvSpPr>
          <p:cNvPr id="36" name="Oval 35"/>
          <p:cNvSpPr/>
          <p:nvPr/>
        </p:nvSpPr>
        <p:spPr>
          <a:xfrm>
            <a:off x="8028431" y="4201668"/>
            <a:ext cx="201168" cy="201168"/>
          </a:xfrm>
          <a:prstGeom prst="ellipse">
            <a:avLst/>
          </a:prstGeom>
          <a:solidFill>
            <a:srgbClr val="0368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02752" y="4192524"/>
            <a:ext cx="3246120" cy="2468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850" b="0" i="0">
                <a:solidFill>
                  <a:srgbClr val="334155"/>
                </a:solidFill>
                <a:latin typeface="Arial"/>
              </a:rPr>
              <a:t>Sealed USB-C charging / data port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28431" y="452628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Flow path:</a:t>
            </a:r>
            <a:r>
              <a:rPr sz="850" b="0" i="0">
                <a:solidFill>
                  <a:srgbClr val="334155"/>
                </a:solidFill>
                <a:latin typeface="Arial"/>
              </a:rPr>
              <a:t> 7 → 6 → 5 (V1) → 3 → 2 → 5 (V2) → 1; samples via V1 / V2 → 4 → 8.</a:t>
            </a:r>
          </a:p>
          <a:p>
            <a:pPr algn="l">
              <a:spcAft>
                <a:spcPts val="3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Service:</a:t>
            </a:r>
            <a:r>
              <a:rPr sz="850" b="0" i="0">
                <a:solidFill>
                  <a:srgbClr val="334155"/>
                </a:solidFill>
                <a:latin typeface="Arial"/>
              </a:rPr>
              <a:t> top cap unscrews; cartridge twists out (¼ turn); probes replaceable from the cell.</a:t>
            </a:r>
          </a:p>
          <a:p>
            <a:pPr algn="l">
              <a:spcAft>
                <a:spcPts val="3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Concept envelope:</a:t>
            </a:r>
            <a:r>
              <a:rPr sz="850" b="0" i="0">
                <a:solidFill>
                  <a:srgbClr val="334155"/>
                </a:solidFill>
                <a:latin typeface="Arial"/>
              </a:rPr>
              <a:t> ≈ Ø 60 × 210 mm (v1); target ≤ Ø 50 × 170 mm.</a:t>
            </a:r>
          </a:p>
        </p:txBody>
      </p:sp>
      <p:pic>
        <p:nvPicPr>
          <p:cNvPr id="39" name="Note ba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095" y="5715000"/>
            <a:ext cx="11125504" cy="363016"/>
          </a:xfrm>
          <a:prstGeom prst="rect">
            <a:avLst/>
          </a:prstGeom>
        </p:spPr>
      </p:pic>
      <p:sp>
        <p:nvSpPr>
          <p:cNvPr id="40" name="Note text"/>
          <p:cNvSpPr txBox="1"/>
          <p:nvPr/>
        </p:nvSpPr>
        <p:spPr>
          <a:xfrm>
            <a:off x="685800" y="5765292"/>
            <a:ext cx="10835640" cy="26517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3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Evidence status:</a:t>
            </a:r>
            <a:r>
              <a:rPr sz="850" b="0" i="0">
                <a:solidFill>
                  <a:srgbClr val="334155"/>
                </a:solidFill>
                <a:latin typeface="Arial"/>
              </a:rPr>
              <a:t> these are conceptual renders. The native parametric FreeCAD model (.FCStd + .STEP) is in the project repository — screenshot on slide 13.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Template back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8698" y="450799"/>
            <a:ext cx="8595360" cy="414223"/>
          </a:xfrm>
        </p:spPr>
        <p:txBody>
          <a:bodyPr/>
          <a:lstStyle/>
          <a:p>
            <a:r>
              <a:t>Mechanical Specs: Materials &amp; Validation Plan</a:t>
            </a:r>
          </a:p>
        </p:txBody>
      </p:sp>
      <p:pic>
        <p:nvPicPr>
          <p:cNvPr id="4" name="Vishwakarma Awards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81013"/>
            <a:ext cx="1785823" cy="576986"/>
          </a:xfrm>
          <a:prstGeom prst="rect">
            <a:avLst/>
          </a:prstGeom>
        </p:spPr>
      </p:pic>
      <p:pic>
        <p:nvPicPr>
          <p:cNvPr id="5" name="Maker Bhavan Foundation 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329" y="6281013"/>
            <a:ext cx="1096365" cy="57698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458553" y="485546"/>
            <a:ext cx="2200046" cy="213055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47857"/>
                </a:solidFill>
                <a:latin typeface="Arial"/>
              </a:rPr>
              <a:t>HYDRA NEXUS · STAGE 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33095" y="960120"/>
          <a:ext cx="6263640" cy="35844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88720"/>
                <a:gridCol w="2057400"/>
                <a:gridCol w="2057400"/>
                <a:gridCol w="96012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0F172A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0F172A"/>
                          </a:solidFill>
                          <a:latin typeface="Arial"/>
                        </a:rPr>
                        <a:t>Proposed material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0F172A"/>
                          </a:solidFill>
                          <a:latin typeface="Arial"/>
                        </a:rPr>
                        <a:t>Selection rationale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0F172A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93B"/>
                          </a:solidFill>
                          <a:latin typeface="Arial"/>
                        </a:rPr>
                        <a:t>Shell &amp; top cap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PETG (3D-printed) for v1; PP or copolyester, injection-moulded, later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Tough and light; printable now, mouldable at scale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Food-contact grade to confirm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93B"/>
                          </a:solidFill>
                          <a:latin typeface="Arial"/>
                        </a:rPr>
                        <a:t>Wet path &amp; tubing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PP fittings; platinum-cured silicone tubing, 3 mm ID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Flexible routing in a small volume; water-compatible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Grade certificate required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93B"/>
                          </a:solidFill>
                          <a:latin typeface="Arial"/>
                        </a:rPr>
                        <a:t>Sensing cell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PMMA body, IR-transparent window; titanium or 316 SS EC pins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Optical clarity for turbidity; corrosion-resistant electrodes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Proposed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93B"/>
                          </a:solidFill>
                          <a:latin typeface="Arial"/>
                        </a:rPr>
                        <a:t>UV-C chamber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Quartz window with PTFE reflector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UV-C degrades most plastics; quartz transmits UV-C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Supplier data required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93B"/>
                          </a:solidFill>
                          <a:latin typeface="Arial"/>
                        </a:rPr>
                        <a:t>Cartridge &amp; seals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PP housing with bayonet lugs; EPDM or silicone O-rings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Quarter-turn replacement; resilient sealing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Compatibility to confirm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93B"/>
                          </a:solidFill>
                          <a:latin typeface="Arial"/>
                        </a:rPr>
                        <a:t>Dry spine &amp; grip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Flame-retardant PC/ABS spine; silicone grip sleeve; 316 SS screws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Protects the battery bay; secure grip when wet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334155"/>
                          </a:solidFill>
                          <a:latin typeface="Arial"/>
                        </a:rPr>
                        <a:t>Proposed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33095" y="4681728"/>
            <a:ext cx="626364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850" b="0" i="1">
                <a:solidFill>
                  <a:srgbClr val="64748B"/>
                </a:solidFill>
                <a:latin typeface="Arial"/>
              </a:rPr>
              <a:t>Criteria weighed: water compatibility, corrosion resistance, manufacturability, leak prevention, maintenance, weight and cost. Final selections need supplier data sheets confirming drinking-water contact suitability over 5–40 °C.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67728" y="960120"/>
            <a:ext cx="4690872" cy="4617720"/>
          </a:xfrm>
          <a:prstGeom prst="roundRect">
            <a:avLst>
              <a:gd name="adj" fmla="val 1584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3176" y="1115568"/>
            <a:ext cx="179165" cy="1737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79208" y="1078992"/>
            <a:ext cx="4142231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1100" b="1" i="0">
                <a:solidFill>
                  <a:srgbClr val="0F172A"/>
                </a:solidFill>
                <a:latin typeface="Arial"/>
              </a:rPr>
              <a:t>Preliminary calculations &amp; validation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1325880"/>
            <a:ext cx="4389120" cy="4206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1. Mass: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shell 120 g + wet cartridge 90 g + 18650 cell 47 g + pump 40 g + valves 30 g + PCB / OLED 25 g + UV-C 15 g + cell &amp; sensors 30 g ≈ 400 g (assumed; weigh v1).</a:t>
            </a:r>
          </a:p>
          <a:p>
            <a:pPr algn="l">
              <a:spcAft>
                <a:spcPts val="4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2. Internal flow loss: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Q = 0.3 L/min, ID 3 mm → v ≈ 0.71 m/s, Re ≈ 2,100 (laminar), f = 64/Re ≈ 0.030 → ≈ 0.025 bar/m; ≈ 0.3 m of path ≈ 0.008 bar. Membrane ΔP dominates → tracked through pump current.</a:t>
            </a:r>
          </a:p>
          <a:p>
            <a:pPr algn="l">
              <a:spcAft>
                <a:spcPts val="4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3. Pressure &amp; leakage: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hydrostatic test at 1.5× pump shut-off pressure for 10 min; zero moisture in the dry spine (proposed).</a:t>
            </a:r>
          </a:p>
          <a:p>
            <a:pPr algn="l">
              <a:spcAft>
                <a:spcPts val="4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4. Ingress &amp; drop: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IPX7-style 1 m / 30 min immersion (planned, not tested); 1 m drop on six faces with a full cartridge (proposed).</a:t>
            </a:r>
          </a:p>
          <a:p>
            <a:pPr algn="l">
              <a:spcAft>
                <a:spcPts val="4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5. Bayonet &amp; joints: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removal torque ≤ 1 N·m; 500 twist cycles; pull test on every tubing joint.</a:t>
            </a:r>
          </a:p>
          <a:p>
            <a:pPr algn="l">
              <a:spcAft>
                <a:spcPts val="3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6. FEA — not yet performed: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shell under drop impact and bayonet lugs; acceptance FoS ≥ 2 on yield (proposed).</a:t>
            </a:r>
          </a:p>
        </p:txBody>
      </p:sp>
      <p:pic>
        <p:nvPicPr>
          <p:cNvPr id="13" name="Note ba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095" y="5715000"/>
            <a:ext cx="11125504" cy="363016"/>
          </a:xfrm>
          <a:prstGeom prst="rect">
            <a:avLst/>
          </a:prstGeom>
        </p:spPr>
      </p:pic>
      <p:sp>
        <p:nvSpPr>
          <p:cNvPr id="14" name="Note text"/>
          <p:cNvSpPr txBox="1"/>
          <p:nvPr/>
        </p:nvSpPr>
        <p:spPr>
          <a:xfrm>
            <a:off x="685800" y="5765292"/>
            <a:ext cx="10835640" cy="26517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3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Integrity note:</a:t>
            </a:r>
            <a:r>
              <a:rPr sz="850" b="0" i="0">
                <a:solidFill>
                  <a:srgbClr val="334155"/>
                </a:solidFill>
                <a:latin typeface="Arial"/>
              </a:rPr>
              <a:t> no FEA, stress plots or safety factors are claimed. Values above are transparent hand calculations with stated assumptions, to be replaced by measured data.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Template back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8698" y="450799"/>
            <a:ext cx="8595360" cy="414223"/>
          </a:xfrm>
        </p:spPr>
        <p:txBody>
          <a:bodyPr/>
          <a:lstStyle/>
          <a:p>
            <a:r>
              <a:t>Electronics Architecture &amp; Pin Allocation</a:t>
            </a:r>
          </a:p>
        </p:txBody>
      </p:sp>
      <p:pic>
        <p:nvPicPr>
          <p:cNvPr id="4" name="Vishwakarma Awards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81013"/>
            <a:ext cx="1785823" cy="576986"/>
          </a:xfrm>
          <a:prstGeom prst="rect">
            <a:avLst/>
          </a:prstGeom>
        </p:spPr>
      </p:pic>
      <p:pic>
        <p:nvPicPr>
          <p:cNvPr id="5" name="Maker Bhavan Foundation 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329" y="6281013"/>
            <a:ext cx="1096365" cy="57698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458553" y="485546"/>
            <a:ext cx="2200046" cy="213055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47857"/>
                </a:solidFill>
                <a:latin typeface="Arial"/>
              </a:rPr>
              <a:t>HYDRA NEXUS · STAGE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095" y="960120"/>
            <a:ext cx="2103120" cy="502920"/>
          </a:xfrm>
          <a:prstGeom prst="roundRect">
            <a:avLst>
              <a:gd name="adj" fmla="val 10909"/>
            </a:avLst>
          </a:prstGeom>
          <a:solidFill>
            <a:srgbClr val="FEF2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Arial"/>
              </a:rPr>
              <a:t>USB-C 5 V input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334155"/>
                </a:solidFill>
                <a:latin typeface="Arial"/>
              </a:rPr>
              <a:t>charging + programming + log export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81912" y="1463040"/>
            <a:ext cx="0" cy="182880"/>
          </a:xfrm>
          <a:prstGeom prst="line">
            <a:avLst/>
          </a:prstGeom>
          <a:ln w="19050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33095" y="1645920"/>
            <a:ext cx="2103120" cy="502920"/>
          </a:xfrm>
          <a:prstGeom prst="roundRect">
            <a:avLst>
              <a:gd name="adj" fmla="val 10909"/>
            </a:avLst>
          </a:prstGeom>
          <a:solidFill>
            <a:srgbClr val="FEF2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Arial"/>
              </a:rPr>
              <a:t>MCP73831 charger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334155"/>
                </a:solidFill>
                <a:latin typeface="Arial"/>
              </a:rPr>
              <a:t>500 mA (PROG = 2 kΩ)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581912" y="2148840"/>
            <a:ext cx="0" cy="182880"/>
          </a:xfrm>
          <a:prstGeom prst="line">
            <a:avLst/>
          </a:prstGeom>
          <a:ln w="19050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3095" y="2331720"/>
            <a:ext cx="2103120" cy="502920"/>
          </a:xfrm>
          <a:prstGeom prst="roundRect">
            <a:avLst>
              <a:gd name="adj" fmla="val 10909"/>
            </a:avLst>
          </a:prstGeom>
          <a:solidFill>
            <a:srgbClr val="FEF2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Arial"/>
              </a:rPr>
              <a:t>Protected 18650 cell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334155"/>
                </a:solidFill>
                <a:latin typeface="Arial"/>
              </a:rPr>
              <a:t>PCM · polyfuse · voltage sense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033271" y="2834640"/>
            <a:ext cx="0" cy="182880"/>
          </a:xfrm>
          <a:prstGeom prst="line">
            <a:avLst/>
          </a:prstGeom>
          <a:ln w="19050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130552" y="2834640"/>
            <a:ext cx="0" cy="182880"/>
          </a:xfrm>
          <a:prstGeom prst="line">
            <a:avLst/>
          </a:prstGeom>
          <a:ln w="19050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33095" y="3017520"/>
            <a:ext cx="100584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F172A"/>
                </a:solidFill>
                <a:latin typeface="Arial"/>
              </a:rPr>
              <a:t>AP2112K 3.3 V</a:t>
            </a:r>
          </a:p>
          <a:p>
            <a:pPr algn="ctr">
              <a:spcAft>
                <a:spcPts val="0"/>
              </a:spcAft>
            </a:pPr>
            <a:r>
              <a:rPr sz="700" b="0" i="0">
                <a:solidFill>
                  <a:srgbClr val="334155"/>
                </a:solidFill>
                <a:latin typeface="Arial"/>
              </a:rPr>
              <a:t>ESP32-C3, ADC, OLED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27632" y="3017520"/>
            <a:ext cx="100584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F172A"/>
                </a:solidFill>
                <a:latin typeface="Arial"/>
              </a:rPr>
              <a:t>MT3608 5 V</a:t>
            </a:r>
          </a:p>
          <a:p>
            <a:pPr algn="ctr">
              <a:spcAft>
                <a:spcPts val="0"/>
              </a:spcAft>
            </a:pPr>
            <a:r>
              <a:rPr sz="700" b="0" i="0">
                <a:solidFill>
                  <a:srgbClr val="334155"/>
                </a:solidFill>
                <a:latin typeface="Arial"/>
              </a:rPr>
              <a:t>pump, valves, UV-C, isolator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633472" y="3355848"/>
            <a:ext cx="338328" cy="0"/>
          </a:xfrm>
          <a:prstGeom prst="line">
            <a:avLst/>
          </a:prstGeom>
          <a:ln w="19050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130552" y="3703320"/>
            <a:ext cx="0" cy="822960"/>
          </a:xfrm>
          <a:prstGeom prst="line">
            <a:avLst/>
          </a:prstGeom>
          <a:ln w="19050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379476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750" b="0" i="1">
                <a:solidFill>
                  <a:srgbClr val="64748B"/>
                </a:solidFill>
                <a:latin typeface="Arial"/>
              </a:rPr>
              <a:t>Wake: button press; deep sleep between cycles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71800" y="960120"/>
            <a:ext cx="2057400" cy="3337560"/>
          </a:xfrm>
          <a:prstGeom prst="roundRect">
            <a:avLst>
              <a:gd name="adj" fmla="val 3555"/>
            </a:avLst>
          </a:prstGeom>
          <a:solidFill>
            <a:srgbClr val="EEF2FF"/>
          </a:solidFill>
          <a:ln w="9525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063240" y="1024128"/>
            <a:ext cx="1874519" cy="3200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00"/>
              </a:spcAft>
              <a:buNone/>
            </a:pPr>
            <a:r>
              <a:rPr sz="900" b="0" i="0">
                <a:solidFill>
                  <a:srgbClr val="1E398A"/>
                </a:solidFill>
                <a:latin typeface="Arial Black"/>
              </a:rPr>
              <a:t>ESP32-C3 module</a:t>
            </a:r>
          </a:p>
          <a:p>
            <a:pPr algn="l">
              <a:spcAft>
                <a:spcPts val="500"/>
              </a:spcAft>
              <a:buNone/>
            </a:pPr>
            <a:r>
              <a:rPr sz="750" b="0" i="0">
                <a:solidFill>
                  <a:srgbClr val="64748B"/>
                </a:solidFill>
                <a:latin typeface="Arial"/>
              </a:rPr>
              <a:t>RISC-V · Wi-Fi + Bluetooth LE</a:t>
            </a:r>
          </a:p>
          <a:p>
            <a:pPr algn="l">
              <a:spcAft>
                <a:spcPts val="150"/>
              </a:spcAft>
              <a:buNone/>
            </a:pPr>
            <a:r>
              <a:rPr sz="800" b="1" i="0">
                <a:solidFill>
                  <a:srgbClr val="0F172A"/>
                </a:solidFill>
                <a:latin typeface="Arial"/>
              </a:rPr>
              <a:t>I²C</a:t>
            </a:r>
            <a:r>
              <a:rPr sz="800" b="0" i="0">
                <a:solidFill>
                  <a:srgbClr val="334155"/>
                </a:solidFill>
                <a:latin typeface="Arial"/>
              </a:rPr>
              <a:t> GPIO6 / 7</a:t>
            </a:r>
          </a:p>
          <a:p>
            <a:pPr algn="l">
              <a:spcAft>
                <a:spcPts val="150"/>
              </a:spcAft>
              <a:buNone/>
            </a:pPr>
            <a:r>
              <a:rPr sz="800" b="1" i="0">
                <a:solidFill>
                  <a:srgbClr val="0F172A"/>
                </a:solidFill>
                <a:latin typeface="Arial"/>
              </a:rPr>
              <a:t>1-Wire</a:t>
            </a:r>
            <a:r>
              <a:rPr sz="800" b="0" i="0">
                <a:solidFill>
                  <a:srgbClr val="334155"/>
                </a:solidFill>
                <a:latin typeface="Arial"/>
              </a:rPr>
              <a:t> GPIO21</a:t>
            </a:r>
          </a:p>
          <a:p>
            <a:pPr algn="l">
              <a:spcAft>
                <a:spcPts val="150"/>
              </a:spcAft>
              <a:buNone/>
            </a:pPr>
            <a:r>
              <a:rPr sz="800" b="1" i="0">
                <a:solidFill>
                  <a:srgbClr val="0F172A"/>
                </a:solidFill>
                <a:latin typeface="Arial"/>
              </a:rPr>
              <a:t>Pump PWM</a:t>
            </a:r>
            <a:r>
              <a:rPr sz="800" b="0" i="0">
                <a:solidFill>
                  <a:srgbClr val="334155"/>
                </a:solidFill>
                <a:latin typeface="Arial"/>
              </a:rPr>
              <a:t> GPIO10</a:t>
            </a:r>
          </a:p>
          <a:p>
            <a:pPr algn="l">
              <a:spcAft>
                <a:spcPts val="150"/>
              </a:spcAft>
              <a:buNone/>
            </a:pPr>
            <a:r>
              <a:rPr sz="800" b="1" i="0">
                <a:solidFill>
                  <a:srgbClr val="0F172A"/>
                </a:solidFill>
                <a:latin typeface="Arial"/>
              </a:rPr>
              <a:t>V1 / V2</a:t>
            </a:r>
            <a:r>
              <a:rPr sz="800" b="0" i="0">
                <a:solidFill>
                  <a:srgbClr val="334155"/>
                </a:solidFill>
                <a:latin typeface="Arial"/>
              </a:rPr>
              <a:t> GPIO4 / 5</a:t>
            </a:r>
          </a:p>
          <a:p>
            <a:pPr algn="l">
              <a:spcAft>
                <a:spcPts val="150"/>
              </a:spcAft>
              <a:buNone/>
            </a:pPr>
            <a:r>
              <a:rPr sz="800" b="1" i="0">
                <a:solidFill>
                  <a:srgbClr val="0F172A"/>
                </a:solidFill>
                <a:latin typeface="Arial"/>
              </a:rPr>
              <a:t>UV-C enable</a:t>
            </a:r>
            <a:r>
              <a:rPr sz="800" b="0" i="0">
                <a:solidFill>
                  <a:srgbClr val="334155"/>
                </a:solidFill>
                <a:latin typeface="Arial"/>
              </a:rPr>
              <a:t> GPIO1</a:t>
            </a:r>
          </a:p>
          <a:p>
            <a:pPr algn="l">
              <a:spcAft>
                <a:spcPts val="150"/>
              </a:spcAft>
              <a:buNone/>
            </a:pPr>
            <a:r>
              <a:rPr sz="800" b="1" i="0">
                <a:solidFill>
                  <a:srgbClr val="0F172A"/>
                </a:solidFill>
                <a:latin typeface="Arial"/>
              </a:rPr>
              <a:t>IR LED pulse</a:t>
            </a:r>
            <a:r>
              <a:rPr sz="800" b="0" i="0">
                <a:solidFill>
                  <a:srgbClr val="334155"/>
                </a:solidFill>
                <a:latin typeface="Arial"/>
              </a:rPr>
              <a:t> GPIO0</a:t>
            </a:r>
          </a:p>
          <a:p>
            <a:pPr algn="l">
              <a:spcAft>
                <a:spcPts val="150"/>
              </a:spcAft>
              <a:buNone/>
            </a:pPr>
            <a:r>
              <a:rPr sz="800" b="1" i="0">
                <a:solidFill>
                  <a:srgbClr val="0F172A"/>
                </a:solidFill>
                <a:latin typeface="Arial"/>
              </a:rPr>
              <a:t>EC power</a:t>
            </a:r>
            <a:r>
              <a:rPr sz="800" b="0" i="0">
                <a:solidFill>
                  <a:srgbClr val="334155"/>
                </a:solidFill>
                <a:latin typeface="Arial"/>
              </a:rPr>
              <a:t> GPIO3</a:t>
            </a:r>
          </a:p>
          <a:p>
            <a:pPr algn="l">
              <a:spcAft>
                <a:spcPts val="150"/>
              </a:spcAft>
              <a:buNone/>
            </a:pPr>
            <a:r>
              <a:rPr sz="800" b="1" i="0">
                <a:solidFill>
                  <a:srgbClr val="0F172A"/>
                </a:solidFill>
                <a:latin typeface="Arial"/>
              </a:rPr>
              <a:t>Button / RGB</a:t>
            </a:r>
            <a:r>
              <a:rPr sz="800" b="0" i="0">
                <a:solidFill>
                  <a:srgbClr val="334155"/>
                </a:solidFill>
                <a:latin typeface="Arial"/>
              </a:rPr>
              <a:t> GPIO9 / 20</a:t>
            </a:r>
          </a:p>
          <a:p>
            <a:pPr algn="l">
              <a:spcAft>
                <a:spcPts val="150"/>
              </a:spcAft>
              <a:buNone/>
            </a:pPr>
            <a:r>
              <a:rPr sz="800" b="1" i="0">
                <a:solidFill>
                  <a:srgbClr val="0F172A"/>
                </a:solidFill>
                <a:latin typeface="Arial"/>
              </a:rPr>
              <a:t>Moisture</a:t>
            </a:r>
            <a:r>
              <a:rPr sz="800" b="0" i="0">
                <a:solidFill>
                  <a:srgbClr val="334155"/>
                </a:solidFill>
                <a:latin typeface="Arial"/>
              </a:rPr>
              <a:t> GPIO2</a:t>
            </a:r>
          </a:p>
          <a:p>
            <a:pPr algn="l">
              <a:spcAft>
                <a:spcPts val="150"/>
              </a:spcAft>
              <a:buNone/>
            </a:pPr>
            <a:r>
              <a:rPr sz="800" b="1" i="0">
                <a:solidFill>
                  <a:srgbClr val="0F172A"/>
                </a:solidFill>
                <a:latin typeface="Arial"/>
              </a:rPr>
              <a:t>USB D−/D+</a:t>
            </a:r>
            <a:r>
              <a:rPr sz="800" b="0" i="0">
                <a:solidFill>
                  <a:srgbClr val="334155"/>
                </a:solidFill>
                <a:latin typeface="Arial"/>
              </a:rPr>
              <a:t> GPIO18 / 19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49240" y="960120"/>
            <a:ext cx="2286000" cy="566928"/>
          </a:xfrm>
          <a:prstGeom prst="roundRect">
            <a:avLst>
              <a:gd name="adj" fmla="val 9677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F172A"/>
                </a:solidFill>
                <a:latin typeface="Arial"/>
              </a:rPr>
              <a:t>ADS1115 (0x48)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334155"/>
                </a:solidFill>
                <a:latin typeface="Arial"/>
              </a:rPr>
              <a:t>pH via DFR0504 · EC/TDS · turbidity TIA (MCP6001) · battery voltage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5029200" y="1243584"/>
            <a:ext cx="320040" cy="0"/>
          </a:xfrm>
          <a:prstGeom prst="line">
            <a:avLst/>
          </a:prstGeom>
          <a:ln w="15875">
            <a:solidFill>
              <a:srgbClr val="1E398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349240" y="1627632"/>
            <a:ext cx="2286000" cy="475488"/>
          </a:xfrm>
          <a:prstGeom prst="roundRect">
            <a:avLst>
              <a:gd name="adj" fmla="val 11538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F172A"/>
                </a:solidFill>
                <a:latin typeface="Arial"/>
              </a:rPr>
              <a:t>DS18B20 (1-Wire)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334155"/>
                </a:solidFill>
                <a:latin typeface="Arial"/>
              </a:rPr>
              <a:t>in the sensing cell; temperature compensation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5029200" y="1865376"/>
            <a:ext cx="320040" cy="0"/>
          </a:xfrm>
          <a:prstGeom prst="line">
            <a:avLst/>
          </a:prstGeom>
          <a:ln w="15875">
            <a:solidFill>
              <a:srgbClr val="1E398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349240" y="2203704"/>
            <a:ext cx="2286000" cy="566928"/>
          </a:xfrm>
          <a:prstGeom prst="roundRect">
            <a:avLst>
              <a:gd name="adj" fmla="val 9677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F172A"/>
                </a:solidFill>
                <a:latin typeface="Arial"/>
              </a:rPr>
              <a:t>INA219 (0x40)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334155"/>
                </a:solidFill>
                <a:latin typeface="Arial"/>
              </a:rPr>
              <a:t>actuator-rail current: clog and dry-intake detection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5029200" y="2487168"/>
            <a:ext cx="320040" cy="0"/>
          </a:xfrm>
          <a:prstGeom prst="line">
            <a:avLst/>
          </a:prstGeom>
          <a:ln w="15875">
            <a:solidFill>
              <a:srgbClr val="1E398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349240" y="2871216"/>
            <a:ext cx="2286000" cy="475488"/>
          </a:xfrm>
          <a:prstGeom prst="roundRect">
            <a:avLst>
              <a:gd name="adj" fmla="val 11538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F172A"/>
                </a:solidFill>
                <a:latin typeface="Arial"/>
              </a:rPr>
              <a:t>0.91-inch OLED (0x3C)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334155"/>
                </a:solidFill>
                <a:latin typeface="Arial"/>
              </a:rPr>
              <a:t>local result display on I²C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5029200" y="3108960"/>
            <a:ext cx="320040" cy="0"/>
          </a:xfrm>
          <a:prstGeom prst="line">
            <a:avLst/>
          </a:prstGeom>
          <a:ln w="15875">
            <a:solidFill>
              <a:srgbClr val="1E398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349240" y="3447288"/>
            <a:ext cx="2286000" cy="566928"/>
          </a:xfrm>
          <a:prstGeom prst="roundRect">
            <a:avLst>
              <a:gd name="adj" fmla="val 9677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F172A"/>
                </a:solidFill>
                <a:latin typeface="Arial"/>
              </a:rPr>
              <a:t>Digital inputs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334155"/>
                </a:solidFill>
                <a:latin typeface="Arial"/>
              </a:rPr>
              <a:t>button · moisture traces in spine · cartridge-locked switch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5029200" y="3730752"/>
            <a:ext cx="320040" cy="0"/>
          </a:xfrm>
          <a:prstGeom prst="line">
            <a:avLst/>
          </a:prstGeom>
          <a:ln w="15875">
            <a:solidFill>
              <a:srgbClr val="1E398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33095" y="4526280"/>
            <a:ext cx="3657600" cy="658368"/>
          </a:xfrm>
          <a:prstGeom prst="roundRect">
            <a:avLst>
              <a:gd name="adj" fmla="val 8333"/>
            </a:avLst>
          </a:prstGeom>
          <a:solidFill>
            <a:srgbClr val="FFF7ED"/>
          </a:solidFill>
          <a:ln w="9525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Arial"/>
              </a:rPr>
              <a:t>5-ch low-side MOSFET driver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334155"/>
                </a:solidFill>
                <a:latin typeface="Arial"/>
              </a:rPr>
              <a:t>logic-level N-MOSFETs for 3.3 V gate drive · flyback diodes on pump and valves · UV-C constant-current driver enable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000500" y="4297680"/>
            <a:ext cx="0" cy="228600"/>
          </a:xfrm>
          <a:prstGeom prst="line">
            <a:avLst/>
          </a:prstGeom>
          <a:ln w="15875">
            <a:solidFill>
              <a:srgbClr val="C2410C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187952" y="4855464"/>
            <a:ext cx="338328" cy="0"/>
          </a:xfrm>
          <a:prstGeom prst="line">
            <a:avLst/>
          </a:prstGeom>
          <a:ln w="15875">
            <a:solidFill>
              <a:srgbClr val="C241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526280" y="4526280"/>
            <a:ext cx="3108960" cy="658368"/>
          </a:xfrm>
          <a:prstGeom prst="roundRect">
            <a:avLst>
              <a:gd name="adj" fmla="val 8333"/>
            </a:avLst>
          </a:prstGeom>
          <a:solidFill>
            <a:srgbClr val="FFF7ED"/>
          </a:solidFill>
          <a:ln w="9525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Arial"/>
              </a:rPr>
              <a:t>Loads (5 V rail)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334155"/>
                </a:solidFill>
                <a:latin typeface="Arial"/>
              </a:rPr>
              <a:t>pump P1 · valves V1, V2 · UV-C LED (optional, interlocked) · IR LED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3095" y="525780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800" b="0" i="1">
                <a:solidFill>
                  <a:srgbClr val="64748B"/>
                </a:solidFill>
                <a:latin typeface="Arial"/>
              </a:rPr>
              <a:t>Logical block diagram. The full KiCad schematic (75 parts, ERC: 0 errors, 0 warnings) is in the project repository — see slide 13.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7818120" y="960120"/>
          <a:ext cx="3840480" cy="30175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22960"/>
                <a:gridCol w="1371600"/>
                <a:gridCol w="164592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0F172A"/>
                          </a:solidFill>
                          <a:latin typeface="Arial"/>
                        </a:rPr>
                        <a:t>GPIO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0F172A"/>
                          </a:solidFill>
                          <a:latin typeface="Arial"/>
                        </a:rPr>
                        <a:t>Function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0F172A"/>
                          </a:solidFill>
                          <a:latin typeface="Arial"/>
                        </a:rPr>
                        <a:t>Design note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6 / 7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I²C SDA / SCL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ADS1115, INA219, OLED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1-Wire bus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DS18B20 in the cell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Pump P1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LEDC PWM soft-start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4 / 5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Valves V1 / V2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De-energised = route to reject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UV-C enable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Only with flow and cap locked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IR LED pulse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Rejects ambient light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EC excitation power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Off while pH is read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9 / 20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Button / RGB ring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GPIO9 is a strapping pin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Moisture sense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Strapping pin, idles high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18 / 19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USB D− / D+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Native USB via the USB-C port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7818120" y="4160520"/>
            <a:ext cx="3840480" cy="1417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  <a:buNone/>
            </a:pPr>
            <a:r>
              <a:rPr sz="800" b="1" i="0">
                <a:solidFill>
                  <a:srgbClr val="0F172A"/>
                </a:solidFill>
                <a:latin typeface="Arial"/>
              </a:rPr>
              <a:t>Wet/dry separation:</a:t>
            </a:r>
            <a:r>
              <a:rPr sz="800" b="0" i="0">
                <a:solidFill>
                  <a:srgbClr val="334155"/>
                </a:solidFill>
                <a:latin typeface="Arial"/>
              </a:rPr>
              <a:t> sensor leads pass through potted feed-throughs in the bulkhead; DFR0504 keeps pH sensor and MCU grounds separate.</a:t>
            </a:r>
          </a:p>
          <a:p>
            <a:pPr algn="l">
              <a:spcAft>
                <a:spcPts val="300"/>
              </a:spcAft>
              <a:buNone/>
            </a:pPr>
            <a:r>
              <a:rPr sz="800" b="1" i="0">
                <a:solidFill>
                  <a:srgbClr val="0F172A"/>
                </a:solidFill>
                <a:latin typeface="Arial"/>
              </a:rPr>
              <a:t>Fail-safe routing:</a:t>
            </a:r>
            <a:r>
              <a:rPr sz="800" b="0" i="0">
                <a:solidFill>
                  <a:srgbClr val="334155"/>
                </a:solidFill>
                <a:latin typeface="Arial"/>
              </a:rPr>
              <a:t> with valves unpowered, water goes to the reject port — a fault can never dispense untested water.</a:t>
            </a:r>
          </a:p>
        </p:txBody>
      </p:sp>
      <p:pic>
        <p:nvPicPr>
          <p:cNvPr id="38" name="Note ba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095" y="5715000"/>
            <a:ext cx="11125504" cy="363016"/>
          </a:xfrm>
          <a:prstGeom prst="rect">
            <a:avLst/>
          </a:prstGeom>
        </p:spPr>
      </p:pic>
      <p:sp>
        <p:nvSpPr>
          <p:cNvPr id="39" name="Note text"/>
          <p:cNvSpPr txBox="1"/>
          <p:nvPr/>
        </p:nvSpPr>
        <p:spPr>
          <a:xfrm>
            <a:off x="685800" y="5765292"/>
            <a:ext cx="10835640" cy="26517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3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Fault handling:</a:t>
            </a:r>
            <a:r>
              <a:rPr sz="850" b="0" i="0">
                <a:solidFill>
                  <a:srgbClr val="334155"/>
                </a:solidFill>
                <a:latin typeface="Arial"/>
              </a:rPr>
              <a:t> moisture in spine, dry intake, clog, invalid sensor, over-temperature or low battery → pump and UV-C off, valves to reject, red ring + OLED code, event logged.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Template back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8698" y="450799"/>
            <a:ext cx="8595360" cy="414223"/>
          </a:xfrm>
        </p:spPr>
        <p:txBody>
          <a:bodyPr/>
          <a:lstStyle/>
          <a:p>
            <a:r>
              <a:t>Itemized Prototype Bill of Materials (Preliminary)</a:t>
            </a:r>
          </a:p>
        </p:txBody>
      </p:sp>
      <p:pic>
        <p:nvPicPr>
          <p:cNvPr id="4" name="Vishwakarma Awards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81013"/>
            <a:ext cx="1785823" cy="576986"/>
          </a:xfrm>
          <a:prstGeom prst="rect">
            <a:avLst/>
          </a:prstGeom>
        </p:spPr>
      </p:pic>
      <p:pic>
        <p:nvPicPr>
          <p:cNvPr id="5" name="Maker Bhavan Foundation 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329" y="6281013"/>
            <a:ext cx="1096365" cy="57698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458553" y="485546"/>
            <a:ext cx="2200046" cy="213055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47857"/>
                </a:solidFill>
                <a:latin typeface="Arial"/>
              </a:rPr>
              <a:t>HYDRA NEXUS · STAGE 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33095" y="960120"/>
          <a:ext cx="11125501" cy="43525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41020"/>
                <a:gridCol w="3427052"/>
                <a:gridCol w="695344"/>
                <a:gridCol w="1142350"/>
                <a:gridCol w="943681"/>
                <a:gridCol w="2036364"/>
                <a:gridCol w="1539690"/>
              </a:tblGrid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0F172A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0F172A"/>
                          </a:solidFill>
                          <a:latin typeface="Arial"/>
                        </a:rPr>
                        <a:t>Part number / specification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0F172A"/>
                          </a:solidFill>
                          <a:latin typeface="Arial"/>
                        </a:rPr>
                        <a:t>Qty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 i="0">
                          <a:solidFill>
                            <a:srgbClr val="0F172A"/>
                          </a:solidFill>
                          <a:latin typeface="Arial"/>
                        </a:rPr>
                        <a:t>Est. unit cost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 i="0">
                          <a:solidFill>
                            <a:srgbClr val="0F172A"/>
                          </a:solidFill>
                          <a:latin typeface="Arial"/>
                        </a:rPr>
                        <a:t>Est. total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0F172A"/>
                          </a:solidFill>
                          <a:latin typeface="Arial"/>
                        </a:rPr>
                        <a:t>Supplier / lead time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0F172A"/>
                          </a:solidFill>
                          <a:latin typeface="Arial"/>
                        </a:rPr>
                        <a:t>Status / source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Controller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ESP32-C3 module: WROOM-02 (schematic v0.1) or MINI-1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Quotation required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Local distributor; lead time to confirm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Proposed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pH front-end kit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DFRobot SEN0161-V2 (board, bench probe, buffers)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US$39.50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US$39.50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DFRobot; lead time to confirm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List price, 24 Oct 2026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Mini pH electrode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≤ 8 mm combination electrode for the capsule cell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Quotation required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Supplier to identify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Critical item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EC / TDS sensor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DFRobot SEN0244 (probe pins adapted into the cell)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US$11.80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US$11.80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DFRobot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List price, 24 Oct 2026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Temperature sensor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DFRobot KIT0021 waterproof DS18B20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US$7.50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US$7.50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DFRobot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List price, 24 Oct 2026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pH isolator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DFRobot DFR0504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US$19.90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US$19.90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DFRobot; stock to confirm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List price, 24 Oct 2026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Turbidity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IR LED + photodiode + amplifier (custom); DFRobot SEN0189 as bench reference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1 + 1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US$9.90 (ref.)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US$9.90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DFRobot / local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Reference priced; custom quote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ADC &amp; monitoring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ADS1115; INA219 current sensor; MCP6001 TIA; battery divider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1 set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Quotation required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Local distributor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Proposed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Pump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5–6 V micro diaphragm, self-priming, food-contact wetted parts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Quotation required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Supplier to identify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Proposed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Valves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Micro 3-way solenoid valve, 5–6 V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Quotation required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Supplier to identify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Proposed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Cartridge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Twist-lock carbon + hollow-fibre UF module; 40 µm intake mesh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1 + spare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Quotation required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Membrane / filter supplier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Proposed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UV-C module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UV-C LED, constant-current driver, quartz window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0–1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Quotation required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Supplier to identify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Decision in Month 1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Power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Protected 18650; MCP73831; AP2112K-3.3; MT3608; polyfuse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1 set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Quotation required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Local distributor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Proposed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Drivers &amp; HMI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Logic-level MOSFETs, flyback diodes; 0.91-inch OLED, RGB ring, button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1 set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Quotation required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Local distributor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Proposed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Mechanical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PETG shell (3D-printed), PMMA cell, silicone tubing, O-rings, grip sleeve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Lot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Quotation required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In-house printing; materials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Proposed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Sourced subtotal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E7EC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Items with published list prices only (5 lines)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E7EC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E7EC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E7EC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1" i="0">
                          <a:solidFill>
                            <a:srgbClr val="0F172A"/>
                          </a:solidFill>
                          <a:latin typeface="Arial"/>
                        </a:rPr>
                        <a:t>US$88.60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E7EC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Excl. shipping, duties, GST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E7EC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Partial — not a total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E7ECF4"/>
                    </a:solidFill>
                  </a:tcPr>
                </a:tc>
              </a:tr>
            </a:tbl>
          </a:graphicData>
        </a:graphic>
      </p:graphicFrame>
      <p:pic>
        <p:nvPicPr>
          <p:cNvPr id="8" name="Note ba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095" y="5715000"/>
            <a:ext cx="11125504" cy="363016"/>
          </a:xfrm>
          <a:prstGeom prst="rect">
            <a:avLst/>
          </a:prstGeom>
        </p:spPr>
      </p:pic>
      <p:sp>
        <p:nvSpPr>
          <p:cNvPr id="9" name="Note text"/>
          <p:cNvSpPr txBox="1"/>
          <p:nvPr/>
        </p:nvSpPr>
        <p:spPr>
          <a:xfrm>
            <a:off x="685800" y="5765292"/>
            <a:ext cx="10835640" cy="26517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3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Procurement status:</a:t>
            </a:r>
            <a:r>
              <a:rPr sz="850" b="0" i="0">
                <a:solidFill>
                  <a:srgbClr val="334155"/>
                </a:solidFill>
                <a:latin typeface="Arial"/>
              </a:rPr>
              <a:t> complete prototype budget cannot be stated until quotations are obtained for all “Quotation required” lines. Every selection is proposed and needs final team approval.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Template back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8698" y="450799"/>
            <a:ext cx="8595360" cy="414223"/>
          </a:xfrm>
        </p:spPr>
        <p:txBody>
          <a:bodyPr/>
          <a:lstStyle/>
          <a:p>
            <a:r>
              <a:t>Maker Journey: Stage 1 to Stage 2 Progression</a:t>
            </a:r>
          </a:p>
        </p:txBody>
      </p:sp>
      <p:pic>
        <p:nvPicPr>
          <p:cNvPr id="4" name="Vishwakarma Awards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81013"/>
            <a:ext cx="1785823" cy="576986"/>
          </a:xfrm>
          <a:prstGeom prst="rect">
            <a:avLst/>
          </a:prstGeom>
        </p:spPr>
      </p:pic>
      <p:pic>
        <p:nvPicPr>
          <p:cNvPr id="5" name="Maker Bhavan Foundation 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329" y="6281013"/>
            <a:ext cx="1096365" cy="57698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458553" y="485546"/>
            <a:ext cx="2200046" cy="213055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47857"/>
                </a:solidFill>
                <a:latin typeface="Arial"/>
              </a:rPr>
              <a:t>HYDRA NEXUS · STAGE 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8680" y="1481328"/>
            <a:ext cx="10469880" cy="0"/>
          </a:xfrm>
          <a:prstGeom prst="line">
            <a:avLst/>
          </a:prstGeom>
          <a:ln w="317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713231" y="1325880"/>
            <a:ext cx="310896" cy="310896"/>
          </a:xfrm>
          <a:prstGeom prst="ellipse">
            <a:avLst/>
          </a:prstGeom>
          <a:solidFill>
            <a:srgbClr val="059668"/>
          </a:solidFill>
          <a:ln w="19050">
            <a:solidFill>
              <a:srgbClr val="0596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5" y="1737360"/>
            <a:ext cx="120700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300"/>
              </a:spcAft>
              <a:buNone/>
            </a:pPr>
            <a:r>
              <a:rPr sz="800" b="0" i="0">
                <a:solidFill>
                  <a:srgbClr val="0F172A"/>
                </a:solidFill>
                <a:latin typeface="Arial"/>
              </a:rPr>
              <a:t>Closed-loop concept defined</a:t>
            </a:r>
          </a:p>
        </p:txBody>
      </p:sp>
      <p:sp>
        <p:nvSpPr>
          <p:cNvPr id="10" name="Oval 9"/>
          <p:cNvSpPr/>
          <p:nvPr/>
        </p:nvSpPr>
        <p:spPr>
          <a:xfrm>
            <a:off x="2021967" y="1325880"/>
            <a:ext cx="310896" cy="310896"/>
          </a:xfrm>
          <a:prstGeom prst="ellipse">
            <a:avLst/>
          </a:prstGeom>
          <a:solidFill>
            <a:srgbClr val="0284C7"/>
          </a:solidFill>
          <a:ln w="1905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3911" y="1737360"/>
            <a:ext cx="120700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300"/>
              </a:spcAft>
              <a:buNone/>
            </a:pPr>
            <a:r>
              <a:rPr sz="800" b="0" i="0">
                <a:solidFill>
                  <a:srgbClr val="0F172A"/>
                </a:solidFill>
                <a:latin typeface="Arial"/>
              </a:rPr>
              <a:t>Pocket-capsule water path selected</a:t>
            </a:r>
          </a:p>
        </p:txBody>
      </p:sp>
      <p:sp>
        <p:nvSpPr>
          <p:cNvPr id="12" name="Oval 11"/>
          <p:cNvSpPr/>
          <p:nvPr/>
        </p:nvSpPr>
        <p:spPr>
          <a:xfrm>
            <a:off x="3330702" y="1325880"/>
            <a:ext cx="310896" cy="310896"/>
          </a:xfrm>
          <a:prstGeom prst="ellipse">
            <a:avLst/>
          </a:prstGeom>
          <a:solidFill>
            <a:srgbClr val="0284C7"/>
          </a:solidFill>
          <a:ln w="1905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2646" y="1737360"/>
            <a:ext cx="120700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300"/>
              </a:spcAft>
              <a:buNone/>
            </a:pPr>
            <a:r>
              <a:rPr sz="800" b="0" i="0">
                <a:solidFill>
                  <a:srgbClr val="0F172A"/>
                </a:solidFill>
                <a:latin typeface="Arial"/>
              </a:rPr>
              <a:t>ESP32-C3 integration planned</a:t>
            </a:r>
          </a:p>
        </p:txBody>
      </p:sp>
      <p:sp>
        <p:nvSpPr>
          <p:cNvPr id="14" name="Oval 13"/>
          <p:cNvSpPr/>
          <p:nvPr/>
        </p:nvSpPr>
        <p:spPr>
          <a:xfrm>
            <a:off x="4639437" y="1325880"/>
            <a:ext cx="310896" cy="310896"/>
          </a:xfrm>
          <a:prstGeom prst="ellipse">
            <a:avLst/>
          </a:prstGeom>
          <a:solidFill>
            <a:srgbClr val="0284C7"/>
          </a:solidFill>
          <a:ln w="1905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1381" y="1737360"/>
            <a:ext cx="120700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300"/>
              </a:spcAft>
              <a:buNone/>
            </a:pPr>
            <a:r>
              <a:rPr sz="800" b="0" i="0">
                <a:solidFill>
                  <a:srgbClr val="0F172A"/>
                </a:solidFill>
                <a:latin typeface="Arial"/>
              </a:rPr>
              <a:t>Sensors &amp; cartridge selected</a:t>
            </a:r>
          </a:p>
        </p:txBody>
      </p:sp>
      <p:sp>
        <p:nvSpPr>
          <p:cNvPr id="16" name="Oval 15"/>
          <p:cNvSpPr/>
          <p:nvPr/>
        </p:nvSpPr>
        <p:spPr>
          <a:xfrm>
            <a:off x="5948172" y="1325880"/>
            <a:ext cx="310896" cy="310896"/>
          </a:xfrm>
          <a:prstGeom prst="ellipse">
            <a:avLst/>
          </a:prstGeom>
          <a:solidFill>
            <a:srgbClr val="059668"/>
          </a:solidFill>
          <a:ln w="19050">
            <a:solidFill>
              <a:srgbClr val="0596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00116" y="1737360"/>
            <a:ext cx="120700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300"/>
              </a:spcAft>
              <a:buNone/>
            </a:pPr>
            <a:r>
              <a:rPr sz="800" b="0" i="0">
                <a:solidFill>
                  <a:srgbClr val="0F172A"/>
                </a:solidFill>
                <a:latin typeface="Arial"/>
              </a:rPr>
              <a:t>CAD model &amp; KiCad schematic created</a:t>
            </a:r>
          </a:p>
        </p:txBody>
      </p:sp>
      <p:sp>
        <p:nvSpPr>
          <p:cNvPr id="18" name="Oval 17"/>
          <p:cNvSpPr/>
          <p:nvPr/>
        </p:nvSpPr>
        <p:spPr>
          <a:xfrm>
            <a:off x="7256907" y="1325880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64748B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08851" y="1737360"/>
            <a:ext cx="120700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300"/>
              </a:spcAft>
              <a:buNone/>
            </a:pPr>
            <a:r>
              <a:rPr sz="800" b="0" i="0">
                <a:solidFill>
                  <a:srgbClr val="0F172A"/>
                </a:solidFill>
                <a:latin typeface="Arial"/>
              </a:rPr>
              <a:t>Pump &amp; valve control implemented</a:t>
            </a:r>
          </a:p>
        </p:txBody>
      </p:sp>
      <p:sp>
        <p:nvSpPr>
          <p:cNvPr id="20" name="Oval 19"/>
          <p:cNvSpPr/>
          <p:nvPr/>
        </p:nvSpPr>
        <p:spPr>
          <a:xfrm>
            <a:off x="8565642" y="1325880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64748B"/>
                </a:solidFill>
                <a:latin typeface="Arial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7586" y="1737360"/>
            <a:ext cx="120700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300"/>
              </a:spcAft>
              <a:buNone/>
            </a:pPr>
            <a:r>
              <a:rPr sz="800" b="0" i="0">
                <a:solidFill>
                  <a:srgbClr val="0F172A"/>
                </a:solidFill>
                <a:latin typeface="Arial"/>
              </a:rPr>
              <a:t>Measurement &amp; comparison logic</a:t>
            </a:r>
          </a:p>
        </p:txBody>
      </p:sp>
      <p:sp>
        <p:nvSpPr>
          <p:cNvPr id="22" name="Oval 21"/>
          <p:cNvSpPr/>
          <p:nvPr/>
        </p:nvSpPr>
        <p:spPr>
          <a:xfrm>
            <a:off x="9874377" y="1325880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64748B"/>
                </a:solidFill>
                <a:latin typeface="Arial"/>
              </a:rPr>
              <a:t>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6321" y="1737360"/>
            <a:ext cx="120700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300"/>
              </a:spcAft>
              <a:buNone/>
            </a:pPr>
            <a:r>
              <a:rPr sz="800" b="0" i="0">
                <a:solidFill>
                  <a:srgbClr val="0F172A"/>
                </a:solidFill>
                <a:latin typeface="Arial"/>
              </a:rPr>
              <a:t>Capsule prototype assembled</a:t>
            </a:r>
          </a:p>
        </p:txBody>
      </p:sp>
      <p:sp>
        <p:nvSpPr>
          <p:cNvPr id="24" name="Oval 23"/>
          <p:cNvSpPr/>
          <p:nvPr/>
        </p:nvSpPr>
        <p:spPr>
          <a:xfrm>
            <a:off x="11183112" y="1325880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64748B"/>
                </a:solidFill>
                <a:latin typeface="Arial"/>
              </a:rP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35056" y="1737360"/>
            <a:ext cx="120700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300"/>
              </a:spcAft>
              <a:buNone/>
            </a:pPr>
            <a:r>
              <a:rPr sz="800" b="0" i="0">
                <a:solidFill>
                  <a:srgbClr val="0F172A"/>
                </a:solidFill>
                <a:latin typeface="Arial"/>
              </a:rPr>
              <a:t>Tested with varied water samples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3095" y="2395728"/>
            <a:ext cx="2880360" cy="182880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047857"/>
                </a:solidFill>
                <a:latin typeface="Arial"/>
              </a:rPr>
              <a:t>Completed — Stage 1 concept and Stage 2 design files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96335" y="2395728"/>
            <a:ext cx="4251960" cy="18288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D4ED8"/>
                </a:solidFill>
                <a:latin typeface="Arial"/>
              </a:rPr>
              <a:t>Design proposed in this Stage 2 document — team approval required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31175" y="2395728"/>
            <a:ext cx="2651760" cy="18288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334155"/>
                </a:solidFill>
                <a:latin typeface="Arial"/>
              </a:rPr>
              <a:t>Planned — Months 1–4 (not started)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3095" y="2788920"/>
            <a:ext cx="6675120" cy="2770632"/>
          </a:xfrm>
          <a:prstGeom prst="roundRect">
            <a:avLst>
              <a:gd name="adj" fmla="val 2640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543" y="2944368"/>
            <a:ext cx="153296" cy="17373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44575" y="2907791"/>
            <a:ext cx="612647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1100" b="1" i="0">
                <a:solidFill>
                  <a:srgbClr val="0F172A"/>
                </a:solidFill>
                <a:latin typeface="Arial"/>
              </a:rPr>
              <a:t>Stage 1 → Stage 2 engineering refinements (proposed here)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" y="3154680"/>
            <a:ext cx="6400800" cy="23774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128016" indent="-128016">
              <a:spcAft>
                <a:spcPts val="8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1000" b="1" i="0">
                <a:solidFill>
                  <a:srgbClr val="0F172A"/>
                </a:solidFill>
                <a:latin typeface="Arial"/>
              </a:rPr>
              <a:t>Form factor:</a:t>
            </a:r>
            <a:r>
              <a:rPr sz="1000" b="0" i="0">
                <a:solidFill>
                  <a:srgbClr val="334155"/>
                </a:solidFill>
                <a:latin typeface="Arial"/>
              </a:rPr>
              <a:t> “compact prototype” → pocket-size capsule with a sealed dry spine and a twist-lock cartridge.</a:t>
            </a:r>
          </a:p>
          <a:p>
            <a:pPr algn="l" marL="128016" indent="-128016">
              <a:spcAft>
                <a:spcPts val="8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1000" b="1" i="0">
                <a:solidFill>
                  <a:srgbClr val="0F172A"/>
                </a:solidFill>
                <a:latin typeface="Arial"/>
              </a:rPr>
              <a:t>Verification:</a:t>
            </a:r>
            <a:r>
              <a:rPr sz="1000" b="0" i="0">
                <a:solidFill>
                  <a:srgbClr val="334155"/>
                </a:solidFill>
                <a:latin typeface="Arial"/>
              </a:rPr>
              <a:t> “second sensing chamber” → one shared cell measured twice (M1, M2), removing inter-sensor offset.</a:t>
            </a:r>
          </a:p>
          <a:p>
            <a:pPr algn="l" marL="128016" indent="-128016">
              <a:spcAft>
                <a:spcPts val="8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1000" b="1" i="0">
                <a:solidFill>
                  <a:srgbClr val="0F172A"/>
                </a:solidFill>
                <a:latin typeface="Arial"/>
              </a:rPr>
              <a:t>Adaptive purification:</a:t>
            </a:r>
            <a:r>
              <a:rPr sz="1000" b="0" i="0">
                <a:solidFill>
                  <a:srgbClr val="334155"/>
                </a:solidFill>
                <a:latin typeface="Arial"/>
              </a:rPr>
              <a:t> flow / contact time, UV-C dose, second-pass prompt and cartridge advice set from M1.</a:t>
            </a:r>
          </a:p>
          <a:p>
            <a:pPr algn="l" marL="128016" indent="-128016">
              <a:spcAft>
                <a:spcPts val="8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1000" b="1" i="0">
                <a:solidFill>
                  <a:srgbClr val="0F172A"/>
                </a:solidFill>
                <a:latin typeface="Arial"/>
              </a:rPr>
              <a:t>Verify before dispensing:</a:t>
            </a:r>
            <a:r>
              <a:rPr sz="1000" b="0" i="0">
                <a:solidFill>
                  <a:srgbClr val="334155"/>
                </a:solidFill>
                <a:latin typeface="Arial"/>
              </a:rPr>
              <a:t> water is released only after M2 passes; failures go to the reject port.</a:t>
            </a:r>
          </a:p>
          <a:p>
            <a:pPr algn="l" marL="128016" indent="-128016">
              <a:spcAft>
                <a:spcPts val="8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1000" b="1" i="0">
                <a:solidFill>
                  <a:srgbClr val="0F172A"/>
                </a:solidFill>
                <a:latin typeface="Arial"/>
              </a:rPr>
              <a:t>Safety &amp; honesty:</a:t>
            </a:r>
            <a:r>
              <a:rPr sz="1000" b="0" i="0">
                <a:solidFill>
                  <a:srgbClr val="334155"/>
                </a:solidFill>
                <a:latin typeface="Arial"/>
              </a:rPr>
              <a:t> moisture, dry-intake, clog and battery protection; warnings when TDS or pH cannot be changed by the cartridge.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60920" y="2788920"/>
            <a:ext cx="4297680" cy="2770632"/>
          </a:xfrm>
          <a:prstGeom prst="roundRect">
            <a:avLst>
              <a:gd name="adj" fmla="val 2640"/>
            </a:avLst>
          </a:prstGeom>
          <a:solidFill>
            <a:srgbClr val="FFFBEB"/>
          </a:solidFill>
          <a:ln w="9525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16368" y="2944368"/>
            <a:ext cx="173736" cy="17373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772400" y="2907791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1100" b="1" i="0">
                <a:solidFill>
                  <a:srgbClr val="0F172A"/>
                </a:solidFill>
                <a:latin typeface="Arial"/>
              </a:rPr>
              <a:t>Current evidence status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25512" y="3154680"/>
            <a:ext cx="4023360" cy="23774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128016" indent="-128016">
              <a:spcAft>
                <a:spcPts val="600"/>
              </a:spcAft>
              <a:buClr>
                <a:srgbClr val="B45309"/>
              </a:buClr>
              <a:buSzPct val="100000"/>
              <a:buFont typeface="Arial"/>
              <a:buChar char="▪"/>
            </a:pPr>
            <a:r>
              <a:rPr sz="900" b="0" i="0">
                <a:solidFill>
                  <a:srgbClr val="334155"/>
                </a:solidFill>
                <a:latin typeface="Arial"/>
              </a:rPr>
              <a:t>The Stage 1 file is a proposal and implementation plan.</a:t>
            </a:r>
          </a:p>
          <a:p>
            <a:pPr algn="l" marL="128016" indent="-128016">
              <a:spcAft>
                <a:spcPts val="600"/>
              </a:spcAft>
              <a:buClr>
                <a:srgbClr val="B45309"/>
              </a:buClr>
              <a:buSzPct val="100000"/>
              <a:buFont typeface="Arial"/>
              <a:buChar char="▪"/>
            </a:pPr>
            <a:r>
              <a:rPr sz="900" b="0" i="0">
                <a:solidFill>
                  <a:srgbClr val="334155"/>
                </a:solidFill>
                <a:latin typeface="Arial"/>
              </a:rPr>
              <a:t>Native FreeCAD model and KiCad schematic (ERC clean) created 25 Oct 2026 with AI assistance; team review pending.</a:t>
            </a:r>
          </a:p>
          <a:p>
            <a:pPr algn="l" marL="128016" indent="-128016">
              <a:spcAft>
                <a:spcPts val="600"/>
              </a:spcAft>
              <a:buClr>
                <a:srgbClr val="B45309"/>
              </a:buClr>
              <a:buSzPct val="100000"/>
              <a:buFont typeface="Arial"/>
              <a:buChar char="▪"/>
            </a:pPr>
            <a:r>
              <a:rPr sz="900" b="0" i="0">
                <a:solidFill>
                  <a:srgbClr val="334155"/>
                </a:solidFill>
                <a:latin typeface="Arial"/>
              </a:rPr>
              <a:t>Public repository holds every design file; fabrication photographs and test logs do not exist yet.</a:t>
            </a:r>
          </a:p>
          <a:p>
            <a:pPr algn="l" marL="128016" indent="-128016">
              <a:spcAft>
                <a:spcPts val="600"/>
              </a:spcAft>
              <a:buClr>
                <a:srgbClr val="B45309"/>
              </a:buClr>
              <a:buSzPct val="100000"/>
              <a:buFont typeface="Arial"/>
              <a:buChar char="▪"/>
            </a:pPr>
            <a:r>
              <a:rPr sz="900" b="0" i="0">
                <a:solidFill>
                  <a:srgbClr val="334155"/>
                </a:solidFill>
                <a:latin typeface="Arial"/>
              </a:rPr>
              <a:t>Milestones 6–9 (control code, logic, assembly, testing) have not started.</a:t>
            </a:r>
          </a:p>
        </p:txBody>
      </p:sp>
      <p:pic>
        <p:nvPicPr>
          <p:cNvPr id="37" name="Note ba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095" y="5715000"/>
            <a:ext cx="11125504" cy="363016"/>
          </a:xfrm>
          <a:prstGeom prst="rect">
            <a:avLst/>
          </a:prstGeom>
        </p:spPr>
      </p:pic>
      <p:sp>
        <p:nvSpPr>
          <p:cNvPr id="38" name="Note text"/>
          <p:cNvSpPr txBox="1"/>
          <p:nvPr/>
        </p:nvSpPr>
        <p:spPr>
          <a:xfrm>
            <a:off x="685800" y="5765292"/>
            <a:ext cx="10835640" cy="26517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3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Progress claim:</a:t>
            </a:r>
            <a:r>
              <a:rPr sz="850" b="0" i="0">
                <a:solidFill>
                  <a:srgbClr val="334155"/>
                </a:solidFill>
                <a:latin typeface="Arial"/>
              </a:rPr>
              <a:t> design files exist (milestone 5); no hardware has been fabricated and no test result is claimed.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Template back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8698" y="450799"/>
            <a:ext cx="8595360" cy="414223"/>
          </a:xfrm>
        </p:spPr>
        <p:txBody>
          <a:bodyPr/>
          <a:lstStyle/>
          <a:p>
            <a:r>
              <a:t>Maker Journey: Authenticity Evidence</a:t>
            </a:r>
          </a:p>
        </p:txBody>
      </p:sp>
      <p:pic>
        <p:nvPicPr>
          <p:cNvPr id="4" name="Vishwakarma Awards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81013"/>
            <a:ext cx="1785823" cy="576986"/>
          </a:xfrm>
          <a:prstGeom prst="rect">
            <a:avLst/>
          </a:prstGeom>
        </p:spPr>
      </p:pic>
      <p:pic>
        <p:nvPicPr>
          <p:cNvPr id="5" name="Maker Bhavan Foundation 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329" y="6281013"/>
            <a:ext cx="1096365" cy="57698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458553" y="485546"/>
            <a:ext cx="2200046" cy="213055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47857"/>
                </a:solidFill>
                <a:latin typeface="Arial"/>
              </a:rPr>
              <a:t>HYDRA NEXUS · STAGE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095" y="960120"/>
            <a:ext cx="3291840" cy="4599432"/>
          </a:xfrm>
          <a:prstGeom prst="roundRect">
            <a:avLst>
              <a:gd name="adj" fmla="val 2222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543" y="1115568"/>
            <a:ext cx="132857" cy="1737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44575" y="10789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1100" b="1" i="0">
                <a:solidFill>
                  <a:srgbClr val="0F172A"/>
                </a:solidFill>
                <a:latin typeface="Arial"/>
              </a:rPr>
              <a:t>Authenticity verification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7687" y="1325880"/>
            <a:ext cx="2971800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  <a:buNone/>
            </a:pPr>
            <a:r>
              <a:rPr sz="850" b="0" i="1">
                <a:solidFill>
                  <a:srgbClr val="64748B"/>
                </a:solidFill>
                <a:latin typeface="Arial"/>
              </a:rPr>
              <a:t>Proof of personal fabrication</a:t>
            </a:r>
          </a:p>
          <a:p>
            <a:pPr algn="l" marL="128016" indent="-128016">
              <a:spcAft>
                <a:spcPts val="3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850" b="0" i="0">
                <a:solidFill>
                  <a:srgbClr val="334155"/>
                </a:solidFill>
                <a:latin typeface="Arial"/>
              </a:rPr>
              <a:t>Team members printing the shell, assembling the wet core and calibrating the cell</a:t>
            </a:r>
          </a:p>
          <a:p>
            <a:pPr algn="l" marL="128016" indent="-128016">
              <a:spcAft>
                <a:spcPts val="3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850" b="0" i="0">
                <a:solidFill>
                  <a:srgbClr val="334155"/>
                </a:solidFill>
                <a:latin typeface="Arial"/>
              </a:rPr>
              <a:t>Institutional ID badges visible in frame</a:t>
            </a:r>
          </a:p>
          <a:p>
            <a:pPr algn="l" marL="128016" indent="-128016">
              <a:spcAft>
                <a:spcPts val="3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850" b="0" i="0">
                <a:solidFill>
                  <a:srgbClr val="334155"/>
                </a:solidFill>
                <a:latin typeface="Arial"/>
              </a:rPr>
              <a:t>Faculty review photo only if a mentor is attached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7687" y="2971800"/>
            <a:ext cx="2971800" cy="1170432"/>
          </a:xfrm>
          <a:prstGeom prst="roundRect">
            <a:avLst>
              <a:gd name="adj" fmla="val 4687"/>
            </a:avLst>
          </a:prstGeom>
          <a:solidFill>
            <a:srgbClr val="FFFFFF"/>
          </a:solidFill>
          <a:ln w="9525">
            <a:solidFill>
              <a:srgbClr val="94A3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64748B"/>
                </a:solidFill>
                <a:latin typeface="Arial"/>
              </a:rPr>
              <a:t>Photo: capsule wet-core assembly</a:t>
            </a:r>
          </a:p>
          <a:p>
            <a:pPr algn="ctr">
              <a:spcAft>
                <a:spcPts val="0"/>
              </a:spcAft>
            </a:pPr>
            <a:r>
              <a:rPr sz="750" b="0" i="1">
                <a:solidFill>
                  <a:srgbClr val="B45309"/>
                </a:solidFill>
                <a:latin typeface="Arial"/>
              </a:rPr>
              <a:t>Must be a genuine team photograph — to be captured during Month 2 fabrication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7687" y="4251960"/>
            <a:ext cx="2971800" cy="1170432"/>
          </a:xfrm>
          <a:prstGeom prst="roundRect">
            <a:avLst>
              <a:gd name="adj" fmla="val 4687"/>
            </a:avLst>
          </a:prstGeom>
          <a:solidFill>
            <a:srgbClr val="FFFFFF"/>
          </a:solidFill>
          <a:ln w="9525">
            <a:solidFill>
              <a:srgbClr val="94A3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64748B"/>
                </a:solidFill>
                <a:latin typeface="Arial"/>
              </a:rPr>
              <a:t>Photo: sensing-cell calibration</a:t>
            </a:r>
          </a:p>
          <a:p>
            <a:pPr algn="ctr">
              <a:spcAft>
                <a:spcPts val="0"/>
              </a:spcAft>
            </a:pPr>
            <a:r>
              <a:rPr sz="750" b="0" i="1">
                <a:solidFill>
                  <a:srgbClr val="B45309"/>
                </a:solidFill>
                <a:latin typeface="Arial"/>
              </a:rPr>
              <a:t>Must be a genuine team photograph — to be captured during Month 2 fabrication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59352" y="960120"/>
            <a:ext cx="4343400" cy="4599432"/>
          </a:xfrm>
          <a:prstGeom prst="roundRect">
            <a:avLst>
              <a:gd name="adj" fmla="val 1684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0" y="1115568"/>
            <a:ext cx="153296" cy="1737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70832" y="1078992"/>
            <a:ext cx="379475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1100" b="1" i="0">
                <a:solidFill>
                  <a:srgbClr val="0F172A"/>
                </a:solidFill>
                <a:latin typeface="Arial"/>
              </a:rPr>
              <a:t>Work-in-progress design evidence</a:t>
            </a:r>
          </a:p>
        </p:txBody>
      </p:sp>
      <p:pic>
        <p:nvPicPr>
          <p:cNvPr id="16" name="FreeCAD screenshot" descr="freecad_model_tre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0" y="1325880"/>
            <a:ext cx="4032504" cy="221117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114800" y="3502152"/>
            <a:ext cx="4032504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300"/>
              </a:spcAft>
              <a:buNone/>
            </a:pPr>
            <a:r>
              <a:rPr sz="750" b="0" i="1">
                <a:solidFill>
                  <a:srgbClr val="64748B"/>
                </a:solidFill>
                <a:latin typeface="Arial"/>
              </a:rPr>
              <a:t>FreeCAD 1.1: parametric PartDesign model, 9 bodies, sketches driven by the Params spreadsheet</a:t>
            </a:r>
          </a:p>
        </p:txBody>
      </p:sp>
      <p:pic>
        <p:nvPicPr>
          <p:cNvPr id="18" name="KiCad screenshot" descr="kicad_schematic_with_ER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4800" y="3840480"/>
            <a:ext cx="3200400" cy="171414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88352" y="3886200"/>
            <a:ext cx="822960" cy="160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750" b="0" i="1">
                <a:solidFill>
                  <a:srgbClr val="64748B"/>
                </a:solidFill>
                <a:latin typeface="Arial"/>
              </a:rPr>
              <a:t>KiCad 9 schematic editor + kicad-cli ERC report: 0 errors, 0 warnings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39912" y="960120"/>
            <a:ext cx="3218688" cy="4599432"/>
          </a:xfrm>
          <a:prstGeom prst="roundRect">
            <a:avLst>
              <a:gd name="adj" fmla="val 2272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95360" y="1115568"/>
            <a:ext cx="214615" cy="17373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851392" y="1078992"/>
            <a:ext cx="2670048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1100" b="1" i="0">
                <a:solidFill>
                  <a:srgbClr val="0F172A"/>
                </a:solidFill>
                <a:latin typeface="Arial"/>
              </a:rPr>
              <a:t>Raw repository linkage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04504" y="1353312"/>
            <a:ext cx="2889504" cy="566928"/>
          </a:xfrm>
          <a:prstGeom prst="roundRect">
            <a:avLst>
              <a:gd name="adj" fmla="val 9677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0368A1"/>
                </a:solidFill>
                <a:latin typeface="Arial"/>
              </a:rPr>
              <a:t>github.com/Abishekkishore-byte/hydra-nexus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Arial"/>
              </a:rPr>
              <a:t>public GitHub repository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04504" y="2057400"/>
            <a:ext cx="2889504" cy="3474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Native files in the repository</a:t>
            </a:r>
          </a:p>
          <a:p>
            <a:pPr algn="l" marL="128016" indent="-128016">
              <a:spcAft>
                <a:spcPts val="3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850" b="1" i="0">
                <a:solidFill>
                  <a:srgbClr val="0F172A"/>
                </a:solidFill>
                <a:latin typeface="Arial"/>
              </a:rPr>
              <a:t>cad/</a:t>
            </a:r>
            <a:r>
              <a:rPr sz="850" b="0" i="0">
                <a:solidFill>
                  <a:srgbClr val="334155"/>
                </a:solidFill>
                <a:latin typeface="Arial"/>
              </a:rPr>
              <a:t> .FCStd, .STEP, parametric build script, screenshots</a:t>
            </a:r>
          </a:p>
          <a:p>
            <a:pPr algn="l" marL="128016" indent="-128016">
              <a:spcAft>
                <a:spcPts val="3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850" b="1" i="0">
                <a:solidFill>
                  <a:srgbClr val="0F172A"/>
                </a:solidFill>
                <a:latin typeface="Arial"/>
              </a:rPr>
              <a:t>electronics/</a:t>
            </a:r>
            <a:r>
              <a:rPr sz="850" b="0" i="0">
                <a:solidFill>
                  <a:srgbClr val="334155"/>
                </a:solidFill>
                <a:latin typeface="Arial"/>
              </a:rPr>
              <a:t> .kicad_sch, ERC report, schematic PDF</a:t>
            </a:r>
          </a:p>
          <a:p>
            <a:pPr algn="l" marL="128016" indent="-128016">
              <a:spcAft>
                <a:spcPts val="3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850" b="1" i="0">
                <a:solidFill>
                  <a:srgbClr val="0F172A"/>
                </a:solidFill>
                <a:latin typeface="Arial"/>
              </a:rPr>
              <a:t>docs/</a:t>
            </a:r>
            <a:r>
              <a:rPr sz="850" b="0" i="0">
                <a:solidFill>
                  <a:srgbClr val="334155"/>
                </a:solidFill>
                <a:latin typeface="Arial"/>
              </a:rPr>
              <a:t> submission deck, BOM (CSV)</a:t>
            </a:r>
          </a:p>
          <a:p>
            <a:pPr algn="l" marL="128016" indent="-128016">
              <a:spcAft>
                <a:spcPts val="3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850" b="1" i="0">
                <a:solidFill>
                  <a:srgbClr val="0F172A"/>
                </a:solidFill>
                <a:latin typeface="Arial"/>
              </a:rPr>
              <a:t>visuals/</a:t>
            </a:r>
            <a:r>
              <a:rPr sz="850" b="0" i="0">
                <a:solidFill>
                  <a:srgbClr val="334155"/>
                </a:solidFill>
                <a:latin typeface="Arial"/>
              </a:rPr>
              <a:t> concept renders and their scripts</a:t>
            </a:r>
          </a:p>
          <a:p>
            <a:pPr algn="l">
              <a:spcAft>
                <a:spcPts val="300"/>
              </a:spcAft>
              <a:buNone/>
            </a:pPr>
            <a:r>
              <a:rPr sz="850" b="0" i="0">
                <a:solidFill>
                  <a:srgbClr val="334155"/>
                </a:solidFill>
                <a:latin typeface="Arial"/>
              </a:rPr>
              <a:t>Git history timestamps every change for the Stage 2 audit.</a:t>
            </a:r>
          </a:p>
          <a:p>
            <a:pPr algn="l">
              <a:spcAft>
                <a:spcPts val="300"/>
              </a:spcAft>
              <a:buNone/>
            </a:pPr>
            <a:r>
              <a:rPr sz="850" b="0" i="1">
                <a:solidFill>
                  <a:srgbClr val="64748B"/>
                </a:solidFill>
                <a:latin typeface="Arial"/>
              </a:rPr>
              <a:t>Firmware, app source and raw test logs are added in Months 2–4.</a:t>
            </a:r>
          </a:p>
        </p:txBody>
      </p:sp>
      <p:pic>
        <p:nvPicPr>
          <p:cNvPr id="25" name="Note ba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3095" y="5715000"/>
            <a:ext cx="11125504" cy="363016"/>
          </a:xfrm>
          <a:prstGeom prst="rect">
            <a:avLst/>
          </a:prstGeom>
        </p:spPr>
      </p:pic>
      <p:sp>
        <p:nvSpPr>
          <p:cNvPr id="26" name="Note text"/>
          <p:cNvSpPr txBox="1"/>
          <p:nvPr/>
        </p:nvSpPr>
        <p:spPr>
          <a:xfrm>
            <a:off x="685800" y="5765292"/>
            <a:ext cx="10835640" cy="26517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3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Authenticity note:</a:t>
            </a:r>
            <a:r>
              <a:rPr sz="850" b="0" i="0">
                <a:solidFill>
                  <a:srgbClr val="334155"/>
                </a:solidFill>
                <a:latin typeface="Arial"/>
              </a:rPr>
              <a:t> CAD and schematic are genuine native files created 25 Oct 2026 with AI assistance; the team must review and own them. Photos must be real team photographs — none are generated.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Template back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8698" y="450799"/>
            <a:ext cx="8595360" cy="414223"/>
          </a:xfrm>
        </p:spPr>
        <p:txBody>
          <a:bodyPr/>
          <a:lstStyle/>
          <a:p>
            <a:r>
              <a:t>Safety &amp; Hazard Mitigation (Design FMEA)</a:t>
            </a:r>
          </a:p>
        </p:txBody>
      </p:sp>
      <p:pic>
        <p:nvPicPr>
          <p:cNvPr id="4" name="Vishwakarma Awards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81013"/>
            <a:ext cx="1785823" cy="576986"/>
          </a:xfrm>
          <a:prstGeom prst="rect">
            <a:avLst/>
          </a:prstGeom>
        </p:spPr>
      </p:pic>
      <p:pic>
        <p:nvPicPr>
          <p:cNvPr id="5" name="Maker Bhavan Foundation 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329" y="6281013"/>
            <a:ext cx="1096365" cy="57698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458553" y="485546"/>
            <a:ext cx="2200046" cy="213055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47857"/>
                </a:solidFill>
                <a:latin typeface="Arial"/>
              </a:rPr>
              <a:t>HYDRA NEXUS · STAGE 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33095" y="960120"/>
          <a:ext cx="11125502" cy="36576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94436"/>
                <a:gridCol w="1794436"/>
                <a:gridCol w="2358401"/>
                <a:gridCol w="3947759"/>
                <a:gridCol w="123047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0F172A"/>
                          </a:solidFill>
                          <a:latin typeface="Arial"/>
                        </a:rPr>
                        <a:t>Failure mode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0F172A"/>
                          </a:solidFill>
                          <a:latin typeface="Arial"/>
                        </a:rPr>
                        <a:t>Possible effect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0F172A"/>
                          </a:solidFill>
                          <a:latin typeface="Arial"/>
                        </a:rPr>
                        <a:t>Detection method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0F172A"/>
                          </a:solidFill>
                          <a:latin typeface="Arial"/>
                        </a:rPr>
                        <a:t>Mitigation / fail-safe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0F172A"/>
                          </a:solidFill>
                          <a:latin typeface="Arial"/>
                        </a:rPr>
                        <a:t>Verification status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Water ingress into dry spine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Short circuit, battery hazard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Moisture-sense traces in the spine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O-ring bulkhead, potted feed-throughs, sealed USB-C; ingress → all outputs off and warning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Immersion test pending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Unstable / faulty sensor reading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Wrong adaptation; false “improved” report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Range, rate-of-change and SD checks on 30 samples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Reading rejected and re-sampled twice, then fault warning — no result reported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Pending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Pump dry running (intake out of water)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Pump wear; no sample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Pump-current drop; cell not filled (EC open circuit)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Pump stops within 3 s; prompt to re-submerge intake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Pending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Clogged cartridge / pressure rise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Low flow, seal stress, leakage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Pump-current rise; litres-treated counter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Stop at current limit; replace-cartridge prompt; housing tested at 1.5× shut-off pressure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Pending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Battery / electrical fault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Overheating, fire risk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Cell PCM, battery-voltage sense, brown-out reset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Protected cell and polyfuse; NTC-qualified charger planned for rev 0.2; sealed USB-C port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Pending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UV-C exposure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Eye or skin injury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Cap-locked switch and flow confirmation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Sealed quartz chamber; LED enabled only with flow and cap locked; automatic timeout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Pending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Intended improvement not achieved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Reliance on ineffective treatment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Δ = M2 − M1 below target band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Stop before dispensing; warning; second pass, cartridge replacement or laboratory testing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Pending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User misinterprets readings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False sense of safety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Usability walkthrough with users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Plain-language labels; never displays “safe to drink”; shows measured parameters only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Pending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Contaminant not measurable by sensors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Undetected pathogen or chemical hazard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Not detectable by installed sensors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Permanent limitation notice; laboratory testing recommended for new or unknown sources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Design rule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33095" y="4754880"/>
            <a:ext cx="11125504" cy="841248"/>
          </a:xfrm>
          <a:prstGeom prst="roundRect">
            <a:avLst>
              <a:gd name="adj" fmla="val 8695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543" y="4910328"/>
            <a:ext cx="179165" cy="1737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44575" y="4873752"/>
            <a:ext cx="10576864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Standards considered (design references only — no testing or certification claimed)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5056632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850" b="0" i="0">
                <a:solidFill>
                  <a:srgbClr val="334155"/>
                </a:solidFill>
                <a:latin typeface="Arial"/>
              </a:rPr>
              <a:t>IEC 60529 IP code (IPX7 design target, not tested) · IEC 62133-2 (portable lithium cells — select a cell certified to it) · ISO 7027-1 (nephelometric turbidity principle) · IS 10500:2012 and WHO GDWQ (reference values for interpretation only).</a:t>
            </a:r>
          </a:p>
        </p:txBody>
      </p:sp>
      <p:pic>
        <p:nvPicPr>
          <p:cNvPr id="12" name="Note ba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095" y="5715000"/>
            <a:ext cx="11125504" cy="363016"/>
          </a:xfrm>
          <a:prstGeom prst="rect">
            <a:avLst/>
          </a:prstGeom>
        </p:spPr>
      </p:pic>
      <p:sp>
        <p:nvSpPr>
          <p:cNvPr id="13" name="Note text"/>
          <p:cNvSpPr txBox="1"/>
          <p:nvPr/>
        </p:nvSpPr>
        <p:spPr>
          <a:xfrm>
            <a:off x="685800" y="5765292"/>
            <a:ext cx="10835640" cy="26517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3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Safety principle:</a:t>
            </a:r>
            <a:r>
              <a:rPr sz="850" b="0" i="0">
                <a:solidFill>
                  <a:srgbClr val="334155"/>
                </a:solidFill>
                <a:latin typeface="Arial"/>
              </a:rPr>
              <a:t> Hydra Nexus never reports water as universally safe; it reports measured changes in installed parameters and recommends laboratory testing where required.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Template back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8698" y="450799"/>
            <a:ext cx="8595360" cy="414223"/>
          </a:xfrm>
        </p:spPr>
        <p:txBody>
          <a:bodyPr/>
          <a:lstStyle/>
          <a:p>
            <a:r>
              <a:t>Four-Month Fabrication &amp; Validation Roadmap</a:t>
            </a:r>
          </a:p>
        </p:txBody>
      </p:sp>
      <p:pic>
        <p:nvPicPr>
          <p:cNvPr id="4" name="Vishwakarma Awards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81013"/>
            <a:ext cx="1785823" cy="576986"/>
          </a:xfrm>
          <a:prstGeom prst="rect">
            <a:avLst/>
          </a:prstGeom>
        </p:spPr>
      </p:pic>
      <p:pic>
        <p:nvPicPr>
          <p:cNvPr id="5" name="Maker Bhavan Foundation 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329" y="6281013"/>
            <a:ext cx="1096365" cy="57698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458553" y="485546"/>
            <a:ext cx="2200046" cy="213055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47857"/>
                </a:solidFill>
                <a:latin typeface="Arial"/>
              </a:rPr>
              <a:t>HYDRA NEXUS · STAGE 2</a:t>
            </a:r>
          </a:p>
        </p:txBody>
      </p:sp>
      <p:sp>
        <p:nvSpPr>
          <p:cNvPr id="7" name="Pentagon 6"/>
          <p:cNvSpPr/>
          <p:nvPr/>
        </p:nvSpPr>
        <p:spPr>
          <a:xfrm>
            <a:off x="533095" y="960120"/>
            <a:ext cx="2788234" cy="384048"/>
          </a:xfrm>
          <a:prstGeom prst="homePlate">
            <a:avLst/>
          </a:prstGeom>
          <a:solidFill>
            <a:srgbClr val="0368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MONTH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095" y="1444752"/>
            <a:ext cx="2678506" cy="3611880"/>
          </a:xfrm>
          <a:prstGeom prst="roundRect">
            <a:avLst>
              <a:gd name="adj" fmla="val 273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61111" y="1517904"/>
            <a:ext cx="2422474" cy="3474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  <a:buNone/>
            </a:pPr>
            <a:r>
              <a:rPr sz="1050" b="1" i="0">
                <a:solidFill>
                  <a:srgbClr val="0F172A"/>
                </a:solidFill>
                <a:latin typeface="Arial"/>
              </a:rPr>
              <a:t>Engineering design &amp; component selection</a:t>
            </a:r>
          </a:p>
          <a:p>
            <a:pPr algn="l" marL="128016" indent="-128016">
              <a:spcAft>
                <a:spcPts val="3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950" b="0" i="0">
                <a:solidFill>
                  <a:srgbClr val="334155"/>
                </a:solidFill>
                <a:latin typeface="Arial"/>
              </a:rPr>
              <a:t>Finalize capsule architecture, water path and control logic</a:t>
            </a:r>
          </a:p>
          <a:p>
            <a:pPr algn="l" marL="128016" indent="-128016">
              <a:spcAft>
                <a:spcPts val="3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950" b="0" i="0">
                <a:solidFill>
                  <a:srgbClr val="334155"/>
                </a:solidFill>
                <a:latin typeface="Arial"/>
              </a:rPr>
              <a:t>Native CAD of shell, cartridge bayonet, cell and spine</a:t>
            </a:r>
          </a:p>
          <a:p>
            <a:pPr algn="l" marL="128016" indent="-128016">
              <a:spcAft>
                <a:spcPts val="3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950" b="0" i="0">
                <a:solidFill>
                  <a:srgbClr val="334155"/>
                </a:solidFill>
                <a:latin typeface="Arial"/>
              </a:rPr>
              <a:t>KiCad schematic; source mini pH electrode, pump, valves; quotations</a:t>
            </a:r>
          </a:p>
          <a:p>
            <a:pPr algn="l">
              <a:spcAft>
                <a:spcPts val="5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Deliverables: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CAD (.STEP), schematic + ERC log, approved BOM</a:t>
            </a:r>
          </a:p>
          <a:p>
            <a:pPr algn="l">
              <a:spcAft>
                <a:spcPts val="5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Depends on: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Team approval of proposed selections; quotations</a:t>
            </a:r>
          </a:p>
          <a:p>
            <a:pPr algn="l">
              <a:spcAft>
                <a:spcPts val="3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Test gate: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Design review: every FMEA item mitigated; energy estimate ≥ 30 cycles per charge</a:t>
            </a:r>
          </a:p>
        </p:txBody>
      </p:sp>
      <p:sp>
        <p:nvSpPr>
          <p:cNvPr id="10" name="Pentagon 9"/>
          <p:cNvSpPr/>
          <p:nvPr/>
        </p:nvSpPr>
        <p:spPr>
          <a:xfrm>
            <a:off x="3348761" y="960120"/>
            <a:ext cx="2788234" cy="384048"/>
          </a:xfrm>
          <a:prstGeom prst="homePlate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MONTH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48761" y="1444752"/>
            <a:ext cx="2678506" cy="3611880"/>
          </a:xfrm>
          <a:prstGeom prst="roundRect">
            <a:avLst>
              <a:gd name="adj" fmla="val 273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476777" y="1517904"/>
            <a:ext cx="2422474" cy="3474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  <a:buNone/>
            </a:pPr>
            <a:r>
              <a:rPr sz="1050" b="1" i="0">
                <a:solidFill>
                  <a:srgbClr val="0F172A"/>
                </a:solidFill>
                <a:latin typeface="Arial"/>
              </a:rPr>
              <a:t>Fabrication &amp; hardware assembly</a:t>
            </a:r>
          </a:p>
          <a:p>
            <a:pPr algn="l" marL="128016" indent="-128016">
              <a:spcAft>
                <a:spcPts val="3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950" b="0" i="0">
                <a:solidFill>
                  <a:srgbClr val="334155"/>
                </a:solidFill>
                <a:latin typeface="Arial"/>
              </a:rPr>
              <a:t>3D-print shell v1; build sensing cell and wet core</a:t>
            </a:r>
          </a:p>
          <a:p>
            <a:pPr algn="l" marL="128016" indent="-128016">
              <a:spcAft>
                <a:spcPts val="3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950" b="0" i="0">
                <a:solidFill>
                  <a:srgbClr val="334155"/>
                </a:solidFill>
                <a:latin typeface="Arial"/>
              </a:rPr>
              <a:t>Assemble dry spine: battery, charger, controller, drivers</a:t>
            </a:r>
          </a:p>
          <a:p>
            <a:pPr algn="l" marL="128016" indent="-128016">
              <a:spcAft>
                <a:spcPts val="3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950" b="0" i="0">
                <a:solidFill>
                  <a:srgbClr val="334155"/>
                </a:solidFill>
                <a:latin typeface="Arial"/>
              </a:rPr>
              <a:t>Install sensors, pump, valves, protection</a:t>
            </a:r>
          </a:p>
          <a:p>
            <a:pPr algn="l">
              <a:spcAft>
                <a:spcPts val="5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Deliverables: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Assembled capsule v1; as-built wiring diagram; genuine build photos</a:t>
            </a:r>
          </a:p>
          <a:p>
            <a:pPr algn="l">
              <a:spcAft>
                <a:spcPts val="5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Depends on: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Components delivered from Month 1 orders</a:t>
            </a:r>
          </a:p>
          <a:p>
            <a:pPr algn="l">
              <a:spcAft>
                <a:spcPts val="3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Test gate: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Hydrostatic test at 1.5× pump shut-off pressure; dry spine stays dry; battery protection checked before first charge</a:t>
            </a:r>
          </a:p>
        </p:txBody>
      </p:sp>
      <p:sp>
        <p:nvSpPr>
          <p:cNvPr id="13" name="Pentagon 12"/>
          <p:cNvSpPr/>
          <p:nvPr/>
        </p:nvSpPr>
        <p:spPr>
          <a:xfrm>
            <a:off x="6164427" y="960120"/>
            <a:ext cx="2788234" cy="384048"/>
          </a:xfrm>
          <a:prstGeom prst="homePlate">
            <a:avLst/>
          </a:prstGeom>
          <a:solidFill>
            <a:srgbClr val="0596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MONTH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4427" y="1444752"/>
            <a:ext cx="2678506" cy="3611880"/>
          </a:xfrm>
          <a:prstGeom prst="roundRect">
            <a:avLst>
              <a:gd name="adj" fmla="val 273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2443" y="1517904"/>
            <a:ext cx="2422474" cy="3474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  <a:buNone/>
            </a:pPr>
            <a:r>
              <a:rPr sz="1050" b="1" i="0">
                <a:solidFill>
                  <a:srgbClr val="0F172A"/>
                </a:solidFill>
                <a:latin typeface="Arial"/>
              </a:rPr>
              <a:t>Software integration &amp; bench testing</a:t>
            </a:r>
          </a:p>
          <a:p>
            <a:pPr algn="l" marL="128016" indent="-128016">
              <a:spcAft>
                <a:spcPts val="3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950" b="0" i="0">
                <a:solidFill>
                  <a:srgbClr val="334155"/>
                </a:solidFill>
                <a:latin typeface="Arial"/>
              </a:rPr>
              <a:t>Sampling, adaptation and verify-before-dispense logic</a:t>
            </a:r>
          </a:p>
          <a:p>
            <a:pPr algn="l" marL="128016" indent="-128016">
              <a:spcAft>
                <a:spcPts val="3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950" b="0" i="0">
                <a:solidFill>
                  <a:srgbClr val="334155"/>
                </a:solidFill>
                <a:latin typeface="Arial"/>
              </a:rPr>
              <a:t>OLED, RGB ring and BLE phone app</a:t>
            </a:r>
          </a:p>
          <a:p>
            <a:pPr algn="l" marL="128016" indent="-128016">
              <a:spcAft>
                <a:spcPts val="3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950" b="0" i="0">
                <a:solidFill>
                  <a:srgbClr val="334155"/>
                </a:solidFill>
                <a:latin typeface="Arial"/>
              </a:rPr>
              <a:t>Sensor calibration; carry-over and functional tests</a:t>
            </a:r>
          </a:p>
          <a:p>
            <a:pPr algn="l">
              <a:spcAft>
                <a:spcPts val="5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Deliverables: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Firmware &amp; app v1 in repository; calibration records; functional test log</a:t>
            </a:r>
          </a:p>
          <a:p>
            <a:pPr algn="l">
              <a:spcAft>
                <a:spcPts val="5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Depends on: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Assembled capsule; calibration solutions</a:t>
            </a:r>
          </a:p>
          <a:p>
            <a:pPr algn="l">
              <a:spcAft>
                <a:spcPts val="3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Test gate: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Carry-over and repeatability within targets; every injected fault reaches the safe state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80093" y="960120"/>
            <a:ext cx="2678506" cy="38404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MONTH 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80093" y="1444752"/>
            <a:ext cx="2678506" cy="3611880"/>
          </a:xfrm>
          <a:prstGeom prst="roundRect">
            <a:avLst>
              <a:gd name="adj" fmla="val 273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08109" y="1517904"/>
            <a:ext cx="2422474" cy="3474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  <a:buNone/>
            </a:pPr>
            <a:r>
              <a:rPr sz="1050" b="1" i="0">
                <a:solidFill>
                  <a:srgbClr val="0F172A"/>
                </a:solidFill>
                <a:latin typeface="Arial"/>
              </a:rPr>
              <a:t>Performance validation &amp; Stage 3 preparation</a:t>
            </a:r>
          </a:p>
          <a:p>
            <a:pPr algn="l" marL="128016" indent="-128016">
              <a:spcAft>
                <a:spcPts val="3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950" b="0" i="0">
                <a:solidFill>
                  <a:srgbClr val="334155"/>
                </a:solidFill>
                <a:latin typeface="Arial"/>
              </a:rPr>
              <a:t>Test samples with different measurable conditions</a:t>
            </a:r>
          </a:p>
          <a:p>
            <a:pPr algn="l" marL="128016" indent="-128016">
              <a:spcAft>
                <a:spcPts val="3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950" b="0" i="0">
                <a:solidFill>
                  <a:srgbClr val="334155"/>
                </a:solidFill>
                <a:latin typeface="Arial"/>
              </a:rPr>
              <a:t>Record paired readings; battery endurance; immersion and drop checks</a:t>
            </a:r>
          </a:p>
          <a:p>
            <a:pPr algn="l" marL="128016" indent="-128016">
              <a:spcAft>
                <a:spcPts val="300"/>
              </a:spcAft>
              <a:buClr>
                <a:srgbClr val="059668"/>
              </a:buClr>
              <a:buSzPct val="100000"/>
              <a:buFont typeface="Arial"/>
              <a:buChar char="▪"/>
            </a:pPr>
            <a:r>
              <a:rPr sz="950" b="0" i="0">
                <a:solidFill>
                  <a:srgbClr val="334155"/>
                </a:solidFill>
                <a:latin typeface="Arial"/>
              </a:rPr>
              <a:t>Refine logic; documentation and demo</a:t>
            </a:r>
          </a:p>
          <a:p>
            <a:pPr algn="l">
              <a:spcAft>
                <a:spcPts val="5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Deliverables: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Testing report with genuine data; demonstration script</a:t>
            </a:r>
          </a:p>
          <a:p>
            <a:pPr algn="l">
              <a:spcAft>
                <a:spcPts val="5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Depends on: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Month 3 gate passed</a:t>
            </a:r>
          </a:p>
          <a:p>
            <a:pPr algn="l">
              <a:spcAft>
                <a:spcPts val="3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Test gate: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≥ 3 logged runs per sample type; open issues listed with owners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3095" y="5166360"/>
            <a:ext cx="11125504" cy="411480"/>
          </a:xfrm>
          <a:prstGeom prst="roundRect">
            <a:avLst>
              <a:gd name="adj" fmla="val 13333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" bIns="27432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0F172A"/>
                </a:solidFill>
                <a:latin typeface="Arial"/>
              </a:rPr>
              <a:t>Stage 3 target:</a:t>
            </a:r>
            <a:r>
              <a:rPr sz="900" b="0" i="0">
                <a:solidFill>
                  <a:srgbClr val="334155"/>
                </a:solidFill>
                <a:latin typeface="Arial"/>
              </a:rPr>
              <a:t> a working pocket-size capsule ready for functional demonstration and further validation — complete IDENTIFY → DECIDE → PURIFY → VERIFY → COMPARE cycle on real samples.</a:t>
            </a:r>
          </a:p>
        </p:txBody>
      </p:sp>
      <p:pic>
        <p:nvPicPr>
          <p:cNvPr id="20" name="Note ba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095" y="5715000"/>
            <a:ext cx="11125504" cy="363016"/>
          </a:xfrm>
          <a:prstGeom prst="rect">
            <a:avLst/>
          </a:prstGeom>
        </p:spPr>
      </p:pic>
      <p:sp>
        <p:nvSpPr>
          <p:cNvPr id="21" name="Note text"/>
          <p:cNvSpPr txBox="1"/>
          <p:nvPr/>
        </p:nvSpPr>
        <p:spPr>
          <a:xfrm>
            <a:off x="685800" y="5765292"/>
            <a:ext cx="10835640" cy="26517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3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Schedule basis:</a:t>
            </a:r>
            <a:r>
              <a:rPr sz="850" b="0" i="0">
                <a:solidFill>
                  <a:srgbClr val="334155"/>
                </a:solidFill>
                <a:latin typeface="Arial"/>
              </a:rPr>
              <a:t> months are counted from Stage 2 project commencement; calendar dates to be set by the team. This is a proposed schedule — no milestone has been achieved yet.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Template back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8698" y="450799"/>
            <a:ext cx="8595360" cy="414223"/>
          </a:xfrm>
        </p:spPr>
        <p:txBody>
          <a:bodyPr/>
          <a:lstStyle/>
          <a:p>
            <a:r>
              <a:t>Technical Challenges &amp; Risks</a:t>
            </a:r>
          </a:p>
        </p:txBody>
      </p:sp>
      <p:pic>
        <p:nvPicPr>
          <p:cNvPr id="4" name="Vishwakarma Awards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81013"/>
            <a:ext cx="1785823" cy="576986"/>
          </a:xfrm>
          <a:prstGeom prst="rect">
            <a:avLst/>
          </a:prstGeom>
        </p:spPr>
      </p:pic>
      <p:pic>
        <p:nvPicPr>
          <p:cNvPr id="5" name="Maker Bhavan Foundation 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329" y="6281013"/>
            <a:ext cx="1096365" cy="57698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458553" y="485546"/>
            <a:ext cx="2200046" cy="213055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47857"/>
                </a:solidFill>
                <a:latin typeface="Arial"/>
              </a:rPr>
              <a:t>HYDRA NEXUS · STAGE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095" y="960120"/>
            <a:ext cx="2122688" cy="2212848"/>
          </a:xfrm>
          <a:prstGeom prst="roundRect">
            <a:avLst>
              <a:gd name="adj" fmla="val 344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651967" y="1078992"/>
            <a:ext cx="256032" cy="256032"/>
          </a:xfrm>
          <a:prstGeom prst="ellipse">
            <a:avLst/>
          </a:prstGeom>
          <a:solidFill>
            <a:srgbClr val="0368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42551" y="1115568"/>
            <a:ext cx="594360" cy="182880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991B1B"/>
                </a:solidFill>
                <a:latin typeface="Arial"/>
              </a:rPr>
              <a:t>HIGH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967" y="1417320"/>
            <a:ext cx="1884944" cy="1691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  <a:buNone/>
            </a:pPr>
            <a:r>
              <a:rPr sz="1050" b="1" i="0">
                <a:solidFill>
                  <a:srgbClr val="0F172A"/>
                </a:solidFill>
                <a:latin typeface="Arial"/>
              </a:rPr>
              <a:t>Sensor accuracy, drift &amp; miniature pH</a:t>
            </a:r>
          </a:p>
          <a:p>
            <a:pPr algn="l">
              <a:spcAft>
                <a:spcPts val="6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Consequence: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Small pH electrodes drift and need wet storage; offsets distort Δ.</a:t>
            </a:r>
          </a:p>
          <a:p>
            <a:pPr algn="l">
              <a:spcAft>
                <a:spcPts val="3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Test / monitor: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Drift vs bench reference over 4 h; storage-cap protocol.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3799" y="960120"/>
            <a:ext cx="2122688" cy="2212848"/>
          </a:xfrm>
          <a:prstGeom prst="roundRect">
            <a:avLst>
              <a:gd name="adj" fmla="val 344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2902671" y="1078992"/>
            <a:ext cx="256032" cy="256032"/>
          </a:xfrm>
          <a:prstGeom prst="ellipse">
            <a:avLst/>
          </a:prstGeom>
          <a:solidFill>
            <a:srgbClr val="0368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93255" y="1115568"/>
            <a:ext cx="594360" cy="182880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991B1B"/>
                </a:solidFill>
                <a:latin typeface="Arial"/>
              </a:rPr>
              <a:t>HIGH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02671" y="1417320"/>
            <a:ext cx="1884944" cy="1691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  <a:buNone/>
            </a:pPr>
            <a:r>
              <a:rPr sz="1050" b="1" i="0">
                <a:solidFill>
                  <a:srgbClr val="0F172A"/>
                </a:solidFill>
                <a:latin typeface="Arial"/>
              </a:rPr>
              <a:t>Interpreting combined readings</a:t>
            </a:r>
          </a:p>
          <a:p>
            <a:pPr algn="l">
              <a:spcAft>
                <a:spcPts val="6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Consequence: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Ambiguous pH/TDS/turbidity/EC combinations may trigger the wrong adaptation.</a:t>
            </a:r>
          </a:p>
          <a:p>
            <a:pPr algn="l">
              <a:spcAft>
                <a:spcPts val="3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Test / monitor: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Prepared samples exercise every rule in the decision table.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34503" y="960120"/>
            <a:ext cx="2122688" cy="2212848"/>
          </a:xfrm>
          <a:prstGeom prst="roundRect">
            <a:avLst>
              <a:gd name="adj" fmla="val 344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5153375" y="1078992"/>
            <a:ext cx="256032" cy="256032"/>
          </a:xfrm>
          <a:prstGeom prst="ellipse">
            <a:avLst/>
          </a:prstGeom>
          <a:solidFill>
            <a:srgbClr val="0368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3959" y="1115568"/>
            <a:ext cx="594360" cy="182880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991B1B"/>
                </a:solidFill>
                <a:latin typeface="Arial"/>
              </a:rPr>
              <a:t>HIGH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3375" y="1417320"/>
            <a:ext cx="1884944" cy="1691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  <a:buNone/>
            </a:pPr>
            <a:r>
              <a:rPr sz="1050" b="1" i="0">
                <a:solidFill>
                  <a:srgbClr val="0F172A"/>
                </a:solidFill>
                <a:latin typeface="Arial"/>
              </a:rPr>
              <a:t>Adapting with one cartridge</a:t>
            </a:r>
          </a:p>
          <a:p>
            <a:pPr algn="l">
              <a:spcAft>
                <a:spcPts val="6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Consequence: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A pocket cartridge cannot correct every condition (e.g., high TDS).</a:t>
            </a:r>
          </a:p>
          <a:p>
            <a:pPr algn="l">
              <a:spcAft>
                <a:spcPts val="3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Test / monitor: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Verify warnings fire for out-of-capability cases.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85207" y="960120"/>
            <a:ext cx="2122688" cy="2212848"/>
          </a:xfrm>
          <a:prstGeom prst="roundRect">
            <a:avLst>
              <a:gd name="adj" fmla="val 344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7404079" y="1078992"/>
            <a:ext cx="256032" cy="256032"/>
          </a:xfrm>
          <a:prstGeom prst="ellipse">
            <a:avLst/>
          </a:prstGeom>
          <a:solidFill>
            <a:srgbClr val="0368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94663" y="1115568"/>
            <a:ext cx="594360" cy="182880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991B1B"/>
                </a:solidFill>
                <a:latin typeface="Arial"/>
              </a:rPr>
              <a:t>HIGH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4079" y="1417320"/>
            <a:ext cx="1884944" cy="1691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  <a:buNone/>
            </a:pPr>
            <a:r>
              <a:rPr sz="1050" b="1" i="0">
                <a:solidFill>
                  <a:srgbClr val="0F172A"/>
                </a:solidFill>
                <a:latin typeface="Arial"/>
              </a:rPr>
              <a:t>Shared-cell flow &amp; carry-over</a:t>
            </a:r>
          </a:p>
          <a:p>
            <a:pPr algn="l">
              <a:spcAft>
                <a:spcPts val="6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Consequence: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Bubbles distort turbidity; raw residue can bias M2.</a:t>
            </a:r>
          </a:p>
          <a:p>
            <a:pPr algn="l">
              <a:spcAft>
                <a:spcPts val="3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Test / monitor: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Carry-over test; flowing vs settled readings.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35911" y="960120"/>
            <a:ext cx="2122688" cy="2212848"/>
          </a:xfrm>
          <a:prstGeom prst="roundRect">
            <a:avLst>
              <a:gd name="adj" fmla="val 344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9654783" y="1078992"/>
            <a:ext cx="256032" cy="256032"/>
          </a:xfrm>
          <a:prstGeom prst="ellipse">
            <a:avLst/>
          </a:prstGeom>
          <a:solidFill>
            <a:srgbClr val="0368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945368" y="1115568"/>
            <a:ext cx="594360" cy="18288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92400E"/>
                </a:solidFill>
                <a:latin typeface="Arial"/>
              </a:rPr>
              <a:t>MEDIUM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4783" y="1417320"/>
            <a:ext cx="1884944" cy="1691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  <a:buNone/>
            </a:pPr>
            <a:r>
              <a:rPr sz="1050" b="1" i="0">
                <a:solidFill>
                  <a:srgbClr val="0F172A"/>
                </a:solidFill>
                <a:latin typeface="Arial"/>
              </a:rPr>
              <a:t>Consistent flow on battery power</a:t>
            </a:r>
          </a:p>
          <a:p>
            <a:pPr algn="l">
              <a:spcAft>
                <a:spcPts val="6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Consequence: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Membrane loading and voltage sag change contact time.</a:t>
            </a:r>
          </a:p>
          <a:p>
            <a:pPr algn="l">
              <a:spcAft>
                <a:spcPts val="3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Test / monitor: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Flow vs battery level and litres treated.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3095" y="3300984"/>
            <a:ext cx="2122688" cy="2212848"/>
          </a:xfrm>
          <a:prstGeom prst="roundRect">
            <a:avLst>
              <a:gd name="adj" fmla="val 344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651967" y="3419856"/>
            <a:ext cx="256032" cy="256032"/>
          </a:xfrm>
          <a:prstGeom prst="ellipse">
            <a:avLst/>
          </a:prstGeom>
          <a:solidFill>
            <a:srgbClr val="0368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942551" y="3456432"/>
            <a:ext cx="594360" cy="18288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92400E"/>
                </a:solidFill>
                <a:latin typeface="Arial"/>
              </a:rPr>
              <a:t>MEDIUM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1967" y="3758184"/>
            <a:ext cx="1884944" cy="1691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  <a:buNone/>
            </a:pPr>
            <a:r>
              <a:rPr sz="1050" b="1" i="0">
                <a:solidFill>
                  <a:srgbClr val="0F172A"/>
                </a:solidFill>
                <a:latin typeface="Arial"/>
              </a:rPr>
              <a:t>Micro pump &amp; valve integration</a:t>
            </a:r>
          </a:p>
          <a:p>
            <a:pPr algn="l">
              <a:spcAft>
                <a:spcPts val="6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Consequence: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Priming, air locks and small valve orifices.</a:t>
            </a:r>
          </a:p>
          <a:p>
            <a:pPr algn="l">
              <a:spcAft>
                <a:spcPts val="3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Test / monitor: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Switching-sequence and priming tests.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83799" y="3300984"/>
            <a:ext cx="2122688" cy="2212848"/>
          </a:xfrm>
          <a:prstGeom prst="roundRect">
            <a:avLst>
              <a:gd name="adj" fmla="val 344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2902671" y="3419856"/>
            <a:ext cx="256032" cy="256032"/>
          </a:xfrm>
          <a:prstGeom prst="ellipse">
            <a:avLst/>
          </a:prstGeom>
          <a:solidFill>
            <a:srgbClr val="0368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93255" y="3456432"/>
            <a:ext cx="594360" cy="182880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991B1B"/>
                </a:solidFill>
                <a:latin typeface="Arial"/>
              </a:rPr>
              <a:t>HIGH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02671" y="3758184"/>
            <a:ext cx="1884944" cy="1691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  <a:buNone/>
            </a:pPr>
            <a:r>
              <a:rPr sz="1050" b="1" i="0">
                <a:solidFill>
                  <a:srgbClr val="0F172A"/>
                </a:solidFill>
                <a:latin typeface="Arial"/>
              </a:rPr>
              <a:t>Cartridge clogging &amp; changing performance</a:t>
            </a:r>
          </a:p>
          <a:p>
            <a:pPr algn="l">
              <a:spcAft>
                <a:spcPts val="6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Consequence: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Declining flow and removal as the cartridge loads.</a:t>
            </a:r>
          </a:p>
          <a:p>
            <a:pPr algn="l">
              <a:spcAft>
                <a:spcPts val="3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Test / monitor: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Pump-current trend vs volume treated.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34503" y="3300984"/>
            <a:ext cx="2122688" cy="2212848"/>
          </a:xfrm>
          <a:prstGeom prst="roundRect">
            <a:avLst>
              <a:gd name="adj" fmla="val 344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5153375" y="3419856"/>
            <a:ext cx="256032" cy="256032"/>
          </a:xfrm>
          <a:prstGeom prst="ellipse">
            <a:avLst/>
          </a:prstGeom>
          <a:solidFill>
            <a:srgbClr val="0368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43959" y="3456432"/>
            <a:ext cx="594360" cy="182880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991B1B"/>
                </a:solidFill>
                <a:latin typeface="Arial"/>
              </a:rPr>
              <a:t>HIGH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53375" y="3758184"/>
            <a:ext cx="1884944" cy="1691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  <a:buNone/>
            </a:pPr>
            <a:r>
              <a:rPr sz="1050" b="1" i="0">
                <a:solidFill>
                  <a:srgbClr val="0F172A"/>
                </a:solidFill>
                <a:latin typeface="Arial"/>
              </a:rPr>
              <a:t>Reliability of before/after comparison</a:t>
            </a:r>
          </a:p>
          <a:p>
            <a:pPr algn="l">
              <a:spcAft>
                <a:spcPts val="6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Consequence: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Temperature or timing differences between M1 and M2.</a:t>
            </a:r>
          </a:p>
          <a:p>
            <a:pPr algn="l">
              <a:spcAft>
                <a:spcPts val="3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Test / monitor: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Temperature-compensated repeat tests.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85207" y="3300984"/>
            <a:ext cx="2122688" cy="2212848"/>
          </a:xfrm>
          <a:prstGeom prst="roundRect">
            <a:avLst>
              <a:gd name="adj" fmla="val 344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7404079" y="3419856"/>
            <a:ext cx="256032" cy="256032"/>
          </a:xfrm>
          <a:prstGeom prst="ellipse">
            <a:avLst/>
          </a:prstGeom>
          <a:solidFill>
            <a:srgbClr val="0368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694663" y="3456432"/>
            <a:ext cx="594360" cy="182880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991B1B"/>
                </a:solidFill>
                <a:latin typeface="Arial"/>
              </a:rPr>
              <a:t>HIGH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4079" y="3758184"/>
            <a:ext cx="1884944" cy="1691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  <a:buNone/>
            </a:pPr>
            <a:r>
              <a:rPr sz="1050" b="1" i="0">
                <a:solidFill>
                  <a:srgbClr val="0F172A"/>
                </a:solidFill>
                <a:latin typeface="Arial"/>
              </a:rPr>
              <a:t>Measured improvement ≠ drinking-water safety</a:t>
            </a:r>
          </a:p>
          <a:p>
            <a:pPr algn="l">
              <a:spcAft>
                <a:spcPts val="6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Consequence: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Risk of false assurance about unmeasured hazards.</a:t>
            </a:r>
          </a:p>
          <a:p>
            <a:pPr algn="l">
              <a:spcAft>
                <a:spcPts val="3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Test / monitor: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UI wording review; limitation notice always shown.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535911" y="3300984"/>
            <a:ext cx="2122688" cy="2212848"/>
          </a:xfrm>
          <a:prstGeom prst="roundRect">
            <a:avLst>
              <a:gd name="adj" fmla="val 344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9654783" y="3419856"/>
            <a:ext cx="256032" cy="256032"/>
          </a:xfrm>
          <a:prstGeom prst="ellipse">
            <a:avLst/>
          </a:prstGeom>
          <a:solidFill>
            <a:srgbClr val="0368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945368" y="3456432"/>
            <a:ext cx="594360" cy="18288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92400E"/>
                </a:solidFill>
                <a:latin typeface="Arial"/>
              </a:rPr>
              <a:t>MEDIUM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54783" y="3758184"/>
            <a:ext cx="1884944" cy="1691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  <a:buNone/>
            </a:pPr>
            <a:r>
              <a:rPr sz="1050" b="1" i="0">
                <a:solidFill>
                  <a:srgbClr val="0F172A"/>
                </a:solidFill>
                <a:latin typeface="Arial"/>
              </a:rPr>
              <a:t>Miniaturisation, sealing &amp; cost</a:t>
            </a:r>
          </a:p>
          <a:p>
            <a:pPr algn="l">
              <a:spcAft>
                <a:spcPts val="6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Consequence: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Fitting electronics, battery and wet path into a sealed pocket body.</a:t>
            </a:r>
          </a:p>
          <a:p>
            <a:pPr algn="l">
              <a:spcAft>
                <a:spcPts val="3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Test / monitor:</a:t>
            </a:r>
            <a:r>
              <a:rPr sz="950" b="0" i="0">
                <a:solidFill>
                  <a:srgbClr val="334155"/>
                </a:solidFill>
                <a:latin typeface="Arial"/>
              </a:rPr>
              <a:t> Mass, size and leak checks per build; BOM vs budget.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Template back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8698" y="450799"/>
            <a:ext cx="8595360" cy="414223"/>
          </a:xfrm>
        </p:spPr>
        <p:txBody>
          <a:bodyPr/>
          <a:lstStyle/>
          <a:p>
            <a:r>
              <a:t>Potential Solutions &amp; Risk Mitigation</a:t>
            </a:r>
          </a:p>
        </p:txBody>
      </p:sp>
      <p:pic>
        <p:nvPicPr>
          <p:cNvPr id="4" name="Vishwakarma Awards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81013"/>
            <a:ext cx="1785823" cy="576986"/>
          </a:xfrm>
          <a:prstGeom prst="rect">
            <a:avLst/>
          </a:prstGeom>
        </p:spPr>
      </p:pic>
      <p:pic>
        <p:nvPicPr>
          <p:cNvPr id="5" name="Maker Bhavan Foundation 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329" y="6281013"/>
            <a:ext cx="1096365" cy="57698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458553" y="485546"/>
            <a:ext cx="2200046" cy="213055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47857"/>
                </a:solidFill>
                <a:latin typeface="Arial"/>
              </a:rPr>
              <a:t>HYDRA NEXUS · STAGE 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33095" y="960120"/>
          <a:ext cx="7635238" cy="37216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9324"/>
                <a:gridCol w="4191896"/>
                <a:gridCol w="3094018"/>
              </a:tblGrid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0F172A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0F172A"/>
                          </a:solidFill>
                          <a:latin typeface="Arial"/>
                        </a:rPr>
                        <a:t>Primary mitigation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0F172A"/>
                          </a:solidFill>
                          <a:latin typeface="Arial"/>
                        </a:rPr>
                        <a:t>Backup / fallback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E7ECF4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Two-point pH calibration (4.00 / 7.00), wet storage cap, temperature compensation; calibration date logged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Recalibration prompt when buffer check deviates &gt; 0.1 pH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Validity checks (range, rate of change, SD) before any decision; rule table with explicit priorities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Default to slowest flow + UV-C with warning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Cartridge ID read by the capsule; out-of-capability warnings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Specialist / laboratory testing recommendation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Settle time before M1/M2; 15 mL flush to reject; isolated pH channel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Dual-cell variant (separate raw and treated cells)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Closed-loop pump PWM against calibrated flow; low-battery cut-off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Fixed-time cycle with flow logging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Valves set before pump starts; priming routine; check valve on intake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Manual prime by squeezing intake hose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Pump-current and litres trend → replace-cartridge prompt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Replace cartridge at a fixed volume interval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Same sensors for M1 and M2; temperature compensation; verify before dispensing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Repeat M2 and report both values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Never displays “safe”; reports measured Δ only; recommends testing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Printed limitation label on the capsule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>
                          <a:solidFill>
                            <a:srgbClr val="1E293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v1 printed larger for access, then miniaturised; UV-C optional; quotations in Month 1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334155"/>
                          </a:solidFill>
                          <a:latin typeface="Arial"/>
                        </a:rPr>
                        <a:t>Bench-board electronics in v1, custom PCB in Stage 3</a:t>
                      </a:r>
                    </a:p>
                  </a:txBody>
                  <a:tcPr marL="54864" marR="54864" marT="32004" marB="32004" anchor="ctr">
                    <a:lnL w="6350">
                      <a:noFill/>
                    </a:lnL>
                    <a:lnR w="6350">
                      <a:noFill/>
                    </a:lnR>
                    <a:lnT w="6350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321040" y="960120"/>
            <a:ext cx="3337560" cy="3794760"/>
          </a:xfrm>
          <a:prstGeom prst="roundRect">
            <a:avLst>
              <a:gd name="adj" fmla="val 2191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6488" y="1115568"/>
            <a:ext cx="165463" cy="1737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732519" y="1078992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1100" b="1" i="0">
                <a:solidFill>
                  <a:srgbClr val="0F172A"/>
                </a:solidFill>
                <a:latin typeface="Arial"/>
              </a:rPr>
              <a:t>Future development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85632" y="1298448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800" b="0" i="1">
                <a:solidFill>
                  <a:srgbClr val="B45309"/>
                </a:solidFill>
                <a:latin typeface="Arial"/>
              </a:rPr>
              <a:t>Not present capabilities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85632" y="1554480"/>
            <a:ext cx="3063240" cy="3154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128016" indent="-128016">
              <a:spcAft>
                <a:spcPts val="400"/>
              </a:spcAft>
              <a:buClr>
                <a:srgbClr val="0284C7"/>
              </a:buClr>
              <a:buSzPct val="100000"/>
              <a:buFont typeface="Arial"/>
              <a:buChar char="▪"/>
            </a:pPr>
            <a:r>
              <a:rPr sz="850" b="0" i="0">
                <a:solidFill>
                  <a:srgbClr val="334155"/>
                </a:solidFill>
                <a:latin typeface="Arial"/>
              </a:rPr>
              <a:t>Additional micro-sensors (e.g., ORP, free chlorine)</a:t>
            </a:r>
          </a:p>
          <a:p>
            <a:pPr algn="l" marL="128016" indent="-128016">
              <a:spcAft>
                <a:spcPts val="400"/>
              </a:spcAft>
              <a:buClr>
                <a:srgbClr val="0284C7"/>
              </a:buClr>
              <a:buSzPct val="100000"/>
              <a:buFont typeface="Arial"/>
              <a:buChar char="▪"/>
            </a:pPr>
            <a:r>
              <a:rPr sz="850" b="0" i="0">
                <a:solidFill>
                  <a:srgbClr val="334155"/>
                </a:solidFill>
                <a:latin typeface="Arial"/>
              </a:rPr>
              <a:t>Specialty cartridges: ion-exchange, pH-adjusting media</a:t>
            </a:r>
          </a:p>
          <a:p>
            <a:pPr algn="l" marL="128016" indent="-128016">
              <a:spcAft>
                <a:spcPts val="400"/>
              </a:spcAft>
              <a:buClr>
                <a:srgbClr val="0284C7"/>
              </a:buClr>
              <a:buSzPct val="100000"/>
              <a:buFont typeface="Arial"/>
              <a:buChar char="▪"/>
            </a:pPr>
            <a:r>
              <a:rPr sz="850" b="0" i="0">
                <a:solidFill>
                  <a:srgbClr val="334155"/>
                </a:solidFill>
                <a:latin typeface="Arial"/>
              </a:rPr>
              <a:t>Reading history to spot recurring source changes</a:t>
            </a:r>
          </a:p>
          <a:p>
            <a:pPr algn="l" marL="128016" indent="-128016">
              <a:spcAft>
                <a:spcPts val="400"/>
              </a:spcAft>
              <a:buClr>
                <a:srgbClr val="0284C7"/>
              </a:buClr>
              <a:buSzPct val="100000"/>
              <a:buFont typeface="Arial"/>
              <a:buChar char="▪"/>
            </a:pPr>
            <a:r>
              <a:rPr sz="850" b="0" i="0">
                <a:solidFill>
                  <a:srgbClr val="334155"/>
                </a:solidFill>
                <a:latin typeface="Arial"/>
              </a:rPr>
              <a:t>Predictive cartridge replacement from pump current and volume</a:t>
            </a:r>
          </a:p>
          <a:p>
            <a:pPr algn="l" marL="128016" indent="-128016">
              <a:spcAft>
                <a:spcPts val="400"/>
              </a:spcAft>
              <a:buClr>
                <a:srgbClr val="0284C7"/>
              </a:buClr>
              <a:buSzPct val="100000"/>
              <a:buFont typeface="Arial"/>
              <a:buChar char="▪"/>
            </a:pPr>
            <a:r>
              <a:rPr sz="850" b="0" i="0">
                <a:solidFill>
                  <a:srgbClr val="334155"/>
                </a:solidFill>
                <a:latin typeface="Arial"/>
              </a:rPr>
              <a:t>IoT sync of many capsules to a central dashboard</a:t>
            </a:r>
          </a:p>
          <a:p>
            <a:pPr algn="l" marL="128016" indent="-128016">
              <a:spcAft>
                <a:spcPts val="400"/>
              </a:spcAft>
              <a:buClr>
                <a:srgbClr val="0284C7"/>
              </a:buClr>
              <a:buSzPct val="100000"/>
              <a:buFont typeface="Arial"/>
              <a:buChar char="▪"/>
            </a:pPr>
            <a:r>
              <a:rPr sz="850" b="0" i="0">
                <a:solidFill>
                  <a:srgbClr val="334155"/>
                </a:solidFill>
                <a:latin typeface="Arial"/>
              </a:rPr>
              <a:t>Community-scale version for wells and lakes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095" y="489204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  <a:buNone/>
            </a:pPr>
            <a:r>
              <a:rPr sz="750" b="1" i="0">
                <a:solidFill>
                  <a:srgbClr val="64748B"/>
                </a:solidFill>
                <a:latin typeface="Arial"/>
              </a:rPr>
              <a:t>STAGED TESTING PROTOCOL BEFORE ANY PUBLIC DEMONSTRATION</a:t>
            </a:r>
          </a:p>
        </p:txBody>
      </p:sp>
      <p:sp>
        <p:nvSpPr>
          <p:cNvPr id="14" name="Pentagon 13"/>
          <p:cNvSpPr/>
          <p:nvPr/>
        </p:nvSpPr>
        <p:spPr>
          <a:xfrm>
            <a:off x="533095" y="5120640"/>
            <a:ext cx="1899970" cy="438912"/>
          </a:xfrm>
          <a:prstGeom prst="homePlate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F172A"/>
                </a:solidFill>
                <a:latin typeface="Arial"/>
              </a:rPr>
              <a:t>Dry bench (electronics)</a:t>
            </a:r>
          </a:p>
        </p:txBody>
      </p:sp>
      <p:sp>
        <p:nvSpPr>
          <p:cNvPr id="15" name="Chevron 14"/>
          <p:cNvSpPr/>
          <p:nvPr/>
        </p:nvSpPr>
        <p:spPr>
          <a:xfrm>
            <a:off x="2387345" y="5120640"/>
            <a:ext cx="1899970" cy="438912"/>
          </a:xfrm>
          <a:prstGeom prst="chevron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F172A"/>
                </a:solidFill>
                <a:latin typeface="Arial"/>
              </a:rPr>
              <a:t>Clean-water hydraulics &amp; leaks</a:t>
            </a:r>
          </a:p>
        </p:txBody>
      </p:sp>
      <p:sp>
        <p:nvSpPr>
          <p:cNvPr id="16" name="Chevron 15"/>
          <p:cNvSpPr/>
          <p:nvPr/>
        </p:nvSpPr>
        <p:spPr>
          <a:xfrm>
            <a:off x="4241596" y="5120640"/>
            <a:ext cx="1899970" cy="438912"/>
          </a:xfrm>
          <a:prstGeom prst="chevron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F172A"/>
                </a:solidFill>
                <a:latin typeface="Arial"/>
              </a:rPr>
              <a:t>Reference solutions</a:t>
            </a:r>
          </a:p>
        </p:txBody>
      </p:sp>
      <p:sp>
        <p:nvSpPr>
          <p:cNvPr id="17" name="Chevron 16"/>
          <p:cNvSpPr/>
          <p:nvPr/>
        </p:nvSpPr>
        <p:spPr>
          <a:xfrm>
            <a:off x="6095847" y="5120640"/>
            <a:ext cx="1899970" cy="438912"/>
          </a:xfrm>
          <a:prstGeom prst="chevron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F172A"/>
                </a:solidFill>
                <a:latin typeface="Arial"/>
              </a:rPr>
              <a:t>Prepared samples</a:t>
            </a:r>
          </a:p>
        </p:txBody>
      </p:sp>
      <p:sp>
        <p:nvSpPr>
          <p:cNvPr id="18" name="Chevron 17"/>
          <p:cNvSpPr/>
          <p:nvPr/>
        </p:nvSpPr>
        <p:spPr>
          <a:xfrm>
            <a:off x="7950098" y="5120640"/>
            <a:ext cx="1899970" cy="438912"/>
          </a:xfrm>
          <a:prstGeom prst="chevron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F172A"/>
                </a:solidFill>
                <a:latin typeface="Arial"/>
              </a:rPr>
              <a:t>Fault injection</a:t>
            </a:r>
          </a:p>
        </p:txBody>
      </p:sp>
      <p:sp>
        <p:nvSpPr>
          <p:cNvPr id="19" name="Chevron 18"/>
          <p:cNvSpPr/>
          <p:nvPr/>
        </p:nvSpPr>
        <p:spPr>
          <a:xfrm>
            <a:off x="9804349" y="5120640"/>
            <a:ext cx="1899970" cy="438912"/>
          </a:xfrm>
          <a:prstGeom prst="chevron">
            <a:avLst/>
          </a:prstGeom>
          <a:solidFill>
            <a:srgbClr val="A7F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0F172A"/>
                </a:solidFill>
                <a:latin typeface="Arial"/>
              </a:rPr>
              <a:t>Supervised demonstration</a:t>
            </a:r>
          </a:p>
        </p:txBody>
      </p:sp>
      <p:pic>
        <p:nvPicPr>
          <p:cNvPr id="20" name="Note ba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095" y="5715000"/>
            <a:ext cx="11125504" cy="363016"/>
          </a:xfrm>
          <a:prstGeom prst="rect">
            <a:avLst/>
          </a:prstGeom>
        </p:spPr>
      </p:pic>
      <p:sp>
        <p:nvSpPr>
          <p:cNvPr id="21" name="Note text"/>
          <p:cNvSpPr txBox="1"/>
          <p:nvPr/>
        </p:nvSpPr>
        <p:spPr>
          <a:xfrm>
            <a:off x="685800" y="5765292"/>
            <a:ext cx="10835640" cy="26517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3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Traceability:</a:t>
            </a:r>
            <a:r>
              <a:rPr sz="850" b="0" i="0">
                <a:solidFill>
                  <a:srgbClr val="334155"/>
                </a:solidFill>
                <a:latin typeface="Arial"/>
              </a:rPr>
              <a:t> row numbers 1–10 correspond to the challenges on the previous slide.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Template back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8698" y="450799"/>
            <a:ext cx="8595360" cy="414223"/>
          </a:xfrm>
        </p:spPr>
        <p:txBody>
          <a:bodyPr/>
          <a:lstStyle/>
          <a:p>
            <a:r>
              <a:t>References &amp; Sources</a:t>
            </a:r>
          </a:p>
        </p:txBody>
      </p:sp>
      <p:pic>
        <p:nvPicPr>
          <p:cNvPr id="4" name="Vishwakarma Awards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81013"/>
            <a:ext cx="1785823" cy="576986"/>
          </a:xfrm>
          <a:prstGeom prst="rect">
            <a:avLst/>
          </a:prstGeom>
        </p:spPr>
      </p:pic>
      <p:pic>
        <p:nvPicPr>
          <p:cNvPr id="5" name="Maker Bhavan Foundation 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329" y="6281013"/>
            <a:ext cx="1096365" cy="57698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458553" y="485546"/>
            <a:ext cx="2200046" cy="213055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47857"/>
                </a:solidFill>
                <a:latin typeface="Arial"/>
              </a:rPr>
              <a:t>HYDRA NEXUS · STAGE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095" y="1005840"/>
            <a:ext cx="5440680" cy="4572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[1]</a:t>
            </a:r>
            <a:r>
              <a:rPr sz="850" b="0" i="0">
                <a:solidFill>
                  <a:srgbClr val="334155"/>
                </a:solidFill>
                <a:latin typeface="Arial"/>
              </a:rPr>
              <a:t> Hydra Nexus Stage 1 Proposal — team document supplied as Hydra_Nexus_Stage1_Proposal.pdf (primary project source).</a:t>
            </a:r>
          </a:p>
          <a:p>
            <a:pPr algn="l">
              <a:spcAft>
                <a:spcPts val="6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[2]</a:t>
            </a:r>
            <a:r>
              <a:rPr sz="850" b="0" i="0">
                <a:solidFill>
                  <a:srgbClr val="334155"/>
                </a:solidFill>
                <a:latin typeface="Arial"/>
              </a:rPr>
              <a:t> Vishwakarma Awards 2026–27 Stage 2 Submission Template — Maker Bhavan Foundation (supplied .pptx).</a:t>
            </a:r>
          </a:p>
          <a:p>
            <a:pPr algn="l">
              <a:spcAft>
                <a:spcPts val="6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[3]</a:t>
            </a:r>
            <a:r>
              <a:rPr sz="850" b="0" i="0">
                <a:solidFill>
                  <a:srgbClr val="334155"/>
                </a:solidFill>
                <a:latin typeface="Arial"/>
              </a:rPr>
              <a:t> Espressif Systems, ESP32-C3 Series Datasheet — documentation.espressif.com/esp32-c3_datasheet_en.pdf</a:t>
            </a:r>
          </a:p>
          <a:p>
            <a:pPr algn="l">
              <a:spcAft>
                <a:spcPts val="6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[4]</a:t>
            </a:r>
            <a:r>
              <a:rPr sz="850" b="0" i="0">
                <a:solidFill>
                  <a:srgbClr val="334155"/>
                </a:solidFill>
                <a:latin typeface="Arial"/>
              </a:rPr>
              <a:t> Espressif Systems, ESP32-C3-MINI-1 Module Datasheet — documentation.espressif.com/esp32-c3-mini-1_datasheet_en.pdf</a:t>
            </a:r>
          </a:p>
          <a:p>
            <a:pPr algn="l">
              <a:spcAft>
                <a:spcPts val="6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[5]</a:t>
            </a:r>
            <a:r>
              <a:rPr sz="850" b="0" i="0">
                <a:solidFill>
                  <a:srgbClr val="334155"/>
                </a:solidFill>
                <a:latin typeface="Arial"/>
              </a:rPr>
              <a:t> DFRobot Wiki, Gravity: Analog pH Sensor V2 (SEN0161-V2) — wiki.dfrobot.com/Gravity__Analog_pH_Sensor_Meter_Kit_V2_SKU_SEN0161-V2</a:t>
            </a:r>
          </a:p>
          <a:p>
            <a:pPr algn="l">
              <a:spcAft>
                <a:spcPts val="6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[6]</a:t>
            </a:r>
            <a:r>
              <a:rPr sz="850" b="0" i="0">
                <a:solidFill>
                  <a:srgbClr val="334155"/>
                </a:solidFill>
                <a:latin typeface="Arial"/>
              </a:rPr>
              <a:t> DFRobot Wiki, Gravity: Analog TDS Sensor/Meter (SEN0244) — wiki.dfrobot.com/Gravity__Analog_TDS_Sensor___Meter_For_Arduino_SKU__SEN0244</a:t>
            </a:r>
          </a:p>
          <a:p>
            <a:pPr algn="l">
              <a:spcAft>
                <a:spcPts val="6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[7]</a:t>
            </a:r>
            <a:r>
              <a:rPr sz="850" b="0" i="0">
                <a:solidFill>
                  <a:srgbClr val="334155"/>
                </a:solidFill>
                <a:latin typeface="Arial"/>
              </a:rPr>
              <a:t> DFRobot Wiki, Gravity: Analog Turbidity Sensor (SEN0189) — wiki.dfrobot.com/Turbidity_sensor_SKU__SEN0189</a:t>
            </a:r>
          </a:p>
          <a:p>
            <a:pPr algn="l">
              <a:spcAft>
                <a:spcPts val="6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[8]</a:t>
            </a:r>
            <a:r>
              <a:rPr sz="850" b="0" i="0">
                <a:solidFill>
                  <a:srgbClr val="334155"/>
                </a:solidFill>
                <a:latin typeface="Arial"/>
              </a:rPr>
              <a:t> DFRobot Wiki, Gravity: Analog Signal Isolator (DFR0504) — wiki.dfrobot.com/Gravity__Analog_Signal_Isolator_SKU_DFR0504</a:t>
            </a:r>
          </a:p>
          <a:p>
            <a:pPr algn="l">
              <a:spcAft>
                <a:spcPts val="6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[9]</a:t>
            </a:r>
            <a:r>
              <a:rPr sz="850" b="0" i="0">
                <a:solidFill>
                  <a:srgbClr val="334155"/>
                </a:solidFill>
                <a:latin typeface="Arial"/>
              </a:rPr>
              <a:t> Analog Devices, DS18B20 1-Wire Digital Thermometer datasheet — analog.com/media/en/technical-documentation/data-sheets/DS18B20.pdf</a:t>
            </a:r>
          </a:p>
          <a:p>
            <a:pPr algn="l">
              <a:spcAft>
                <a:spcPts val="6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[10]</a:t>
            </a:r>
            <a:r>
              <a:rPr sz="850" b="0" i="0">
                <a:solidFill>
                  <a:srgbClr val="334155"/>
                </a:solidFill>
                <a:latin typeface="Arial"/>
              </a:rPr>
              <a:t> Texas Instruments, ADS111x 16-bit ADC datasheet — ti.com/lit/ds/symlink/ads1115.pdf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02375" y="1005840"/>
            <a:ext cx="5440680" cy="4572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[11]</a:t>
            </a:r>
            <a:r>
              <a:rPr sz="850" b="0" i="0">
                <a:solidFill>
                  <a:srgbClr val="334155"/>
                </a:solidFill>
                <a:latin typeface="Arial"/>
              </a:rPr>
              <a:t> DFRobot product pages (list prices accessed 24 Oct 2026): dfrobot.com/product-1782.html (SEN0161-V2), -1662 (SEN0244), -1394 (SEN0189), -1354 (KIT0021), -1621 (DFR0504)</a:t>
            </a:r>
          </a:p>
          <a:p>
            <a:pPr algn="l">
              <a:spcAft>
                <a:spcPts val="6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[12]</a:t>
            </a:r>
            <a:r>
              <a:rPr sz="850" b="0" i="0">
                <a:solidFill>
                  <a:srgbClr val="334155"/>
                </a:solidFill>
                <a:latin typeface="Arial"/>
              </a:rPr>
              <a:t> Bureau of Indian Standards, IS 10500:2012 Drinking Water — Specification (Second Revision) — bis.gov.in/other/DrinWatIS10500.pdf</a:t>
            </a:r>
          </a:p>
          <a:p>
            <a:pPr algn="l">
              <a:spcAft>
                <a:spcPts val="6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[13]</a:t>
            </a:r>
            <a:r>
              <a:rPr sz="850" b="0" i="0">
                <a:solidFill>
                  <a:srgbClr val="334155"/>
                </a:solidFill>
                <a:latin typeface="Arial"/>
              </a:rPr>
              <a:t> World Health Organization, Guidelines for Drinking-water Quality, 4th ed. incorporating the 1st, 2nd and 3rd addenda — who.int/publications/i/item/9789240121225</a:t>
            </a:r>
          </a:p>
          <a:p>
            <a:pPr algn="l">
              <a:spcAft>
                <a:spcPts val="6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[14]</a:t>
            </a:r>
            <a:r>
              <a:rPr sz="850" b="0" i="0">
                <a:solidFill>
                  <a:srgbClr val="334155"/>
                </a:solidFill>
                <a:latin typeface="Arial"/>
              </a:rPr>
              <a:t> IEC 60529:1989+A1:1999+A2:2013, Degrees of protection provided by enclosures (IP Code) — IEC, webstore.iec.ch</a:t>
            </a:r>
          </a:p>
          <a:p>
            <a:pPr algn="l">
              <a:spcAft>
                <a:spcPts val="6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[15]</a:t>
            </a:r>
            <a:r>
              <a:rPr sz="850" b="0" i="0">
                <a:solidFill>
                  <a:srgbClr val="334155"/>
                </a:solidFill>
                <a:latin typeface="Arial"/>
              </a:rPr>
              <a:t> IEC 62133-2:2017, Safety requirements for portable sealed secondary lithium cells and batteries — IEC, webstore.iec.ch</a:t>
            </a:r>
          </a:p>
          <a:p>
            <a:pPr algn="l">
              <a:spcAft>
                <a:spcPts val="6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[16]</a:t>
            </a:r>
            <a:r>
              <a:rPr sz="850" b="0" i="0">
                <a:solidFill>
                  <a:srgbClr val="334155"/>
                </a:solidFill>
                <a:latin typeface="Arial"/>
              </a:rPr>
              <a:t> ISO 7027-1:2016, Water quality — Determination of turbidity — Part 1: Quantitative methods — iso.org</a:t>
            </a:r>
          </a:p>
          <a:p>
            <a:pPr algn="l">
              <a:spcAft>
                <a:spcPts val="6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[17]</a:t>
            </a:r>
            <a:r>
              <a:rPr sz="850" b="0" i="0">
                <a:solidFill>
                  <a:srgbClr val="334155"/>
                </a:solidFill>
                <a:latin typeface="Arial"/>
              </a:rPr>
              <a:t> F. M. White, Fluid Mechanics, McGraw-Hill — laminar friction factor f = 64/Re used for the internal flow-loss estimate (slide 9).</a:t>
            </a:r>
          </a:p>
          <a:p>
            <a:pPr algn="l">
              <a:spcAft>
                <a:spcPts val="6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[18]</a:t>
            </a:r>
            <a:r>
              <a:rPr sz="850" b="0" i="0">
                <a:solidFill>
                  <a:srgbClr val="334155"/>
                </a:solidFill>
                <a:latin typeface="Arial"/>
              </a:rPr>
              <a:t> Design tools: FreeCAD 1.1 (freecad.org) parametric model; KiCad 9 (kicad.org) schematic editor and kicad-cli ERC.</a:t>
            </a:r>
          </a:p>
          <a:p>
            <a:pPr algn="l">
              <a:spcAft>
                <a:spcPts val="6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[19]</a:t>
            </a:r>
            <a:r>
              <a:rPr sz="850" b="0" i="0">
                <a:solidFill>
                  <a:srgbClr val="334155"/>
                </a:solidFill>
                <a:latin typeface="Arial"/>
              </a:rPr>
              <a:t> Hydra Nexus project repository (CAD, schematic, BOM, deck) — github.com/Abishekkishore-byte/hydra-nexus</a:t>
            </a:r>
          </a:p>
        </p:txBody>
      </p:sp>
      <p:pic>
        <p:nvPicPr>
          <p:cNvPr id="9" name="Note ba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095" y="5715000"/>
            <a:ext cx="11125504" cy="363016"/>
          </a:xfrm>
          <a:prstGeom prst="rect">
            <a:avLst/>
          </a:prstGeom>
        </p:spPr>
      </p:pic>
      <p:sp>
        <p:nvSpPr>
          <p:cNvPr id="10" name="Note text"/>
          <p:cNvSpPr txBox="1"/>
          <p:nvPr/>
        </p:nvSpPr>
        <p:spPr>
          <a:xfrm>
            <a:off x="685800" y="5765292"/>
            <a:ext cx="10835640" cy="26517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300"/>
              </a:spcAft>
              <a:buNone/>
            </a:pPr>
            <a:r>
              <a:rPr sz="850" b="1" i="0">
                <a:solidFill>
                  <a:srgbClr val="0F172A"/>
                </a:solidFill>
                <a:latin typeface="Arial"/>
              </a:rPr>
              <a:t>Scope of sources:</a:t>
            </a:r>
            <a:r>
              <a:rPr sz="850" b="0" i="0">
                <a:solidFill>
                  <a:srgbClr val="334155"/>
                </a:solidFill>
                <a:latin typeface="Arial"/>
              </a:rPr>
              <a:t> calculations on slides 7 and 9 are preliminary hand calculations using the assumptions stated on those slides; no supplier quotation has been obtained.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Template back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8698" y="450799"/>
            <a:ext cx="8595360" cy="414223"/>
          </a:xfrm>
        </p:spPr>
        <p:txBody>
          <a:bodyPr/>
          <a:lstStyle/>
          <a:p>
            <a:r>
              <a:t>Image Sources</a:t>
            </a:r>
          </a:p>
        </p:txBody>
      </p:sp>
      <p:pic>
        <p:nvPicPr>
          <p:cNvPr id="4" name="Vishwakarma Awards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81013"/>
            <a:ext cx="1785823" cy="576986"/>
          </a:xfrm>
          <a:prstGeom prst="rect">
            <a:avLst/>
          </a:prstGeom>
        </p:spPr>
      </p:pic>
      <p:pic>
        <p:nvPicPr>
          <p:cNvPr id="5" name="Maker Bhavan Foundation 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329" y="6281013"/>
            <a:ext cx="1096365" cy="57698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458553" y="485546"/>
            <a:ext cx="2200046" cy="213055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047857"/>
                </a:solidFill>
                <a:latin typeface="Arial"/>
              </a:rPr>
              <a:t>HYDRA NEXUS · STAGE 2</a:t>
            </a:r>
          </a:p>
        </p:txBody>
      </p:sp>
      <p:pic>
        <p:nvPicPr>
          <p:cNvPr id="7" name="Picture 6" descr="cap_hero_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005840"/>
            <a:ext cx="480898" cy="640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1078992"/>
            <a:ext cx="93268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Cover — conceptual capsule visualization</a:t>
            </a:r>
          </a:p>
          <a:p>
            <a:pPr algn="l">
              <a:spcAft>
                <a:spcPts val="300"/>
              </a:spcAft>
              <a:buNone/>
            </a:pPr>
            <a:r>
              <a:rPr sz="850" b="0" i="0">
                <a:solidFill>
                  <a:srgbClr val="334155"/>
                </a:solidFill>
                <a:latin typeface="Arial"/>
              </a:rPr>
              <a:t>Custom conceptual CAD-style illustration created programmatically for this submission. Not a photograph, native CAD screenshot or fabricated hardware.</a:t>
            </a:r>
          </a:p>
        </p:txBody>
      </p:sp>
      <p:pic>
        <p:nvPicPr>
          <p:cNvPr id="9" name="Picture 8" descr="cap_assembly_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792224"/>
            <a:ext cx="475978" cy="640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94560" y="1865376"/>
            <a:ext cx="93268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Slide 8 — capsule assembly (numbered, with concept dimensions)</a:t>
            </a:r>
          </a:p>
          <a:p>
            <a:pPr algn="l">
              <a:spcAft>
                <a:spcPts val="300"/>
              </a:spcAft>
              <a:buNone/>
            </a:pPr>
            <a:r>
              <a:rPr sz="850" b="0" i="0">
                <a:solidFill>
                  <a:srgbClr val="334155"/>
                </a:solidFill>
                <a:latin typeface="Arial"/>
              </a:rPr>
              <a:t>Same conceptual illustration with component markers. Conceptual only.</a:t>
            </a:r>
          </a:p>
        </p:txBody>
      </p:sp>
      <p:pic>
        <p:nvPicPr>
          <p:cNvPr id="11" name="Picture 10" descr="cap_exploded_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2578608"/>
            <a:ext cx="407879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94560" y="2651760"/>
            <a:ext cx="93268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Slide 8 — exploded view (numbered)</a:t>
            </a:r>
          </a:p>
          <a:p>
            <a:pPr algn="l">
              <a:spcAft>
                <a:spcPts val="300"/>
              </a:spcAft>
              <a:buNone/>
            </a:pPr>
            <a:r>
              <a:rPr sz="850" b="0" i="0">
                <a:solidFill>
                  <a:srgbClr val="334155"/>
                </a:solidFill>
                <a:latin typeface="Arial"/>
              </a:rPr>
              <a:t>Conceptual exploded illustration created for this submission. Conceptual only.</a:t>
            </a:r>
          </a:p>
        </p:txBody>
      </p:sp>
      <p:pic>
        <p:nvPicPr>
          <p:cNvPr id="13" name="Picture 12" descr="freecad_model_tre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3438144"/>
            <a:ext cx="1463040" cy="8022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94560" y="3438144"/>
            <a:ext cx="93268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Slide 13 — FreeCAD and KiCad screenshots</a:t>
            </a:r>
          </a:p>
          <a:p>
            <a:pPr algn="l">
              <a:spcAft>
                <a:spcPts val="300"/>
              </a:spcAft>
              <a:buNone/>
            </a:pPr>
            <a:r>
              <a:rPr sz="850" b="0" i="0">
                <a:solidFill>
                  <a:srgbClr val="334155"/>
                </a:solidFill>
                <a:latin typeface="Arial"/>
              </a:rPr>
              <a:t>Genuine screen captures of FreeCAD 1.1 and KiCad 9 with the project files open (25 Oct 2026); the ERC panel shows the actual kicad-cli report.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24528"/>
            <a:ext cx="1463040" cy="47401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94560" y="4224528"/>
            <a:ext cx="93268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All slides — Vishwakarma Awards logo, Maker Bhavan Foundation logo, award banner, icons and backgrounds</a:t>
            </a:r>
          </a:p>
          <a:p>
            <a:pPr algn="l">
              <a:spcAft>
                <a:spcPts val="300"/>
              </a:spcAft>
              <a:buNone/>
            </a:pPr>
            <a:r>
              <a:rPr sz="850" b="0" i="0">
                <a:solidFill>
                  <a:srgbClr val="334155"/>
                </a:solidFill>
                <a:latin typeface="Arial"/>
              </a:rPr>
              <a:t>Reused from the official Vishwakarma Awards 2026–27 Stage 2 Submission Template.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29200"/>
            <a:ext cx="914400" cy="502920"/>
          </a:xfrm>
          <a:prstGeom prst="roundRect">
            <a:avLst>
              <a:gd name="adj" fmla="val 1090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64748B"/>
                </a:solidFill>
                <a:latin typeface="Arial"/>
              </a:rPr>
              <a:t>Native shapes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5010912"/>
            <a:ext cx="93268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  <a:buNone/>
            </a:pPr>
            <a:r>
              <a:rPr sz="950" b="1" i="0">
                <a:solidFill>
                  <a:srgbClr val="0F172A"/>
                </a:solidFill>
                <a:latin typeface="Arial"/>
              </a:rPr>
              <a:t>Slides 3–7, 10, 12–17 — diagrams, flowcharts, tables and timelines</a:t>
            </a:r>
          </a:p>
          <a:p>
            <a:pPr algn="l">
              <a:spcAft>
                <a:spcPts val="300"/>
              </a:spcAft>
              <a:buNone/>
            </a:pPr>
            <a:r>
              <a:rPr sz="850" b="0" i="0">
                <a:solidFill>
                  <a:srgbClr val="334155"/>
                </a:solidFill>
                <a:latin typeface="Arial"/>
              </a:rPr>
              <a:t>Native, editable PowerPoint shapes created for this submission. No third-party photographs are used; template example images were removed.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2026-10-23T17:02:10Z</dcterms:creat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2026-10-23T00:00:00Z</vt:filetime>
  </property>
  <property fmtid="{D5CDD505-2E9C-101B-9397-08002B2CF9AE}" pid="4" name="Creator">
    <vt:lpwstr>PDFium</vt:lpwstr>
  </property>
  <property fmtid="{D5CDD505-2E9C-101B-9397-08002B2CF9AE}" pid="5" name="Producer">
    <vt:lpwstr>PDFium</vt:lpwstr>
  </property>
  <property fmtid="{D5CDD505-2E9C-101B-9397-08002B2CF9AE}" pid="6" name="LastSaved">
    <vt:filetime>2026-10-23T00:00:00Z</vt:filetime>
  </property>
</Properties>
</file>